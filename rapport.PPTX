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69"/>
  </p:notesMasterIdLst>
  <p:handoutMasterIdLst>
    <p:handoutMasterId r:id="rId7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27" r:id="rId21"/>
    <p:sldId id="305" r:id="rId22"/>
    <p:sldId id="306" r:id="rId23"/>
    <p:sldId id="279" r:id="rId24"/>
    <p:sldId id="373" r:id="rId25"/>
    <p:sldId id="345" r:id="rId26"/>
    <p:sldId id="367" r:id="rId27"/>
    <p:sldId id="346" r:id="rId28"/>
    <p:sldId id="344"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48" r:id="rId58"/>
    <p:sldId id="371" r:id="rId59"/>
    <p:sldId id="299" r:id="rId60"/>
    <p:sldId id="374" r:id="rId61"/>
    <p:sldId id="351" r:id="rId62"/>
    <p:sldId id="324" r:id="rId63"/>
    <p:sldId id="334" r:id="rId64"/>
    <p:sldId id="349" r:id="rId65"/>
    <p:sldId id="350" r:id="rId66"/>
    <p:sldId id="322" r:id="rId67"/>
    <p:sldId id="303" r:id="rId6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27"/>
            <p14:sldId id="305"/>
            <p14:sldId id="306"/>
            <p14:sldId id="279"/>
          </p14:sldIdLst>
        </p14:section>
        <p14:section name="Implementation" id="{4F01F8AB-2081-45D5-9329-E02D0662CD36}">
          <p14:sldIdLst>
            <p14:sldId id="373"/>
            <p14:sldId id="345"/>
            <p14:sldId id="367"/>
            <p14:sldId id="346"/>
            <p14:sldId id="344"/>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 id="348"/>
            <p14:sldId id="371"/>
            <p14:sldId id="299"/>
          </p14:sldIdLst>
        </p14:section>
        <p14:section name="Tests" id="{2A1E5F8D-9C3F-44EA-B7C4-9D25DFEF77D5}">
          <p14:sldIdLst>
            <p14:sldId id="374"/>
            <p14:sldId id="351"/>
            <p14:sldId id="324"/>
            <p14:sldId id="334"/>
            <p14:sldId id="349"/>
            <p14:sldId id="350"/>
            <p14:sldId id="322"/>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65" autoAdjust="0"/>
    <p:restoredTop sz="90188" autoAdjust="0"/>
  </p:normalViewPr>
  <p:slideViewPr>
    <p:cSldViewPr snapToGrid="0">
      <p:cViewPr varScale="1">
        <p:scale>
          <a:sx n="105" d="100"/>
          <a:sy n="105" d="100"/>
        </p:scale>
        <p:origin x="804" y="108"/>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handoutMaster" Target="handoutMasters/handoutMaster1.xml"/><Relationship Id="rId75"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viewProps" Target="viewProps.xml"/><Relationship Id="rId78"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commentAuthors" Target="commentAuthors.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26/08/2021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‹N°›</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26/08/2021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‹N°›</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22</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984538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smtClean="0"/>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26/08/2021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‹N°›</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26/08/2021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smtClean="0"/>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26/08/2021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26/08/2021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smtClean="0"/>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26/08/2021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26/08/2021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26/08/2021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26/08/2021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26/08/2021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26/08/2021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smtClean="0"/>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26/08/2021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‹N°›</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26/08/2021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‹N°›</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4.png"/><Relationship Id="rId4" Type="http://schemas.openxmlformats.org/officeDocument/2006/relationships/image" Target="../media/image5.svg"/></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r>
              <a:rPr lang="fr-FR" sz="3200" dirty="0"/>
              <a:t/>
            </a: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a:t>
            </a:r>
            <a:r>
              <a:rPr lang="fr-FR" sz="2400" dirty="0" smtClean="0"/>
              <a:t>16 </a:t>
            </a:r>
            <a:r>
              <a:rPr lang="fr-FR" sz="2400" dirty="0" err="1" smtClean="0"/>
              <a:t>decembre</a:t>
            </a:r>
            <a:r>
              <a:rPr lang="fr-FR" sz="2400" dirty="0" smtClean="0"/>
              <a:t> 2020 </a:t>
            </a:r>
            <a:r>
              <a:rPr lang="fr-FR" sz="2400" dirty="0"/>
              <a:t>au </a:t>
            </a:r>
            <a:r>
              <a:rPr lang="fr-FR" sz="2400" dirty="0" smtClean="0"/>
              <a:t>31 aout 2021</a:t>
            </a:r>
            <a:endParaRPr lang="fr-FR" dirty="0"/>
          </a:p>
          <a:p>
            <a:r>
              <a:rPr lang="fr-FR" dirty="0" smtClean="0"/>
              <a:t>Vladislav PITENTII</a:t>
            </a:r>
            <a:endParaRPr lang="fr-FR" dirty="0"/>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r>
              <a:rPr lang="fr-FR" sz="1400" dirty="0">
                <a:solidFill>
                  <a:schemeClr val="bg1"/>
                </a:solidFill>
              </a:rPr>
              <a:t/>
            </a:r>
            <a:br>
              <a:rPr lang="fr-FR" sz="1400" dirty="0">
                <a:solidFill>
                  <a:schemeClr val="bg1"/>
                </a:solidFill>
              </a:rPr>
            </a:br>
            <a:r>
              <a:rPr lang="fr-FR" sz="1400" dirty="0">
                <a:solidFill>
                  <a:schemeClr val="bg1"/>
                </a:solidFill>
              </a:rPr>
              <a:t>Centre de formation : </a:t>
            </a:r>
            <a:r>
              <a:rPr lang="fr-FR" sz="1400" dirty="0" smtClean="0">
                <a:solidFill>
                  <a:schemeClr val="bg1"/>
                </a:solidFill>
              </a:rPr>
              <a:t>AFPA, Paris Politzer 75012</a:t>
            </a:r>
            <a:endParaRPr lang="fr-FR" sz="1400" dirty="0">
              <a:solidFill>
                <a:schemeClr val="bg1"/>
              </a:solidFill>
            </a:endParaRP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smtClean="0"/>
              <a:t>Remerciements </a:t>
            </a:r>
            <a:r>
              <a:rPr lang="fr-FR" sz="1600" dirty="0" smtClean="0"/>
              <a:t>……………………………....................... </a:t>
            </a:r>
            <a:r>
              <a:rPr lang="fr-FR" sz="1600" dirty="0" smtClean="0"/>
              <a:t>.p</a:t>
            </a:r>
            <a:r>
              <a:rPr lang="fr-FR" sz="1600" dirty="0"/>
              <a:t>. 3</a:t>
            </a:r>
            <a:r>
              <a:rPr lang="fr-FR" sz="2400" dirty="0"/>
              <a:t/>
            </a:r>
            <a:br>
              <a:rPr lang="fr-FR" sz="2400" dirty="0"/>
            </a:br>
            <a:endParaRPr lang="fr-FR" sz="2400" dirty="0"/>
          </a:p>
          <a:p>
            <a:pPr marL="560070" indent="-514350">
              <a:buFont typeface="+mj-lt"/>
              <a:buAutoNum type="romanUcPeriod"/>
            </a:pPr>
            <a:r>
              <a:rPr lang="fr-FR" sz="2400" dirty="0"/>
              <a:t>Introduction</a:t>
            </a:r>
            <a:r>
              <a:rPr lang="fr-FR" dirty="0"/>
              <a:t/>
            </a:r>
            <a:br>
              <a:rPr lang="fr-FR" dirty="0"/>
            </a:br>
            <a:endParaRPr lang="fr-FR" dirty="0"/>
          </a:p>
          <a:p>
            <a:pPr lvl="2">
              <a:buFont typeface="Wingdings" panose="05000000000000000000" pitchFamily="2" charset="2"/>
              <a:buChar char="§"/>
            </a:pPr>
            <a:r>
              <a:rPr lang="fr-FR" sz="1700" dirty="0" smtClean="0"/>
              <a:t>Période préformation</a:t>
            </a:r>
            <a:r>
              <a:rPr lang="fr-FR" sz="1600" dirty="0" smtClean="0"/>
              <a:t>………………………………………………..p</a:t>
            </a:r>
            <a:r>
              <a:rPr lang="fr-FR" sz="1600" dirty="0"/>
              <a:t>. </a:t>
            </a:r>
            <a:r>
              <a:rPr lang="fr-FR" sz="1600" dirty="0" smtClean="0"/>
              <a:t>4</a:t>
            </a:r>
            <a:endParaRPr lang="fr-FR" sz="1600" dirty="0"/>
          </a:p>
          <a:p>
            <a:pPr lvl="2">
              <a:buFont typeface="Wingdings" panose="05000000000000000000" pitchFamily="2" charset="2"/>
              <a:buChar char="§"/>
            </a:pPr>
            <a:r>
              <a:rPr lang="fr-FR" sz="1700" dirty="0" smtClean="0"/>
              <a:t>Période de recherche de stage</a:t>
            </a:r>
            <a:r>
              <a:rPr lang="fr-FR" sz="1600" dirty="0" smtClean="0"/>
              <a:t>……………………………………p</a:t>
            </a:r>
            <a:r>
              <a:rPr lang="fr-FR" sz="1600" dirty="0"/>
              <a:t>. 4</a:t>
            </a:r>
            <a:br>
              <a:rPr lang="fr-FR" sz="1600" dirty="0"/>
            </a:br>
            <a:endParaRPr lang="fr-FR" sz="1600" dirty="0"/>
          </a:p>
          <a:p>
            <a:pPr marL="560070" indent="-514350">
              <a:buFont typeface="+mj-lt"/>
              <a:buAutoNum type="romanUcPeriod"/>
            </a:pPr>
            <a:r>
              <a:rPr lang="fr-FR" sz="2400" dirty="0"/>
              <a:t>Environnement de travail</a:t>
            </a:r>
            <a:r>
              <a:rPr lang="fr-FR" dirty="0"/>
              <a:t/>
            </a:r>
            <a:br>
              <a:rPr lang="fr-FR" dirty="0"/>
            </a:br>
            <a:endParaRPr lang="fr-FR" dirty="0"/>
          </a:p>
          <a:p>
            <a:pPr lvl="2">
              <a:buFont typeface="Wingdings" panose="05000000000000000000" pitchFamily="2" charset="2"/>
              <a:buChar char="§"/>
            </a:pPr>
            <a:r>
              <a:rPr lang="fr-FR" sz="1700" dirty="0"/>
              <a:t>Langages et base de données </a:t>
            </a:r>
            <a:r>
              <a:rPr lang="fr-FR" sz="1600" dirty="0" smtClean="0"/>
              <a:t>…………………………….. </a:t>
            </a:r>
            <a:r>
              <a:rPr lang="fr-FR" sz="1600" dirty="0" smtClean="0"/>
              <a:t>……p</a:t>
            </a:r>
            <a:r>
              <a:rPr lang="fr-FR" sz="1600" dirty="0"/>
              <a:t>. </a:t>
            </a:r>
            <a:r>
              <a:rPr lang="fr-FR" sz="1600" dirty="0" smtClean="0"/>
              <a:t>6</a:t>
            </a:r>
            <a:endParaRPr lang="fr-FR" sz="1600" dirty="0"/>
          </a:p>
          <a:p>
            <a:pPr lvl="2">
              <a:buFont typeface="Wingdings" panose="05000000000000000000" pitchFamily="2" charset="2"/>
              <a:buChar char="§"/>
            </a:pPr>
            <a:r>
              <a:rPr lang="fr-FR" sz="1700" dirty="0" err="1" smtClean="0"/>
              <a:t>Frameworks</a:t>
            </a:r>
            <a:r>
              <a:rPr lang="fr-FR" sz="1700" dirty="0" smtClean="0"/>
              <a:t> et bibliothèques</a:t>
            </a:r>
            <a:r>
              <a:rPr lang="fr-FR" sz="1600" dirty="0" smtClean="0"/>
              <a:t>………………………</a:t>
            </a:r>
            <a:r>
              <a:rPr lang="en-US" sz="1600" dirty="0" smtClean="0"/>
              <a:t>…………….</a:t>
            </a:r>
            <a:r>
              <a:rPr lang="fr-FR" sz="1600" dirty="0" smtClean="0"/>
              <a:t>p</a:t>
            </a:r>
            <a:r>
              <a:rPr lang="fr-FR" sz="1600" dirty="0"/>
              <a:t>. </a:t>
            </a:r>
            <a:r>
              <a:rPr lang="fr-FR" sz="1600" dirty="0" smtClean="0"/>
              <a:t>7</a:t>
            </a:r>
            <a:endParaRPr lang="fr-FR" sz="1600" dirty="0"/>
          </a:p>
          <a:p>
            <a:pPr lvl="2">
              <a:buFont typeface="Wingdings" panose="05000000000000000000" pitchFamily="2" charset="2"/>
              <a:buChar char="§"/>
            </a:pPr>
            <a:r>
              <a:rPr lang="fr-FR" sz="1700" dirty="0" smtClean="0"/>
              <a:t>Git </a:t>
            </a:r>
            <a:r>
              <a:rPr lang="en-US" sz="1700" dirty="0" smtClean="0"/>
              <a:t>&amp; </a:t>
            </a:r>
            <a:r>
              <a:rPr lang="en-US" sz="1700" dirty="0" err="1" smtClean="0"/>
              <a:t>Github</a:t>
            </a:r>
            <a:r>
              <a:rPr lang="fr-FR" sz="1600" dirty="0" smtClean="0"/>
              <a:t>………………………………............................……..p</a:t>
            </a:r>
            <a:r>
              <a:rPr lang="fr-FR" sz="1600" dirty="0"/>
              <a:t>. </a:t>
            </a:r>
            <a:r>
              <a:rPr lang="fr-FR" sz="1600" dirty="0"/>
              <a:t>8</a:t>
            </a:r>
            <a:endParaRPr lang="fr-FR" sz="1600" dirty="0"/>
          </a:p>
          <a:p>
            <a:pPr lvl="2">
              <a:buFont typeface="Wingdings" panose="05000000000000000000" pitchFamily="2" charset="2"/>
              <a:buChar char="§"/>
            </a:pPr>
            <a:r>
              <a:rPr lang="fr-FR" sz="1700" dirty="0" smtClean="0"/>
              <a:t>Editeur de </a:t>
            </a:r>
            <a:r>
              <a:rPr lang="fr-FR" sz="1700" dirty="0" err="1" smtClean="0"/>
              <a:t>text</a:t>
            </a:r>
            <a:r>
              <a:rPr lang="fr-FR" sz="1700" dirty="0" smtClean="0"/>
              <a:t>, IDE et quelques outils</a:t>
            </a:r>
            <a:r>
              <a:rPr lang="fr-FR" sz="1600" dirty="0" smtClean="0"/>
              <a:t>……………..............p</a:t>
            </a:r>
            <a:r>
              <a:rPr lang="fr-FR" sz="1600" dirty="0"/>
              <a:t>. </a:t>
            </a:r>
            <a:r>
              <a:rPr lang="fr-FR" sz="1600" dirty="0"/>
              <a:t>9</a:t>
            </a:r>
            <a:endParaRPr lang="fr-FR" sz="1600" dirty="0"/>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a:t>
            </a:r>
            <a:r>
              <a:rPr lang="fr-FR" sz="1600" dirty="0" smtClean="0">
                <a:ea typeface="+mn-lt"/>
                <a:cs typeface="+mn-lt"/>
              </a:rPr>
              <a:t>… p</a:t>
            </a:r>
            <a:r>
              <a:rPr lang="fr-FR" sz="1600" dirty="0">
                <a:ea typeface="+mn-lt"/>
                <a:cs typeface="+mn-lt"/>
              </a:rPr>
              <a:t>.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a:t>
            </a:r>
            <a:r>
              <a:rPr lang="fr-FR" sz="1600" dirty="0" smtClean="0">
                <a:ea typeface="+mn-lt"/>
                <a:cs typeface="+mn-lt"/>
              </a:rPr>
              <a:t>………………… </a:t>
            </a:r>
            <a:r>
              <a:rPr lang="fr-FR" sz="1600" dirty="0">
                <a:ea typeface="+mn-lt"/>
                <a:cs typeface="+mn-lt"/>
              </a:rPr>
              <a:t>p. 26</a:t>
            </a:r>
          </a:p>
          <a:p>
            <a:pPr lvl="2">
              <a:buFont typeface="Wingdings" panose="05000000000000000000" pitchFamily="2" charset="2"/>
              <a:buChar char="§"/>
            </a:pPr>
            <a:r>
              <a:rPr lang="fr-FR" sz="1600" dirty="0">
                <a:ea typeface="+mn-lt"/>
                <a:cs typeface="+mn-lt"/>
              </a:rPr>
              <a:t>Création de l’objet application </a:t>
            </a:r>
            <a:r>
              <a:rPr lang="fr-FR" sz="1600" dirty="0" smtClean="0">
                <a:ea typeface="+mn-lt"/>
                <a:cs typeface="+mn-lt"/>
              </a:rPr>
              <a:t>………………………………………… </a:t>
            </a:r>
            <a:r>
              <a:rPr lang="fr-FR" sz="1600" dirty="0">
                <a:ea typeface="+mn-lt"/>
                <a:cs typeface="+mn-lt"/>
              </a:rPr>
              <a:t>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a:t>
            </a:r>
            <a:r>
              <a:rPr lang="fr-FR" sz="1600" dirty="0" smtClean="0">
                <a:ea typeface="+mn-lt"/>
                <a:cs typeface="+mn-lt"/>
              </a:rPr>
              <a:t>…………………………………………………. </a:t>
            </a:r>
            <a:r>
              <a:rPr lang="fr-FR" sz="1600" dirty="0">
                <a:ea typeface="+mn-lt"/>
                <a:cs typeface="+mn-lt"/>
              </a:rPr>
              <a:t>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a:t>
            </a:r>
            <a:r>
              <a:rPr lang="fr-FR" sz="1600" dirty="0" smtClean="0">
                <a:ea typeface="+mn-lt"/>
                <a:cs typeface="+mn-lt"/>
              </a:rPr>
              <a:t>…………………………………. </a:t>
            </a:r>
            <a:r>
              <a:rPr lang="fr-FR" sz="1600" dirty="0">
                <a:ea typeface="+mn-lt"/>
                <a:cs typeface="+mn-lt"/>
              </a:rPr>
              <a:t>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smtClean="0"/>
              <a:t>Remerciements</a:t>
            </a:r>
            <a:endParaRPr lang="fr-FR" dirty="0"/>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a:t>
            </a:r>
            <a:r>
              <a:rPr lang="fr-FR" dirty="0" smtClean="0"/>
              <a:t>m'avoir </a:t>
            </a:r>
            <a:r>
              <a:rPr lang="fr-FR" dirty="0"/>
              <a:t>donné ma chance en validant ma candidature pour la formation</a:t>
            </a:r>
            <a:r>
              <a:rPr lang="fr-FR" dirty="0" smtClean="0"/>
              <a:t>.</a:t>
            </a:r>
            <a:endParaRPr lang="fr-FR" dirty="0"/>
          </a:p>
          <a:p>
            <a:r>
              <a:rPr lang="fr-FR" dirty="0"/>
              <a:t>Je remercie également Moussa Camara, mon formateur qui, par la qualité de son enseignement et sa pédagogie, m'a permis d'acquérir des bases solides en m'aidant pendant les cours et en consacrant son temps libre</a:t>
            </a:r>
            <a:r>
              <a:rPr lang="fr-FR" dirty="0" smtClean="0"/>
              <a:t>.</a:t>
            </a:r>
          </a:p>
          <a:p>
            <a:r>
              <a:rPr lang="fr-FR" sz="2400" dirty="0"/>
              <a:t>Un mot en particulier sur notre professeur d’anglais </a:t>
            </a:r>
            <a:r>
              <a:rPr lang="fr-FR" sz="2400" dirty="0" err="1" smtClean="0"/>
              <a:t>Susannah</a:t>
            </a:r>
            <a:r>
              <a:rPr lang="fr-FR" sz="2400" dirty="0" smtClean="0"/>
              <a:t> </a:t>
            </a:r>
            <a:r>
              <a:rPr lang="fr-FR" sz="2400" dirty="0"/>
              <a:t>pour ses cours intelligents et </a:t>
            </a:r>
            <a:r>
              <a:rPr lang="fr-FR" sz="2400" dirty="0" smtClean="0"/>
              <a:t>intéressants.</a:t>
            </a:r>
            <a:endParaRPr lang="fr-FR" sz="2400" dirty="0"/>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smtClean="0"/>
              <a:t>Période pré</a:t>
            </a:r>
            <a:r>
              <a:rPr lang="en-US" sz="2000" b="1" dirty="0" smtClean="0"/>
              <a:t>formation</a:t>
            </a:r>
            <a:r>
              <a:rPr lang="fr-FR" sz="2000" b="1" dirty="0" smtClean="0"/>
              <a:t>: </a:t>
            </a:r>
            <a:r>
              <a:rPr lang="fr-FR" dirty="0" smtClean="0"/>
              <a:t>Ayant </a:t>
            </a:r>
            <a:r>
              <a:rPr lang="fr-FR" dirty="0"/>
              <a:t>déjà les connaissances en informatique </a:t>
            </a:r>
            <a:r>
              <a:rPr lang="fr-FR" dirty="0" smtClean="0"/>
              <a:t>j’avais décidé de </a:t>
            </a:r>
            <a:r>
              <a:rPr lang="fr-FR" dirty="0"/>
              <a:t>les approfondir par l'inscription en formation.  Parmi celles que j’ai trouvées, la formation “Concepteur Développeur d’Applications” proposée par l’AFPA m’a semblé être la plus prometteuse, et le centre Paris 12eme était la plus proche de chez moi</a:t>
            </a:r>
            <a:r>
              <a:rPr lang="fr-FR" dirty="0" smtClean="0"/>
              <a:t>.</a:t>
            </a:r>
          </a:p>
          <a:p>
            <a:r>
              <a:rPr lang="fr-FR" sz="2000" b="1" dirty="0" smtClean="0"/>
              <a:t>Période de recherche de stage</a:t>
            </a:r>
            <a:r>
              <a:rPr lang="en-US" b="1" dirty="0" smtClean="0"/>
              <a:t>: </a:t>
            </a:r>
            <a:r>
              <a:rPr lang="fr-FR" dirty="0"/>
              <a:t>Malgré mes recherches, je n’ai pas trouvé d’entreprise d’accueil pour effectuer un stage. J’ai donc dû entreprendre la création d’un projet afin de le présenter le jour de l’examen. </a:t>
            </a:r>
            <a:r>
              <a:rPr lang="fr-FR" dirty="0" smtClean="0"/>
              <a:t>Sous </a:t>
            </a:r>
            <a:r>
              <a:rPr lang="fr-FR" dirty="0"/>
              <a:t>les conseils de mon formateur, j’ai décidé de continuer le travail sur mon dernier projet en formation de type réseau sociale. </a:t>
            </a:r>
            <a:r>
              <a:rPr lang="fr-FR" dirty="0" smtClean="0"/>
              <a:t>Ce </a:t>
            </a:r>
            <a:r>
              <a:rPr lang="fr-FR" dirty="0"/>
              <a:t>type de projet était tout indiqué pour exposer l’ensemble des capacités que j‘ai acquises pendant la formation.</a:t>
            </a:r>
            <a:endParaRPr lang="fr-FR" dirty="0" smtClean="0"/>
          </a:p>
          <a:p>
            <a:pPr algn="just"/>
            <a:endParaRPr lang="fr-FR" sz="2000" b="1" dirty="0" smtClean="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a:t>
            </a:r>
            <a:r>
              <a:rPr lang="fr-FR" sz="2000" b="1" dirty="0" smtClean="0"/>
              <a:t>11: </a:t>
            </a:r>
            <a:r>
              <a:rPr lang="fr-FR" sz="2000" dirty="0" smtClean="0"/>
              <a:t>un</a:t>
            </a:r>
            <a:r>
              <a:rPr lang="fr-FR" sz="2000" b="1" dirty="0" smtClean="0"/>
              <a:t> </a:t>
            </a:r>
            <a:r>
              <a:rPr lang="fr-FR" sz="2000" dirty="0" smtClean="0"/>
              <a:t>langage </a:t>
            </a:r>
            <a:r>
              <a:rPr lang="fr-FR" sz="2000" dirty="0"/>
              <a:t>de programmation orienté </a:t>
            </a:r>
            <a:r>
              <a:rPr lang="fr-FR" sz="2000" dirty="0" smtClean="0"/>
              <a:t>objet.</a:t>
            </a:r>
            <a:endParaRPr lang="fr-FR" sz="2000" b="1" dirty="0" smtClean="0"/>
          </a:p>
          <a:p>
            <a:r>
              <a:rPr lang="en-US" sz="1800" b="1" dirty="0" smtClean="0"/>
              <a:t>Typescript </a:t>
            </a:r>
            <a:r>
              <a:rPr lang="en-US" sz="1800" b="1" dirty="0" smtClean="0"/>
              <a:t>4: </a:t>
            </a:r>
            <a:r>
              <a:rPr lang="fr-FR" sz="1800" dirty="0"/>
              <a:t>un langage de programmation libre et open source </a:t>
            </a:r>
            <a:r>
              <a:rPr lang="fr-FR" sz="1800" dirty="0" smtClean="0"/>
              <a:t>qui </a:t>
            </a:r>
            <a:r>
              <a:rPr lang="fr-FR" sz="1800" dirty="0"/>
              <a:t>a pour but d'améliorer et de sécuriser la production de code JavaScript.</a:t>
            </a:r>
            <a:endParaRPr lang="en-US" sz="1800" b="1" dirty="0" smtClean="0"/>
          </a:p>
          <a:p>
            <a:r>
              <a:rPr lang="fr-FR" sz="1800" b="1" dirty="0" smtClean="0"/>
              <a:t>HTML5</a:t>
            </a:r>
            <a:r>
              <a:rPr lang="fr-FR" sz="1800" b="1" dirty="0"/>
              <a:t> et </a:t>
            </a:r>
            <a:r>
              <a:rPr lang="fr-FR" sz="1800" b="1" dirty="0" smtClean="0"/>
              <a:t>CSS3</a:t>
            </a:r>
            <a:endParaRPr lang="fr-FR" sz="1800" b="1" dirty="0" smtClean="0"/>
          </a:p>
          <a:p>
            <a:r>
              <a:rPr lang="en-US" sz="1800" b="1" dirty="0" smtClean="0"/>
              <a:t>MySQL 8 - </a:t>
            </a:r>
            <a:r>
              <a:rPr lang="fr-FR" sz="1800" dirty="0" smtClean="0"/>
              <a:t>système </a:t>
            </a:r>
            <a:r>
              <a:rPr lang="fr-FR" sz="1800" dirty="0"/>
              <a:t>de gestion de bases de données relationnelles </a:t>
            </a:r>
            <a:r>
              <a:rPr lang="fr-FR" sz="1800" dirty="0" smtClean="0"/>
              <a:t>.</a:t>
            </a:r>
            <a:endParaRPr lang="fr-FR" sz="1800" dirty="0"/>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smtClean="0"/>
              <a:t>Frameworks</a:t>
            </a:r>
            <a:r>
              <a:rPr lang="fr-FR" b="1" dirty="0" smtClean="0"/>
              <a:t> </a:t>
            </a:r>
            <a:r>
              <a:rPr lang="fr-FR" b="1" dirty="0"/>
              <a:t>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smtClean="0"/>
              <a:t>Springboot</a:t>
            </a:r>
            <a:r>
              <a:rPr lang="fr-FR" sz="1900" b="1" dirty="0" smtClean="0"/>
              <a:t> </a:t>
            </a:r>
            <a:r>
              <a:rPr lang="fr-FR" sz="1900" b="1" dirty="0" smtClean="0"/>
              <a:t>2.5.4</a:t>
            </a:r>
            <a:r>
              <a:rPr lang="fr-FR" sz="1900" dirty="0"/>
              <a:t> </a:t>
            </a:r>
            <a:r>
              <a:rPr lang="fr-FR" sz="2000" dirty="0"/>
              <a:t>—</a:t>
            </a:r>
            <a:r>
              <a:rPr lang="fr-FR" sz="1900" dirty="0" smtClean="0"/>
              <a:t> </a:t>
            </a:r>
            <a:r>
              <a:rPr lang="fr-FR" sz="1900" dirty="0" smtClean="0"/>
              <a:t>Un </a:t>
            </a:r>
            <a:r>
              <a:rPr lang="fr-FR" sz="1900" dirty="0" err="1" smtClean="0"/>
              <a:t>framework</a:t>
            </a:r>
            <a:r>
              <a:rPr lang="fr-FR" sz="1900" dirty="0" smtClean="0"/>
              <a:t> </a:t>
            </a:r>
            <a:r>
              <a:rPr lang="fr-FR" sz="1900" dirty="0"/>
              <a:t>open source qui prisse en charge la création d’objets et la mise en relation d’objets par l’intermédiaire d’un fichier de </a:t>
            </a:r>
            <a:r>
              <a:rPr lang="fr-FR" sz="1900" dirty="0" smtClean="0"/>
              <a:t>configuration.</a:t>
            </a:r>
            <a:endParaRPr lang="fr-FR" sz="2200" dirty="0" smtClean="0">
              <a:solidFill>
                <a:srgbClr val="4A66AC"/>
              </a:solidFill>
            </a:endParaRPr>
          </a:p>
          <a:p>
            <a:pPr marL="274320" lvl="1" indent="0">
              <a:buNone/>
            </a:pPr>
            <a:endParaRPr lang="fr-FR" dirty="0" smtClean="0">
              <a:solidFill>
                <a:srgbClr val="4A66AC"/>
              </a:solidFill>
            </a:endParaRPr>
          </a:p>
          <a:p>
            <a:pPr marL="274320" lvl="1" indent="0">
              <a:buNone/>
            </a:pPr>
            <a:r>
              <a:rPr lang="fr-FR" dirty="0" smtClean="0">
                <a:solidFill>
                  <a:srgbClr val="4A66AC"/>
                </a:solidFill>
              </a:rPr>
              <a:t>Les </a:t>
            </a:r>
            <a:r>
              <a:rPr lang="fr-FR" dirty="0" err="1" smtClean="0">
                <a:solidFill>
                  <a:srgbClr val="4A66AC"/>
                </a:solidFill>
              </a:rPr>
              <a:t>libraries</a:t>
            </a:r>
            <a:r>
              <a:rPr lang="fr-FR" dirty="0" smtClean="0">
                <a:solidFill>
                  <a:srgbClr val="4A66AC"/>
                </a:solidFill>
              </a:rPr>
              <a:t> </a:t>
            </a:r>
            <a:r>
              <a:rPr lang="fr-FR" dirty="0" smtClean="0">
                <a:solidFill>
                  <a:srgbClr val="4A66AC"/>
                </a:solidFill>
              </a:rPr>
              <a:t>utilisées</a:t>
            </a:r>
            <a:r>
              <a:rPr lang="fr-FR" sz="2200" dirty="0" smtClean="0">
                <a:solidFill>
                  <a:srgbClr val="4A66AC"/>
                </a:solidFill>
              </a:rPr>
              <a:t>:</a:t>
            </a:r>
            <a:endParaRPr lang="fr-FR" sz="2200" dirty="0" smtClean="0">
              <a:solidFill>
                <a:srgbClr val="4A66AC"/>
              </a:solidFill>
            </a:endParaRPr>
          </a:p>
          <a:p>
            <a:pPr lvl="2">
              <a:buFont typeface="Courier New" panose="02070309020205020404" pitchFamily="49" charset="0"/>
              <a:buChar char="o"/>
            </a:pPr>
            <a:r>
              <a:rPr lang="fr-FR" dirty="0"/>
              <a:t>MySQL </a:t>
            </a:r>
            <a:r>
              <a:rPr lang="fr-FR" dirty="0" err="1" smtClean="0"/>
              <a:t>Connector</a:t>
            </a:r>
            <a:r>
              <a:rPr lang="fr-FR" dirty="0"/>
              <a:t> </a:t>
            </a:r>
            <a:r>
              <a:rPr lang="fr-FR" dirty="0"/>
              <a:t>—</a:t>
            </a:r>
            <a:r>
              <a:rPr lang="fr-FR" dirty="0" smtClean="0"/>
              <a:t> </a:t>
            </a:r>
            <a:r>
              <a:rPr lang="fr-FR" dirty="0"/>
              <a:t>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smtClean="0"/>
              <a:t>) </a:t>
            </a:r>
            <a:r>
              <a:rPr lang="fr-FR" dirty="0"/>
              <a:t>—</a:t>
            </a:r>
            <a:r>
              <a:rPr lang="fr-FR" dirty="0" smtClean="0"/>
              <a:t> </a:t>
            </a:r>
            <a:r>
              <a:rPr lang="fr-FR" dirty="0"/>
              <a:t>Bibliothèque la plus facile à utiliser et à comprendre pour créer et vérifier des jetons Web JSON (JWT) sur la JVM. </a:t>
            </a:r>
          </a:p>
          <a:p>
            <a:pPr marL="45720" indent="0">
              <a:buNone/>
            </a:pPr>
            <a:r>
              <a:rPr lang="fr-FR" sz="2000" b="1" dirty="0" err="1" smtClean="0">
                <a:solidFill>
                  <a:srgbClr val="4A66AC"/>
                </a:solidFill>
              </a:rPr>
              <a:t>Angular</a:t>
            </a:r>
            <a:r>
              <a:rPr lang="fr-FR" sz="2000" b="1" dirty="0" smtClean="0">
                <a:solidFill>
                  <a:srgbClr val="4A66AC"/>
                </a:solidFill>
              </a:rPr>
              <a:t> </a:t>
            </a:r>
            <a:r>
              <a:rPr lang="fr-FR" sz="2000" b="1" dirty="0" smtClean="0">
                <a:solidFill>
                  <a:srgbClr val="4A66AC"/>
                </a:solidFill>
              </a:rPr>
              <a:t>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r>
              <a:rPr lang="fr-FR" sz="2000" dirty="0" smtClean="0"/>
              <a:t>».</a:t>
            </a:r>
          </a:p>
          <a:p>
            <a:pPr marL="45720" indent="0">
              <a:buNone/>
            </a:pPr>
            <a:r>
              <a:rPr lang="en-US" sz="2000" dirty="0" smtClean="0"/>
              <a:t>    Les libraries </a:t>
            </a:r>
            <a:r>
              <a:rPr lang="en-US" sz="2000" dirty="0" err="1" smtClean="0"/>
              <a:t>utilis</a:t>
            </a:r>
            <a:r>
              <a:rPr lang="fr-FR" sz="2000" dirty="0" err="1" smtClean="0"/>
              <a:t>ées</a:t>
            </a:r>
            <a:r>
              <a:rPr lang="en-US" sz="2000" dirty="0" smtClean="0"/>
              <a:t>:</a:t>
            </a:r>
            <a:endParaRPr lang="fr-FR" sz="2000" dirty="0"/>
          </a:p>
          <a:p>
            <a:pPr lvl="2">
              <a:buFont typeface="Courier New" panose="02070309020205020404" pitchFamily="49" charset="0"/>
              <a:buChar char="o"/>
            </a:pPr>
            <a:r>
              <a:rPr lang="en-US" sz="1600" dirty="0" smtClean="0"/>
              <a:t>Angular Material </a:t>
            </a:r>
            <a:r>
              <a:rPr lang="fr-FR" sz="1600" dirty="0"/>
              <a:t>—</a:t>
            </a:r>
            <a:r>
              <a:rPr lang="fr-FR" sz="1600" dirty="0" smtClean="0"/>
              <a:t> </a:t>
            </a:r>
            <a:r>
              <a:rPr lang="fr-FR" sz="1600" dirty="0"/>
              <a:t>Bibliothèque de composants </a:t>
            </a:r>
            <a:r>
              <a:rPr lang="fr-FR" sz="1600" dirty="0" smtClean="0"/>
              <a:t>UI</a:t>
            </a:r>
          </a:p>
          <a:p>
            <a:pPr lvl="2">
              <a:buFont typeface="Courier New" panose="02070309020205020404" pitchFamily="49" charset="0"/>
              <a:buChar char="o"/>
            </a:pPr>
            <a:r>
              <a:rPr lang="en-US" sz="1600" dirty="0" smtClean="0"/>
              <a:t>ng-infinite-scroll </a:t>
            </a:r>
            <a:r>
              <a:rPr lang="fr-FR" sz="1600" dirty="0" smtClean="0"/>
              <a:t>— Directive </a:t>
            </a:r>
            <a:r>
              <a:rPr lang="fr-FR" sz="1600" dirty="0"/>
              <a:t>"</a:t>
            </a:r>
            <a:r>
              <a:rPr lang="fr-FR" sz="1600" dirty="0" err="1"/>
              <a:t>Infinite</a:t>
            </a:r>
            <a:r>
              <a:rPr lang="fr-FR" sz="1600" dirty="0"/>
              <a:t> Scroll" pour </a:t>
            </a:r>
            <a:r>
              <a:rPr lang="fr-FR" sz="1600" dirty="0" err="1"/>
              <a:t>Angular</a:t>
            </a:r>
            <a:r>
              <a:rPr lang="fr-FR" sz="1600" dirty="0"/>
              <a:t> </a:t>
            </a:r>
            <a:endParaRPr lang="fr-FR" sz="1600" dirty="0" smtClean="0"/>
          </a:p>
          <a:p>
            <a:pPr lvl="2">
              <a:buFont typeface="Courier New" panose="02070309020205020404" pitchFamily="49" charset="0"/>
              <a:buChar char="o"/>
            </a:pPr>
            <a:r>
              <a:rPr lang="en-US" sz="1600" dirty="0" smtClean="0"/>
              <a:t>angular-</a:t>
            </a:r>
            <a:r>
              <a:rPr lang="en-US" sz="1600" dirty="0" err="1" smtClean="0"/>
              <a:t>timesince</a:t>
            </a:r>
            <a:r>
              <a:rPr lang="en-US" sz="1600" dirty="0" smtClean="0"/>
              <a:t> </a:t>
            </a:r>
            <a:r>
              <a:rPr lang="fr-FR" sz="1600" dirty="0"/>
              <a:t>— </a:t>
            </a:r>
            <a:r>
              <a:rPr lang="fr-FR" sz="1600" dirty="0" smtClean="0"/>
              <a:t> une </a:t>
            </a:r>
            <a:r>
              <a:rPr lang="fr-FR" sz="1600" dirty="0"/>
              <a:t>bibliothèque simple et légère qui rend une date </a:t>
            </a:r>
            <a:r>
              <a:rPr lang="fr-FR" sz="1600" dirty="0" err="1"/>
              <a:t>json</a:t>
            </a:r>
            <a:r>
              <a:rPr lang="fr-FR" sz="1600" dirty="0"/>
              <a:t> lisible par l'homme</a:t>
            </a:r>
            <a:endParaRPr lang="en-US" sz="1600" dirty="0" smtClean="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smtClean="0">
                <a:solidFill>
                  <a:schemeClr val="tx2">
                    <a:lumMod val="60000"/>
                    <a:lumOff val="40000"/>
                  </a:schemeClr>
                </a:solidFill>
              </a:rPr>
              <a:t>2.33.0</a:t>
            </a:r>
            <a:r>
              <a:rPr lang="fr-FR" sz="1900" dirty="0" smtClean="0">
                <a:solidFill>
                  <a:schemeClr val="tx2">
                    <a:lumMod val="60000"/>
                    <a:lumOff val="40000"/>
                  </a:schemeClr>
                </a:solidFill>
              </a:rPr>
              <a:t> </a:t>
            </a:r>
            <a:r>
              <a:rPr lang="fr-FR" sz="1900" dirty="0">
                <a:solidFill>
                  <a:schemeClr val="tx2">
                    <a:lumMod val="60000"/>
                    <a:lumOff val="40000"/>
                  </a:schemeClr>
                </a:solidFill>
              </a:rPr>
              <a:t>: </a:t>
            </a:r>
            <a:r>
              <a:rPr lang="fr-FR" sz="1900" dirty="0"/>
              <a:t>Un logiciel de gestion de versions.</a:t>
            </a:r>
            <a:br>
              <a:rPr lang="fr-FR" sz="1900" dirty="0"/>
            </a:br>
            <a:r>
              <a:rPr lang="fr-FR" sz="1900" dirty="0"/>
              <a:t/>
            </a: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a:t>
            </a:r>
            <a:r>
              <a:rPr lang="fr-FR" sz="1900" dirty="0" smtClean="0"/>
              <a:t>l’arbre historique de notre </a:t>
            </a:r>
            <a:r>
              <a:rPr lang="fr-FR" sz="1900" dirty="0" err="1" smtClean="0"/>
              <a:t>depot</a:t>
            </a:r>
            <a:r>
              <a:rPr lang="fr-FR" sz="1900" dirty="0" smtClean="0"/>
              <a:t>, </a:t>
            </a:r>
            <a:r>
              <a:rPr lang="fr-FR" sz="1900" dirty="0"/>
              <a:t>les informations d’un commit (Id (SHA-1), auteur, </a:t>
            </a:r>
            <a:r>
              <a:rPr lang="fr-FR" sz="1900" dirty="0" smtClean="0"/>
              <a:t>le message, la liste de tags), </a:t>
            </a:r>
            <a:r>
              <a:rPr lang="fr-FR" sz="1900" dirty="0"/>
              <a:t>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smtClean="0"/>
              <a:t>Les </a:t>
            </a:r>
            <a:r>
              <a:rPr lang="fr-FR" b="1" dirty="0" err="1" smtClean="0"/>
              <a:t>editeurs</a:t>
            </a:r>
            <a:r>
              <a:rPr lang="fr-FR" b="1" dirty="0" smtClean="0"/>
              <a:t> de </a:t>
            </a:r>
            <a:r>
              <a:rPr lang="fr-FR" b="1" dirty="0" err="1" smtClean="0"/>
              <a:t>text</a:t>
            </a:r>
            <a:r>
              <a:rPr lang="fr-FR" b="1" dirty="0" smtClean="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smtClean="0"/>
              <a:t>Eclipse IDE </a:t>
            </a:r>
            <a:r>
              <a:rPr lang="fr-FR" sz="2000" dirty="0" smtClean="0"/>
              <a:t>— pour </a:t>
            </a:r>
            <a:r>
              <a:rPr lang="fr-FR" sz="2000" dirty="0" err="1" smtClean="0"/>
              <a:t>gerer</a:t>
            </a:r>
            <a:r>
              <a:rPr lang="fr-FR" sz="2000" dirty="0" smtClean="0"/>
              <a:t> la partie back-end en Java.</a:t>
            </a:r>
          </a:p>
          <a:p>
            <a:pPr algn="just"/>
            <a:r>
              <a:rPr lang="en-US" sz="2000" b="1" dirty="0" err="1" smtClean="0"/>
              <a:t>VSCodium</a:t>
            </a:r>
            <a:r>
              <a:rPr lang="en-US" sz="2000" b="1" dirty="0" smtClean="0"/>
              <a:t> </a:t>
            </a:r>
            <a:r>
              <a:rPr lang="fr-FR" sz="2000" dirty="0" smtClean="0"/>
              <a:t>— un </a:t>
            </a:r>
            <a:r>
              <a:rPr lang="fr-FR" sz="2000" dirty="0" err="1" smtClean="0"/>
              <a:t>editeur</a:t>
            </a:r>
            <a:r>
              <a:rPr lang="fr-FR" sz="2000" dirty="0" smtClean="0"/>
              <a:t> </a:t>
            </a:r>
            <a:r>
              <a:rPr lang="fr-FR" sz="2000" dirty="0" err="1" smtClean="0"/>
              <a:t>text</a:t>
            </a:r>
            <a:r>
              <a:rPr lang="fr-FR" sz="2000" dirty="0" smtClean="0"/>
              <a:t>, qui permet de </a:t>
            </a:r>
            <a:r>
              <a:rPr lang="fr-FR" sz="2000" dirty="0" err="1" smtClean="0"/>
              <a:t>gerer</a:t>
            </a:r>
            <a:r>
              <a:rPr lang="fr-FR" sz="2000" dirty="0" smtClean="0"/>
              <a:t> tout types de fichiers, il vient avec le support </a:t>
            </a:r>
            <a:r>
              <a:rPr lang="fr-FR" sz="2000" dirty="0" err="1" smtClean="0"/>
              <a:t>integré</a:t>
            </a:r>
            <a:r>
              <a:rPr lang="fr-FR" sz="2000" dirty="0" smtClean="0"/>
              <a:t> d</a:t>
            </a:r>
            <a:r>
              <a:rPr lang="en-US" sz="2000" dirty="0" smtClean="0"/>
              <a:t>’un terminal et </a:t>
            </a:r>
            <a:r>
              <a:rPr lang="en-US" sz="2000" dirty="0" err="1" smtClean="0"/>
              <a:t>git</a:t>
            </a:r>
            <a:r>
              <a:rPr lang="en-US" sz="2000" dirty="0" smtClean="0"/>
              <a:t>. </a:t>
            </a:r>
            <a:r>
              <a:rPr lang="fr-FR" sz="2000" dirty="0" smtClean="0"/>
              <a:t>Je l’avais utilisé pour </a:t>
            </a:r>
            <a:r>
              <a:rPr lang="fr-FR" sz="2000" dirty="0" err="1" smtClean="0"/>
              <a:t>developpeur</a:t>
            </a:r>
            <a:r>
              <a:rPr lang="fr-FR" sz="2000" dirty="0" smtClean="0"/>
              <a:t> l</a:t>
            </a:r>
            <a:r>
              <a:rPr lang="en-US" sz="2000" dirty="0" smtClean="0"/>
              <a:t>a </a:t>
            </a:r>
            <a:r>
              <a:rPr lang="en-US" sz="2000" dirty="0" err="1" smtClean="0"/>
              <a:t>partie</a:t>
            </a:r>
            <a:r>
              <a:rPr lang="en-US" sz="2000" dirty="0" smtClean="0"/>
              <a:t> front-end de mon </a:t>
            </a:r>
            <a:r>
              <a:rPr lang="en-US" sz="2000" dirty="0" err="1" smtClean="0"/>
              <a:t>projet</a:t>
            </a:r>
            <a:r>
              <a:rPr lang="en-US" sz="2000" dirty="0"/>
              <a:t> </a:t>
            </a:r>
            <a:r>
              <a:rPr lang="en-US" sz="2000" dirty="0" smtClean="0"/>
              <a:t>(html/</a:t>
            </a:r>
            <a:r>
              <a:rPr lang="en-US" sz="2000" dirty="0" err="1" smtClean="0"/>
              <a:t>css</a:t>
            </a:r>
            <a:r>
              <a:rPr lang="en-US" sz="2000" dirty="0" smtClean="0"/>
              <a:t>/typescript).</a:t>
            </a:r>
            <a:endParaRPr lang="fr-FR" sz="2000" b="1" dirty="0" smtClean="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des composants ont été ajoutés. Idem pour les versions suivantes, ajout ou changement de composants une fois le résultat souhaité obtenu.</a:t>
            </a:r>
          </a:p>
          <a:p>
            <a:pPr marL="45720" indent="0">
              <a:buNone/>
            </a:pPr>
            <a:r>
              <a:rPr lang="fr-FR" dirty="0"/>
              <a:t>Les versions :</a:t>
            </a:r>
            <a:br>
              <a:rPr lang="fr-FR" dirty="0"/>
            </a:br>
            <a:endParaRPr lang="fr-FR" dirty="0"/>
          </a:p>
          <a:p>
            <a:pPr lvl="1">
              <a:buFont typeface="Wingdings" panose="05000000000000000000" pitchFamily="2" charset="2"/>
              <a:buChar char="§"/>
            </a:pPr>
            <a:r>
              <a:rPr lang="fr-FR" b="1" dirty="0"/>
              <a:t>Flask/</a:t>
            </a:r>
            <a:r>
              <a:rPr lang="fr-FR" b="1" dirty="0" err="1"/>
              <a:t>Sqlite</a:t>
            </a:r>
            <a:r>
              <a:rPr lang="fr-FR" dirty="0"/>
              <a:t> en local. La BDD créée à partir d’un script et insertions via la page formulaire. Les </a:t>
            </a:r>
            <a:r>
              <a:rPr lang="fr-FR" dirty="0" err="1"/>
              <a:t>Templates</a:t>
            </a:r>
            <a:r>
              <a:rPr lang="fr-FR" dirty="0"/>
              <a:t> et les filtres « Application » et « Datacenter ».</a:t>
            </a:r>
            <a:br>
              <a:rPr lang="fr-FR" dirty="0"/>
            </a:br>
            <a:endParaRPr lang="fr-FR" dirty="0"/>
          </a:p>
          <a:p>
            <a:pPr lvl="1">
              <a:buFont typeface="Wingdings" panose="05000000000000000000" pitchFamily="2" charset="2"/>
              <a:buChar char="§"/>
            </a:pPr>
            <a:r>
              <a:rPr lang="fr-FR" dirty="0"/>
              <a:t>Création d’une espace « trial » </a:t>
            </a:r>
            <a:r>
              <a:rPr lang="fr-FR" b="1" dirty="0"/>
              <a:t>Cloud Foundry</a:t>
            </a:r>
            <a:r>
              <a:rPr lang="fr-FR" dirty="0"/>
              <a:t>, mise en ligne de l’application web avec un fichier manifest.yml.</a:t>
            </a:r>
            <a:br>
              <a:rPr lang="fr-FR" dirty="0"/>
            </a:br>
            <a:endParaRPr lang="fr-FR" dirty="0"/>
          </a:p>
          <a:p>
            <a:pPr lvl="1">
              <a:buFont typeface="Wingdings" panose="05000000000000000000" pitchFamily="2" charset="2"/>
              <a:buChar char="§"/>
            </a:pPr>
            <a:r>
              <a:rPr lang="fr-FR" dirty="0"/>
              <a:t>Ajout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b="1" dirty="0"/>
              <a:t>Flask/PostgreSQL/SQLAlchemy</a:t>
            </a:r>
            <a:r>
              <a:rPr lang="fr-FR" dirty="0"/>
              <a:t> en local. Création de la BDD via la classe Version (</a:t>
            </a:r>
            <a:r>
              <a:rPr lang="fr-FR" b="1" dirty="0"/>
              <a:t>ORM</a:t>
            </a:r>
            <a:r>
              <a:rPr lang="fr-FR" dirty="0"/>
              <a:t>). </a:t>
            </a:r>
            <a:br>
              <a:rPr lang="fr-FR" dirty="0"/>
            </a:br>
            <a:endParaRPr lang="fr-FR" dirty="0"/>
          </a:p>
          <a:p>
            <a:pPr lvl="1">
              <a:buFont typeface="Wingdings" panose="05000000000000000000" pitchFamily="2" charset="2"/>
              <a:buChar char="§"/>
            </a:pPr>
            <a:r>
              <a:rPr lang="fr-FR" dirty="0"/>
              <a:t>Ajout de </a:t>
            </a:r>
            <a:r>
              <a:rPr lang="fr-FR" b="1" dirty="0"/>
              <a:t>Flask-</a:t>
            </a:r>
            <a:r>
              <a:rPr lang="fr-FR" b="1" dirty="0" err="1"/>
              <a:t>Migrate</a:t>
            </a:r>
            <a:r>
              <a:rPr lang="fr-FR" b="1" dirty="0"/>
              <a:t> (Alembic) </a:t>
            </a:r>
            <a:r>
              <a:rPr lang="fr-FR" dirty="0"/>
              <a:t>pour les modifications de la BDD. Création de deux tables « Application » et « Datacenter » à la place de listes python. Des relations « </a:t>
            </a:r>
            <a:r>
              <a:rPr lang="fr-FR" b="1" dirty="0"/>
              <a:t>one-to-</a:t>
            </a:r>
            <a:r>
              <a:rPr lang="fr-FR" b="1" dirty="0" err="1"/>
              <a:t>many</a:t>
            </a:r>
            <a:r>
              <a:rPr lang="fr-FR" dirty="0"/>
              <a:t> » avec la table « Versions » via migrations en conservant les données de la base. </a:t>
            </a:r>
            <a:br>
              <a:rPr lang="fr-FR" dirty="0"/>
            </a:br>
            <a:endParaRPr lang="fr-FR" dirty="0"/>
          </a:p>
          <a:p>
            <a:pPr lvl="1">
              <a:buFont typeface="Wingdings" panose="05000000000000000000" pitchFamily="2" charset="2"/>
              <a:buChar char="§"/>
            </a:pPr>
            <a:r>
              <a:rPr lang="fr-FR" dirty="0"/>
              <a:t>Ajout de la Pagination.</a:t>
            </a:r>
            <a:br>
              <a:rPr lang="fr-FR" dirty="0"/>
            </a:br>
            <a:endParaRPr lang="fr-FR" dirty="0"/>
          </a:p>
          <a:p>
            <a:pPr lvl="1">
              <a:buFont typeface="Wingdings" panose="05000000000000000000" pitchFamily="2" charset="2"/>
              <a:buChar char="§"/>
            </a:pPr>
            <a:r>
              <a:rPr lang="fr-FR" dirty="0"/>
              <a:t>Ajout d’un filtre « Date ».</a:t>
            </a:r>
            <a:br>
              <a:rPr lang="fr-FR" dirty="0"/>
            </a:br>
            <a:endParaRPr lang="fr-FR" dirty="0"/>
          </a:p>
          <a:p>
            <a:pPr lvl="1">
              <a:buFont typeface="Wingdings" panose="05000000000000000000" pitchFamily="2" charset="2"/>
              <a:buChar char="§"/>
            </a:pPr>
            <a:r>
              <a:rPr lang="fr-FR" dirty="0"/>
              <a:t>Absence de licence PostgreSQL dans Cloud Foundry « trial », une version </a:t>
            </a:r>
            <a:r>
              <a:rPr lang="fr-FR" b="1" dirty="0"/>
              <a:t>SQLite/</a:t>
            </a:r>
            <a:r>
              <a:rPr lang="fr-FR" b="1" dirty="0" err="1"/>
              <a:t>SQLAlchemy</a:t>
            </a:r>
            <a:r>
              <a:rPr lang="fr-FR" b="1" dirty="0"/>
              <a:t> </a:t>
            </a:r>
            <a:r>
              <a:rPr lang="fr-FR" dirty="0"/>
              <a:t>provisoire.</a:t>
            </a:r>
          </a:p>
          <a:p>
            <a:pPr marL="45720" indent="0">
              <a:buNone/>
            </a:pPr>
            <a:r>
              <a:rPr lang="fr-FR" dirty="0"/>
              <a:t/>
            </a:r>
            <a:br>
              <a:rPr lang="fr-FR" dirty="0"/>
            </a:br>
            <a:r>
              <a:rPr lang="fr-FR" dirty="0"/>
              <a:t>La version utilisée pour le rapport du stage est avec PostgreSQL.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pic>
        <p:nvPicPr>
          <p:cNvPr id="6" name="Picture 5">
            <a:extLst>
              <a:ext uri="{FF2B5EF4-FFF2-40B4-BE49-F238E27FC236}">
                <a16:creationId xmlns:a16="http://schemas.microsoft.com/office/drawing/2014/main" id="{C2CD15A0-44C5-4B92-9286-E9F1F05070D6}"/>
              </a:ext>
            </a:extLst>
          </p:cNvPr>
          <p:cNvPicPr>
            <a:picLocks noChangeAspect="1"/>
          </p:cNvPicPr>
          <p:nvPr/>
        </p:nvPicPr>
        <p:blipFill>
          <a:blip r:embed="rId2"/>
          <a:stretch>
            <a:fillRect/>
          </a:stretch>
        </p:blipFill>
        <p:spPr>
          <a:xfrm>
            <a:off x="1200946" y="324145"/>
            <a:ext cx="9786667" cy="5760000"/>
          </a:xfrm>
          <a:prstGeom prst="rect">
            <a:avLst/>
          </a:prstGeom>
        </p:spPr>
      </p:pic>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a:t>Python, Git, GitHub et Flask</a:t>
            </a:r>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Les trois premières semaines du stage ont été consacrées à la familiarisation avec Python et le </a:t>
            </a:r>
            <a:r>
              <a:rPr lang="fr-FR" dirty="0" err="1"/>
              <a:t>framework</a:t>
            </a:r>
            <a:r>
              <a:rPr lang="fr-FR" dirty="0"/>
              <a:t> </a:t>
            </a:r>
            <a:r>
              <a:rPr lang="fr-FR" dirty="0" err="1"/>
              <a:t>Flask</a:t>
            </a:r>
            <a:r>
              <a:rPr lang="fr-FR"/>
              <a:t> autour </a:t>
            </a:r>
            <a:r>
              <a:rPr lang="fr-FR" dirty="0"/>
              <a:t>d’exercices qui serviront pour l’application web, tout en apprenant à utiliser Git </a:t>
            </a:r>
            <a:r>
              <a:rPr lang="fr-FR"/>
              <a:t>et GitHub (documentations en anglais).</a:t>
            </a:r>
            <a:endParaRPr lang="fr-FR" dirty="0"/>
          </a:p>
          <a:p>
            <a:r>
              <a:rPr lang="fr-FR" dirty="0"/>
              <a:t>Modules Python,</a:t>
            </a:r>
          </a:p>
          <a:p>
            <a:r>
              <a:rPr lang="fr-FR" dirty="0"/>
              <a:t>Requêtes HTTP pour récupérer les versions de composants dans le cloud,</a:t>
            </a:r>
          </a:p>
          <a:p>
            <a:r>
              <a:rPr lang="fr-FR" dirty="0"/>
              <a:t>Fichiers json,</a:t>
            </a:r>
          </a:p>
          <a:p>
            <a:r>
              <a:rPr lang="fr-FR" dirty="0"/>
              <a:t>Tests unitaires,</a:t>
            </a:r>
          </a:p>
          <a:p>
            <a:pPr marL="45720" indent="0" algn="just">
              <a:buNone/>
            </a:pPr>
            <a:r>
              <a:rPr lang="fr-FR" dirty="0"/>
              <a:t>Création d’une espace de travail Git et d’un dépôt en ligne GitHub pour le stage. Tout le développement y compris les exercices a suivi la procédure de gestion de versions.</a:t>
            </a:r>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187781"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sp>
        <p:nvSpPr>
          <p:cNvPr id="7" name="Rectangle 6">
            <a:extLst>
              <a:ext uri="{FF2B5EF4-FFF2-40B4-BE49-F238E27FC236}">
                <a16:creationId xmlns:a16="http://schemas.microsoft.com/office/drawing/2014/main" id="{2DBEBAB4-E5D7-45E1-AF6D-3CC2B837F2EF}"/>
              </a:ext>
            </a:extLst>
          </p:cNvPr>
          <p:cNvSpPr/>
          <p:nvPr/>
        </p:nvSpPr>
        <p:spPr>
          <a:xfrm>
            <a:off x="563664" y="966517"/>
            <a:ext cx="6593841"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sp>
        <p:nvSpPr>
          <p:cNvPr id="19" name="Rectangle 18">
            <a:extLst>
              <a:ext uri="{FF2B5EF4-FFF2-40B4-BE49-F238E27FC236}">
                <a16:creationId xmlns:a16="http://schemas.microsoft.com/office/drawing/2014/main" id="{00C4AB35-92E0-469A-8766-3A07F24509D0}"/>
              </a:ext>
            </a:extLst>
          </p:cNvPr>
          <p:cNvSpPr/>
          <p:nvPr/>
        </p:nvSpPr>
        <p:spPr>
          <a:xfrm>
            <a:off x="7662506" y="2107608"/>
            <a:ext cx="2848230" cy="3388951"/>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0" name="Graphic 19" descr="Server">
            <a:extLst>
              <a:ext uri="{FF2B5EF4-FFF2-40B4-BE49-F238E27FC236}">
                <a16:creationId xmlns:a16="http://schemas.microsoft.com/office/drawing/2014/main" id="{FAB95690-5284-4F4B-942A-18FD7B2E806C}"/>
              </a:ext>
            </a:extLst>
          </p:cNvPr>
          <p:cNvPicPr>
            <a:picLocks noChangeAspect="1"/>
          </p:cNvPicPr>
          <p:nvPr/>
        </p:nvPicPr>
        <p:blipFill>
          <a:blip r:embed="rId3">
            <a:extLst>
              <a:ext uri="{96DAC541-7B7A-43D3-8B79-37D633B846F1}">
                <asvg:svgBlip xmlns="" xmlns:asvg="http://schemas.microsoft.com/office/drawing/2016/SVG/main" r:embed="rId4"/>
              </a:ext>
            </a:extLst>
          </a:blip>
          <a:stretch>
            <a:fillRect/>
          </a:stretch>
        </p:blipFill>
        <p:spPr>
          <a:xfrm>
            <a:off x="7901915" y="2734802"/>
            <a:ext cx="426575" cy="372302"/>
          </a:xfrm>
          <a:prstGeom prst="rect">
            <a:avLst/>
          </a:prstGeom>
        </p:spPr>
      </p:pic>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5">
            <a:extLst>
              <a:ext uri="{96DAC541-7B7A-43D3-8B79-37D633B846F1}">
                <asvg:svgBlip xmlns="" xmlns:asvg="http://schemas.microsoft.com/office/drawing/2016/SVG/main" r:embed="rId6"/>
              </a:ext>
            </a:extLst>
          </a:blip>
          <a:stretch>
            <a:fillRect/>
          </a:stretch>
        </p:blipFill>
        <p:spPr>
          <a:xfrm>
            <a:off x="9113807" y="5039342"/>
            <a:ext cx="426575" cy="365778"/>
          </a:xfrm>
          <a:prstGeom prst="rect">
            <a:avLst/>
          </a:prstGeom>
        </p:spPr>
      </p:pic>
      <p:pic>
        <p:nvPicPr>
          <p:cNvPr id="22" name="Graphic 21" descr="Laptop">
            <a:extLst>
              <a:ext uri="{FF2B5EF4-FFF2-40B4-BE49-F238E27FC236}">
                <a16:creationId xmlns:a16="http://schemas.microsoft.com/office/drawing/2014/main" id="{D8EA3BD9-CAD3-4684-AFE7-2C2E8E3E34FF}"/>
              </a:ext>
            </a:extLst>
          </p:cNvPr>
          <p:cNvPicPr>
            <a:picLocks noChangeAspect="1"/>
          </p:cNvPicPr>
          <p:nvPr/>
        </p:nvPicPr>
        <p:blipFill>
          <a:blip r:embed="rId7">
            <a:extLst>
              <a:ext uri="{96DAC541-7B7A-43D3-8B79-37D633B846F1}">
                <asvg:svgBlip xmlns="" xmlns:asvg="http://schemas.microsoft.com/office/drawing/2016/SVG/main" r:embed="rId8"/>
              </a:ext>
            </a:extLst>
          </a:blip>
          <a:stretch>
            <a:fillRect/>
          </a:stretch>
        </p:blipFill>
        <p:spPr>
          <a:xfrm>
            <a:off x="10762711" y="3204163"/>
            <a:ext cx="443614" cy="443614"/>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991887" y="2539908"/>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vues</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8809007" y="4258416"/>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modèles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605806" y="3384656"/>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428622" y="5100320"/>
            <a:ext cx="567506" cy="246221"/>
          </a:xfrm>
          <a:prstGeom prst="rect">
            <a:avLst/>
          </a:prstGeom>
          <a:noFill/>
        </p:spPr>
        <p:txBody>
          <a:bodyPr wrap="square" rtlCol="0">
            <a:spAutoFit/>
          </a:bodyPr>
          <a:lstStyle/>
          <a:p>
            <a:r>
              <a:rPr lang="fr-FR" sz="1000" b="1" dirty="0"/>
              <a:t>BDD</a:t>
            </a:r>
          </a:p>
        </p:txBody>
      </p:sp>
      <p:sp>
        <p:nvSpPr>
          <p:cNvPr id="28" name="TextBox 27">
            <a:extLst>
              <a:ext uri="{FF2B5EF4-FFF2-40B4-BE49-F238E27FC236}">
                <a16:creationId xmlns:a16="http://schemas.microsoft.com/office/drawing/2014/main" id="{8F46342C-5388-4515-A96A-76047855FFFE}"/>
              </a:ext>
            </a:extLst>
          </p:cNvPr>
          <p:cNvSpPr txBox="1"/>
          <p:nvPr/>
        </p:nvSpPr>
        <p:spPr>
          <a:xfrm>
            <a:off x="10508504" y="3536841"/>
            <a:ext cx="1089352" cy="261610"/>
          </a:xfrm>
          <a:prstGeom prst="rect">
            <a:avLst/>
          </a:prstGeom>
          <a:noFill/>
        </p:spPr>
        <p:txBody>
          <a:bodyPr wrap="square" rtlCol="0">
            <a:spAutoFit/>
          </a:bodyPr>
          <a:lstStyle/>
          <a:p>
            <a:r>
              <a:rPr lang="fr-FR" sz="1050" b="1" dirty="0"/>
              <a:t>Client</a:t>
            </a:r>
            <a:r>
              <a:rPr lang="fr-FR" sz="1100" b="1" dirty="0"/>
              <a:t> web</a:t>
            </a:r>
          </a:p>
        </p:txBody>
      </p:sp>
      <p:sp>
        <p:nvSpPr>
          <p:cNvPr id="29" name="Rectangle: Rounded Corners 28">
            <a:extLst>
              <a:ext uri="{FF2B5EF4-FFF2-40B4-BE49-F238E27FC236}">
                <a16:creationId xmlns:a16="http://schemas.microsoft.com/office/drawing/2014/main" id="{B1646795-46B5-4F25-A7E0-97E97BF47560}"/>
              </a:ext>
            </a:extLst>
          </p:cNvPr>
          <p:cNvSpPr/>
          <p:nvPr/>
        </p:nvSpPr>
        <p:spPr>
          <a:xfrm>
            <a:off x="2519680" y="3878944"/>
            <a:ext cx="1440000" cy="536773"/>
          </a:xfrm>
          <a:prstGeom prst="roundRect">
            <a:avLst/>
          </a:prstGeom>
          <a:solidFill>
            <a:srgbClr val="FFC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monitor.py</a:t>
            </a:r>
          </a:p>
        </p:txBody>
      </p:sp>
      <p:sp>
        <p:nvSpPr>
          <p:cNvPr id="30" name="Rectangle: Rounded Corners 29">
            <a:extLst>
              <a:ext uri="{FF2B5EF4-FFF2-40B4-BE49-F238E27FC236}">
                <a16:creationId xmlns:a16="http://schemas.microsoft.com/office/drawing/2014/main" id="{CA3621E1-34BF-4EC9-9A19-46FE0C617FF2}"/>
              </a:ext>
            </a:extLst>
          </p:cNvPr>
          <p:cNvSpPr/>
          <p:nvPr/>
        </p:nvSpPr>
        <p:spPr>
          <a:xfrm>
            <a:off x="2509520" y="5331824"/>
            <a:ext cx="1440000" cy="536773"/>
          </a:xfrm>
          <a:prstGeom prst="roundRect">
            <a:avLst/>
          </a:prstGeom>
          <a:solidFill>
            <a:srgbClr val="DB521B"/>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models.py</a:t>
            </a:r>
          </a:p>
        </p:txBody>
      </p:sp>
      <p:sp>
        <p:nvSpPr>
          <p:cNvPr id="31" name="Rectangle: Rounded Corners 30">
            <a:extLst>
              <a:ext uri="{FF2B5EF4-FFF2-40B4-BE49-F238E27FC236}">
                <a16:creationId xmlns:a16="http://schemas.microsoft.com/office/drawing/2014/main" id="{7CA58F25-F02A-495A-9DFA-D9E8BB881055}"/>
              </a:ext>
            </a:extLst>
          </p:cNvPr>
          <p:cNvSpPr/>
          <p:nvPr/>
        </p:nvSpPr>
        <p:spPr>
          <a:xfrm>
            <a:off x="4693920" y="3878944"/>
            <a:ext cx="1836000" cy="536773"/>
          </a:xfrm>
          <a:prstGeom prst="roundRect">
            <a:avLst/>
          </a:prstGeom>
          <a:solidFill>
            <a:srgbClr val="FFC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myscheduler.py</a:t>
            </a:r>
          </a:p>
        </p:txBody>
      </p:sp>
      <p:sp>
        <p:nvSpPr>
          <p:cNvPr id="32" name="Rectangle: Rounded Corners 31">
            <a:extLst>
              <a:ext uri="{FF2B5EF4-FFF2-40B4-BE49-F238E27FC236}">
                <a16:creationId xmlns:a16="http://schemas.microsoft.com/office/drawing/2014/main" id="{D6C650BF-EFC8-4F18-AB87-A49FA1850B8C}"/>
              </a:ext>
            </a:extLst>
          </p:cNvPr>
          <p:cNvSpPr/>
          <p:nvPr/>
        </p:nvSpPr>
        <p:spPr>
          <a:xfrm>
            <a:off x="2540000" y="1603104"/>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base.html</a:t>
            </a:r>
          </a:p>
        </p:txBody>
      </p:sp>
      <p:sp>
        <p:nvSpPr>
          <p:cNvPr id="33" name="Rectangle: Rounded Corners 32">
            <a:extLst>
              <a:ext uri="{FF2B5EF4-FFF2-40B4-BE49-F238E27FC236}">
                <a16:creationId xmlns:a16="http://schemas.microsoft.com/office/drawing/2014/main" id="{ADEFE566-0838-4909-9860-2F368441CC1A}"/>
              </a:ext>
            </a:extLst>
          </p:cNvPr>
          <p:cNvSpPr/>
          <p:nvPr/>
        </p:nvSpPr>
        <p:spPr>
          <a:xfrm>
            <a:off x="888525" y="2659744"/>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index.html</a:t>
            </a:r>
          </a:p>
        </p:txBody>
      </p:sp>
      <p:sp>
        <p:nvSpPr>
          <p:cNvPr id="34" name="Rectangle: Rounded Corners 33">
            <a:extLst>
              <a:ext uri="{FF2B5EF4-FFF2-40B4-BE49-F238E27FC236}">
                <a16:creationId xmlns:a16="http://schemas.microsoft.com/office/drawing/2014/main" id="{9ABE7B6E-ADF7-4D9A-A413-063F7CA93F9E}"/>
              </a:ext>
            </a:extLst>
          </p:cNvPr>
          <p:cNvSpPr/>
          <p:nvPr/>
        </p:nvSpPr>
        <p:spPr>
          <a:xfrm>
            <a:off x="2534445" y="2649011"/>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form.html</a:t>
            </a:r>
          </a:p>
        </p:txBody>
      </p:sp>
      <p:sp>
        <p:nvSpPr>
          <p:cNvPr id="35" name="Rectangle: Rounded Corners 34">
            <a:extLst>
              <a:ext uri="{FF2B5EF4-FFF2-40B4-BE49-F238E27FC236}">
                <a16:creationId xmlns:a16="http://schemas.microsoft.com/office/drawing/2014/main" id="{82BE6D2E-8253-400F-B599-EA569842A4EF}"/>
              </a:ext>
            </a:extLst>
          </p:cNvPr>
          <p:cNvSpPr/>
          <p:nvPr/>
        </p:nvSpPr>
        <p:spPr>
          <a:xfrm>
            <a:off x="4185920" y="2639424"/>
            <a:ext cx="1368000" cy="536773"/>
          </a:xfrm>
          <a:prstGeom prst="roundRect">
            <a:avLst/>
          </a:prstGeom>
          <a:solidFill>
            <a:srgbClr val="00B05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fr-FR" dirty="0"/>
              <a:t>result.html</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276080" y="4531360"/>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390490" y="4521200"/>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052847" y="3633397"/>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170866" y="3624541"/>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21A15E67-B8A6-4E39-883E-DEEDC007599F}"/>
              </a:ext>
            </a:extLst>
          </p:cNvPr>
          <p:cNvCxnSpPr>
            <a:cxnSpLocks/>
          </p:cNvCxnSpPr>
          <p:nvPr/>
        </p:nvCxnSpPr>
        <p:spPr>
          <a:xfrm flipH="1">
            <a:off x="9736606" y="3480487"/>
            <a:ext cx="733489"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4DC748A3-E803-4C87-9DBB-AAD20B06F1AF}"/>
              </a:ext>
            </a:extLst>
          </p:cNvPr>
          <p:cNvCxnSpPr/>
          <p:nvPr/>
        </p:nvCxnSpPr>
        <p:spPr>
          <a:xfrm flipV="1">
            <a:off x="9123967" y="2763375"/>
            <a:ext cx="346690" cy="54660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C3E6D469-2301-410E-9D8B-F8BD18FC0452}"/>
              </a:ext>
            </a:extLst>
          </p:cNvPr>
          <p:cNvCxnSpPr/>
          <p:nvPr/>
        </p:nvCxnSpPr>
        <p:spPr>
          <a:xfrm>
            <a:off x="9889007" y="2763375"/>
            <a:ext cx="589017" cy="54660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E67E93E0-3B05-419C-8639-5C39BEF3F653}"/>
              </a:ext>
            </a:extLst>
          </p:cNvPr>
          <p:cNvSpPr txBox="1"/>
          <p:nvPr/>
        </p:nvSpPr>
        <p:spPr>
          <a:xfrm>
            <a:off x="10561607" y="2132123"/>
            <a:ext cx="1025091" cy="577081"/>
          </a:xfrm>
          <a:prstGeom prst="rect">
            <a:avLst/>
          </a:prstGeom>
          <a:noFill/>
        </p:spPr>
        <p:txBody>
          <a:bodyPr wrap="square" rtlCol="0">
            <a:spAutoFit/>
          </a:bodyPr>
          <a:lstStyle/>
          <a:p>
            <a:pPr algn="ctr"/>
            <a:r>
              <a:rPr lang="fr-FR" sz="1000" b="1" dirty="0"/>
              <a:t>Ré</a:t>
            </a:r>
            <a:r>
              <a:rPr lang="fr-FR" sz="1050" b="1" dirty="0"/>
              <a:t>seau d’entreprise</a:t>
            </a:r>
          </a:p>
          <a:p>
            <a:endParaRPr lang="fr-FR" sz="1050" dirty="0"/>
          </a:p>
        </p:txBody>
      </p:sp>
      <p:sp>
        <p:nvSpPr>
          <p:cNvPr id="70" name="TextBox 69">
            <a:extLst>
              <a:ext uri="{FF2B5EF4-FFF2-40B4-BE49-F238E27FC236}">
                <a16:creationId xmlns:a16="http://schemas.microsoft.com/office/drawing/2014/main" id="{847F1992-AA9F-4141-B814-BAD18BCF2064}"/>
              </a:ext>
            </a:extLst>
          </p:cNvPr>
          <p:cNvSpPr txBox="1"/>
          <p:nvPr/>
        </p:nvSpPr>
        <p:spPr>
          <a:xfrm>
            <a:off x="8849361" y="2078488"/>
            <a:ext cx="589566" cy="415498"/>
          </a:xfrm>
          <a:prstGeom prst="rect">
            <a:avLst/>
          </a:prstGeom>
          <a:noFill/>
        </p:spPr>
        <p:txBody>
          <a:bodyPr wrap="square" rtlCol="0">
            <a:spAutoFit/>
          </a:bodyPr>
          <a:lstStyle/>
          <a:p>
            <a:r>
              <a:rPr lang="fr-FR" sz="1050" b="1" dirty="0"/>
              <a:t>Cloud</a:t>
            </a:r>
          </a:p>
          <a:p>
            <a:endParaRPr lang="fr-FR" sz="1050" b="1" dirty="0"/>
          </a:p>
        </p:txBody>
      </p:sp>
      <p:sp>
        <p:nvSpPr>
          <p:cNvPr id="72" name="TextBox 71">
            <a:extLst>
              <a:ext uri="{FF2B5EF4-FFF2-40B4-BE49-F238E27FC236}">
                <a16:creationId xmlns:a16="http://schemas.microsoft.com/office/drawing/2014/main" id="{41F5CC93-DBE2-41C6-8F8D-96C5B5C1EF7B}"/>
              </a:ext>
            </a:extLst>
          </p:cNvPr>
          <p:cNvSpPr txBox="1"/>
          <p:nvPr/>
        </p:nvSpPr>
        <p:spPr>
          <a:xfrm>
            <a:off x="7579360" y="2345482"/>
            <a:ext cx="1168400" cy="415498"/>
          </a:xfrm>
          <a:prstGeom prst="rect">
            <a:avLst/>
          </a:prstGeom>
          <a:noFill/>
        </p:spPr>
        <p:txBody>
          <a:bodyPr wrap="square" rtlCol="0">
            <a:spAutoFit/>
          </a:bodyPr>
          <a:lstStyle/>
          <a:p>
            <a:pPr algn="ctr"/>
            <a:r>
              <a:rPr lang="fr-FR" sz="1050" b="1" dirty="0"/>
              <a:t>Applications </a:t>
            </a:r>
            <a:br>
              <a:rPr lang="fr-FR" sz="1050" b="1" dirty="0"/>
            </a:br>
            <a:r>
              <a:rPr lang="fr-FR" sz="1050" b="1" dirty="0"/>
              <a:t>Smart Predict</a:t>
            </a:r>
          </a:p>
        </p:txBody>
      </p:sp>
      <p:cxnSp>
        <p:nvCxnSpPr>
          <p:cNvPr id="74" name="Straight Arrow Connector 73">
            <a:extLst>
              <a:ext uri="{FF2B5EF4-FFF2-40B4-BE49-F238E27FC236}">
                <a16:creationId xmlns:a16="http://schemas.microsoft.com/office/drawing/2014/main" id="{D6E13C81-2A44-4443-A1E8-8DFDB6022E79}"/>
              </a:ext>
            </a:extLst>
          </p:cNvPr>
          <p:cNvCxnSpPr>
            <a:cxnSpLocks/>
          </p:cNvCxnSpPr>
          <p:nvPr/>
        </p:nvCxnSpPr>
        <p:spPr>
          <a:xfrm>
            <a:off x="8260855" y="3157584"/>
            <a:ext cx="283705" cy="25755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37C861EA-7519-4A41-9480-940737C08C30}"/>
              </a:ext>
            </a:extLst>
          </p:cNvPr>
          <p:cNvCxnSpPr>
            <a:cxnSpLocks/>
          </p:cNvCxnSpPr>
          <p:nvPr/>
        </p:nvCxnSpPr>
        <p:spPr>
          <a:xfrm flipH="1" flipV="1">
            <a:off x="8349818" y="3052432"/>
            <a:ext cx="255988" cy="25755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D0FBB963-EA76-4436-9076-D27A2BB5D4D7}"/>
              </a:ext>
            </a:extLst>
          </p:cNvPr>
          <p:cNvCxnSpPr>
            <a:stCxn id="29" idx="2"/>
            <a:endCxn id="30" idx="0"/>
          </p:cNvCxnSpPr>
          <p:nvPr/>
        </p:nvCxnSpPr>
        <p:spPr>
          <a:xfrm flipH="1">
            <a:off x="3229520" y="4415717"/>
            <a:ext cx="10160" cy="916107"/>
          </a:xfrm>
          <a:prstGeom prst="line">
            <a:avLst/>
          </a:prstGeom>
          <a:ln w="19050">
            <a:solidFill>
              <a:srgbClr val="DB521B"/>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0D67840A-0E5C-4170-94BF-05F1814C576F}"/>
              </a:ext>
            </a:extLst>
          </p:cNvPr>
          <p:cNvCxnSpPr>
            <a:stCxn id="30" idx="0"/>
            <a:endCxn id="31" idx="2"/>
          </p:cNvCxnSpPr>
          <p:nvPr/>
        </p:nvCxnSpPr>
        <p:spPr>
          <a:xfrm flipV="1">
            <a:off x="3229520" y="4415717"/>
            <a:ext cx="2382400" cy="916107"/>
          </a:xfrm>
          <a:prstGeom prst="line">
            <a:avLst/>
          </a:prstGeom>
          <a:ln w="19050">
            <a:solidFill>
              <a:srgbClr val="DB521B"/>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C5BADE31-38C7-4622-9779-311F86751A62}"/>
              </a:ext>
            </a:extLst>
          </p:cNvPr>
          <p:cNvCxnSpPr>
            <a:stCxn id="29" idx="3"/>
            <a:endCxn id="31" idx="1"/>
          </p:cNvCxnSpPr>
          <p:nvPr/>
        </p:nvCxnSpPr>
        <p:spPr>
          <a:xfrm>
            <a:off x="3959680" y="4147331"/>
            <a:ext cx="734240" cy="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E5C0EDE2-3B33-4B95-855E-B6B44968FA66}"/>
              </a:ext>
            </a:extLst>
          </p:cNvPr>
          <p:cNvCxnSpPr>
            <a:cxnSpLocks/>
            <a:endCxn id="32" idx="2"/>
          </p:cNvCxnSpPr>
          <p:nvPr/>
        </p:nvCxnSpPr>
        <p:spPr>
          <a:xfrm flipV="1">
            <a:off x="1614604" y="2139877"/>
            <a:ext cx="1609396" cy="51986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C9D9572-AFB5-4658-B820-CD106DBF88DD}"/>
              </a:ext>
            </a:extLst>
          </p:cNvPr>
          <p:cNvCxnSpPr>
            <a:cxnSpLocks/>
            <a:stCxn id="32" idx="2"/>
          </p:cNvCxnSpPr>
          <p:nvPr/>
        </p:nvCxnSpPr>
        <p:spPr>
          <a:xfrm>
            <a:off x="3224000" y="2139877"/>
            <a:ext cx="1641280" cy="499547"/>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077975" y="1074473"/>
            <a:ext cx="1984120" cy="369332"/>
          </a:xfrm>
          <a:prstGeom prst="rect">
            <a:avLst/>
          </a:prstGeom>
          <a:noFill/>
        </p:spPr>
        <p:txBody>
          <a:bodyPr wrap="square" rtlCol="0">
            <a:spAutoFit/>
          </a:bodyPr>
          <a:lstStyle/>
          <a:p>
            <a:r>
              <a:rPr lang="fr-FR" i="1" dirty="0">
                <a:solidFill>
                  <a:schemeClr val="tx2">
                    <a:lumMod val="60000"/>
                    <a:lumOff val="40000"/>
                  </a:schemeClr>
                </a:solidFill>
              </a:rPr>
              <a:t>« Schéma MVC »</a:t>
            </a:r>
          </a:p>
        </p:txBody>
      </p:sp>
      <p:cxnSp>
        <p:nvCxnSpPr>
          <p:cNvPr id="14" name="Straight Connector 13">
            <a:extLst>
              <a:ext uri="{FF2B5EF4-FFF2-40B4-BE49-F238E27FC236}">
                <a16:creationId xmlns:a16="http://schemas.microsoft.com/office/drawing/2014/main" id="{89BE551A-851B-4B2D-813D-CA9AF487CD22}"/>
              </a:ext>
            </a:extLst>
          </p:cNvPr>
          <p:cNvCxnSpPr>
            <a:stCxn id="32" idx="2"/>
            <a:endCxn id="34" idx="0"/>
          </p:cNvCxnSpPr>
          <p:nvPr/>
        </p:nvCxnSpPr>
        <p:spPr>
          <a:xfrm flipH="1">
            <a:off x="3218445" y="2139877"/>
            <a:ext cx="5555" cy="509134"/>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8CAF4BB-99CC-4528-BF76-A366BE6D95CC}"/>
              </a:ext>
            </a:extLst>
          </p:cNvPr>
          <p:cNvCxnSpPr>
            <a:cxnSpLocks/>
            <a:stCxn id="34" idx="2"/>
          </p:cNvCxnSpPr>
          <p:nvPr/>
        </p:nvCxnSpPr>
        <p:spPr>
          <a:xfrm>
            <a:off x="3218445" y="3185784"/>
            <a:ext cx="0" cy="69316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9B84949-2E30-474D-BF6F-83DF6CEE2500}"/>
              </a:ext>
            </a:extLst>
          </p:cNvPr>
          <p:cNvCxnSpPr>
            <a:stCxn id="33" idx="2"/>
            <a:endCxn id="29" idx="0"/>
          </p:cNvCxnSpPr>
          <p:nvPr/>
        </p:nvCxnSpPr>
        <p:spPr>
          <a:xfrm>
            <a:off x="1572525" y="3196517"/>
            <a:ext cx="1667155" cy="682427"/>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FBC9DA9-0D9D-4174-A730-615A8FB6E34C}"/>
              </a:ext>
            </a:extLst>
          </p:cNvPr>
          <p:cNvCxnSpPr>
            <a:endCxn id="29" idx="0"/>
          </p:cNvCxnSpPr>
          <p:nvPr/>
        </p:nvCxnSpPr>
        <p:spPr>
          <a:xfrm flipH="1">
            <a:off x="3239680" y="3185784"/>
            <a:ext cx="1663300" cy="69316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4B4D787-12B7-43E2-B14C-F3027937EB2D}"/>
              </a:ext>
            </a:extLst>
          </p:cNvPr>
          <p:cNvSpPr>
            <a:spLocks noGrp="1"/>
          </p:cNvSpPr>
          <p:nvPr>
            <p:ph type="title"/>
          </p:nvPr>
        </p:nvSpPr>
        <p:spPr>
          <a:xfrm>
            <a:off x="1143000" y="609600"/>
            <a:ext cx="9875520" cy="263783"/>
          </a:xfrm>
        </p:spPr>
        <p:txBody>
          <a:bodyPr>
            <a:normAutofit fontScale="90000"/>
          </a:bodyPr>
          <a:lstStyle/>
          <a:p>
            <a:r>
              <a:rPr lang="fr-FR" dirty="0"/>
              <a:t>Structure</a:t>
            </a:r>
            <a:endParaRPr lang="fr-FR" sz="2700" dirty="0"/>
          </a:p>
        </p:txBody>
      </p:sp>
      <p:pic>
        <p:nvPicPr>
          <p:cNvPr id="12" name="Content Placeholder 8">
            <a:extLst>
              <a:ext uri="{FF2B5EF4-FFF2-40B4-BE49-F238E27FC236}">
                <a16:creationId xmlns:a16="http://schemas.microsoft.com/office/drawing/2014/main" id="{CBB8D8C4-4E19-49A0-9D86-62F5F1481EE8}"/>
              </a:ext>
            </a:extLst>
          </p:cNvPr>
          <p:cNvPicPr>
            <a:picLocks noGrp="1" noChangeAspect="1"/>
          </p:cNvPicPr>
          <p:nvPr>
            <p:ph sz="half" idx="2"/>
          </p:nvPr>
        </p:nvPicPr>
        <p:blipFill>
          <a:blip r:embed="rId2"/>
          <a:stretch>
            <a:fillRect/>
          </a:stretch>
        </p:blipFill>
        <p:spPr>
          <a:xfrm>
            <a:off x="4011716" y="925947"/>
            <a:ext cx="2770525" cy="5436000"/>
          </a:xfrm>
        </p:spPr>
      </p:pic>
      <p:sp>
        <p:nvSpPr>
          <p:cNvPr id="4" name="Slide Number Placeholder 3">
            <a:extLst>
              <a:ext uri="{FF2B5EF4-FFF2-40B4-BE49-F238E27FC236}">
                <a16:creationId xmlns:a16="http://schemas.microsoft.com/office/drawing/2014/main" id="{16BF2D82-BD2B-45B7-B233-A0026465677E}"/>
              </a:ext>
            </a:extLst>
          </p:cNvPr>
          <p:cNvSpPr>
            <a:spLocks noGrp="1"/>
          </p:cNvSpPr>
          <p:nvPr>
            <p:ph type="sldNum" sz="quarter" idx="12"/>
          </p:nvPr>
        </p:nvSpPr>
        <p:spPr/>
        <p:txBody>
          <a:bodyPr/>
          <a:lstStyle/>
          <a:p>
            <a:fld id="{C52ED629-2BC0-4D25-969E-9ED78B40D7C7}" type="slidenum">
              <a:rPr lang="fr-FR" smtClean="0"/>
              <a:t>17</a:t>
            </a:fld>
            <a:endParaRPr lang="fr-FR"/>
          </a:p>
        </p:txBody>
      </p:sp>
      <p:sp>
        <p:nvSpPr>
          <p:cNvPr id="2" name="Rectangle 1">
            <a:extLst>
              <a:ext uri="{FF2B5EF4-FFF2-40B4-BE49-F238E27FC236}">
                <a16:creationId xmlns:a16="http://schemas.microsoft.com/office/drawing/2014/main" id="{C5A2D1F9-AEA3-4805-A9A5-7DF20DAA942F}"/>
              </a:ext>
            </a:extLst>
          </p:cNvPr>
          <p:cNvSpPr/>
          <p:nvPr/>
        </p:nvSpPr>
        <p:spPr>
          <a:xfrm>
            <a:off x="7136737" y="928204"/>
            <a:ext cx="3778599" cy="461665"/>
          </a:xfrm>
          <a:prstGeom prst="rect">
            <a:avLst/>
          </a:prstGeom>
        </p:spPr>
        <p:txBody>
          <a:bodyPr wrap="none">
            <a:spAutoFit/>
          </a:bodyPr>
          <a:lstStyle/>
          <a:p>
            <a:r>
              <a:rPr lang="fr-FR" sz="1200" i="1" dirty="0">
                <a:solidFill>
                  <a:srgbClr val="4A66AC"/>
                </a:solidFill>
              </a:rPr>
              <a:t>lance l’application Flask et la tâche de fonds </a:t>
            </a:r>
            <a:br>
              <a:rPr lang="fr-FR" sz="1200" i="1" dirty="0">
                <a:solidFill>
                  <a:srgbClr val="4A66AC"/>
                </a:solidFill>
              </a:rPr>
            </a:br>
            <a:r>
              <a:rPr lang="fr-FR" sz="1200" i="1" dirty="0">
                <a:solidFill>
                  <a:srgbClr val="4A66AC"/>
                </a:solidFill>
              </a:rPr>
              <a:t>background() dans myscheduler.py en même temps</a:t>
            </a:r>
            <a:endParaRPr lang="fr-FR" sz="1200" dirty="0">
              <a:solidFill>
                <a:srgbClr val="4A66AC"/>
              </a:solidFill>
            </a:endParaRPr>
          </a:p>
        </p:txBody>
      </p:sp>
      <p:sp>
        <p:nvSpPr>
          <p:cNvPr id="3" name="Rectangle 2">
            <a:extLst>
              <a:ext uri="{FF2B5EF4-FFF2-40B4-BE49-F238E27FC236}">
                <a16:creationId xmlns:a16="http://schemas.microsoft.com/office/drawing/2014/main" id="{7951BA41-EA5A-486C-8ECD-78C8030A1AB4}"/>
              </a:ext>
            </a:extLst>
          </p:cNvPr>
          <p:cNvSpPr/>
          <p:nvPr/>
        </p:nvSpPr>
        <p:spPr>
          <a:xfrm>
            <a:off x="7117143" y="1475347"/>
            <a:ext cx="2781531" cy="276999"/>
          </a:xfrm>
          <a:prstGeom prst="rect">
            <a:avLst/>
          </a:prstGeom>
        </p:spPr>
        <p:txBody>
          <a:bodyPr wrap="none">
            <a:spAutoFit/>
          </a:bodyPr>
          <a:lstStyle/>
          <a:p>
            <a:r>
              <a:rPr lang="fr-FR" sz="1200" i="1" dirty="0">
                <a:solidFill>
                  <a:srgbClr val="4A66AC"/>
                </a:solidFill>
              </a:rPr>
              <a:t>informations de </a:t>
            </a:r>
            <a:r>
              <a:rPr lang="fr-FR" sz="1200" i="1" dirty="0" err="1">
                <a:solidFill>
                  <a:srgbClr val="4A66AC"/>
                </a:solidFill>
              </a:rPr>
              <a:t>connection</a:t>
            </a:r>
            <a:r>
              <a:rPr lang="fr-FR" sz="1200" i="1" dirty="0">
                <a:solidFill>
                  <a:srgbClr val="4A66AC"/>
                </a:solidFill>
              </a:rPr>
              <a:t> à la BDD</a:t>
            </a:r>
          </a:p>
        </p:txBody>
      </p:sp>
      <p:sp>
        <p:nvSpPr>
          <p:cNvPr id="8" name="Rectangle 7">
            <a:extLst>
              <a:ext uri="{FF2B5EF4-FFF2-40B4-BE49-F238E27FC236}">
                <a16:creationId xmlns:a16="http://schemas.microsoft.com/office/drawing/2014/main" id="{6E162412-E711-46D2-B23C-9747E1FBB2DA}"/>
              </a:ext>
            </a:extLst>
          </p:cNvPr>
          <p:cNvSpPr/>
          <p:nvPr/>
        </p:nvSpPr>
        <p:spPr>
          <a:xfrm>
            <a:off x="7124700" y="1815314"/>
            <a:ext cx="4562475" cy="276999"/>
          </a:xfrm>
          <a:prstGeom prst="rect">
            <a:avLst/>
          </a:prstGeom>
        </p:spPr>
        <p:txBody>
          <a:bodyPr wrap="square">
            <a:spAutoFit/>
          </a:bodyPr>
          <a:lstStyle/>
          <a:p>
            <a:r>
              <a:rPr lang="fr-FR" sz="1200" i="1" dirty="0">
                <a:solidFill>
                  <a:srgbClr val="4A66AC"/>
                </a:solidFill>
              </a:rPr>
              <a:t>crée notamment l’URI pour se connecter à une BDD PostgreSQL</a:t>
            </a:r>
          </a:p>
        </p:txBody>
      </p:sp>
      <p:sp>
        <p:nvSpPr>
          <p:cNvPr id="9" name="Rectangle 8">
            <a:extLst>
              <a:ext uri="{FF2B5EF4-FFF2-40B4-BE49-F238E27FC236}">
                <a16:creationId xmlns:a16="http://schemas.microsoft.com/office/drawing/2014/main" id="{DE02CB92-0E01-4E58-99B3-5AC53C0A87C1}"/>
              </a:ext>
            </a:extLst>
          </p:cNvPr>
          <p:cNvSpPr/>
          <p:nvPr/>
        </p:nvSpPr>
        <p:spPr>
          <a:xfrm>
            <a:off x="7044173" y="2253734"/>
            <a:ext cx="3287760" cy="276999"/>
          </a:xfrm>
          <a:prstGeom prst="rect">
            <a:avLst/>
          </a:prstGeom>
        </p:spPr>
        <p:txBody>
          <a:bodyPr wrap="none">
            <a:spAutoFit/>
          </a:bodyPr>
          <a:lstStyle/>
          <a:p>
            <a:pPr marL="45720" indent="0">
              <a:buNone/>
            </a:pPr>
            <a:r>
              <a:rPr lang="fr-FR" sz="1200" dirty="0">
                <a:solidFill>
                  <a:srgbClr val="4A66AC"/>
                </a:solidFill>
              </a:rPr>
              <a:t>Les méthodes plus la classe utilitaire </a:t>
            </a:r>
            <a:r>
              <a:rPr lang="fr-FR" sz="1200" dirty="0" err="1">
                <a:solidFill>
                  <a:srgbClr val="4A66AC"/>
                </a:solidFill>
              </a:rPr>
              <a:t>Globals</a:t>
            </a:r>
            <a:endParaRPr lang="fr-FR" sz="1200" dirty="0">
              <a:solidFill>
                <a:srgbClr val="4A66AC"/>
              </a:solidFill>
            </a:endParaRPr>
          </a:p>
        </p:txBody>
      </p:sp>
      <p:sp>
        <p:nvSpPr>
          <p:cNvPr id="13" name="Rectangle 12">
            <a:extLst>
              <a:ext uri="{FF2B5EF4-FFF2-40B4-BE49-F238E27FC236}">
                <a16:creationId xmlns:a16="http://schemas.microsoft.com/office/drawing/2014/main" id="{C7A2EAE3-E515-44CA-B23C-B23BC0DC8AA3}"/>
              </a:ext>
            </a:extLst>
          </p:cNvPr>
          <p:cNvSpPr/>
          <p:nvPr/>
        </p:nvSpPr>
        <p:spPr>
          <a:xfrm>
            <a:off x="7051030" y="2510909"/>
            <a:ext cx="2975173" cy="461665"/>
          </a:xfrm>
          <a:prstGeom prst="rect">
            <a:avLst/>
          </a:prstGeom>
        </p:spPr>
        <p:txBody>
          <a:bodyPr wrap="none">
            <a:spAutoFit/>
          </a:bodyPr>
          <a:lstStyle/>
          <a:p>
            <a:pPr marL="45720" indent="0">
              <a:buNone/>
            </a:pPr>
            <a:r>
              <a:rPr lang="fr-FR" sz="1200" dirty="0">
                <a:solidFill>
                  <a:srgbClr val="4A66AC"/>
                </a:solidFill>
              </a:rPr>
              <a:t>un script pour déterminer une note pour</a:t>
            </a:r>
            <a:br>
              <a:rPr lang="fr-FR" sz="1200" dirty="0">
                <a:solidFill>
                  <a:srgbClr val="4A66AC"/>
                </a:solidFill>
              </a:rPr>
            </a:br>
            <a:r>
              <a:rPr lang="fr-FR" sz="1200" dirty="0">
                <a:solidFill>
                  <a:srgbClr val="4A66AC"/>
                </a:solidFill>
              </a:rPr>
              <a:t> la qualité du code avec le paquet Pylint</a:t>
            </a:r>
          </a:p>
        </p:txBody>
      </p:sp>
      <p:sp>
        <p:nvSpPr>
          <p:cNvPr id="14" name="Rectangle 13">
            <a:extLst>
              <a:ext uri="{FF2B5EF4-FFF2-40B4-BE49-F238E27FC236}">
                <a16:creationId xmlns:a16="http://schemas.microsoft.com/office/drawing/2014/main" id="{EB50EA85-07C8-4BB5-8252-B3A10DC9BAF9}"/>
              </a:ext>
            </a:extLst>
          </p:cNvPr>
          <p:cNvSpPr/>
          <p:nvPr/>
        </p:nvSpPr>
        <p:spPr>
          <a:xfrm>
            <a:off x="504825" y="1680001"/>
            <a:ext cx="3186847" cy="1015663"/>
          </a:xfrm>
          <a:prstGeom prst="rect">
            <a:avLst/>
          </a:prstGeom>
        </p:spPr>
        <p:txBody>
          <a:bodyPr wrap="square">
            <a:spAutoFit/>
          </a:bodyPr>
          <a:lstStyle/>
          <a:p>
            <a:pPr algn="just"/>
            <a:r>
              <a:rPr lang="fr-FR" sz="1200" dirty="0">
                <a:solidFill>
                  <a:srgbClr val="4A66AC"/>
                </a:solidFill>
              </a:rPr>
              <a:t>contiennent les librairies et leurs extensions </a:t>
            </a:r>
            <a:br>
              <a:rPr lang="fr-FR" sz="1200" dirty="0">
                <a:solidFill>
                  <a:srgbClr val="4A66AC"/>
                </a:solidFill>
              </a:rPr>
            </a:br>
            <a:r>
              <a:rPr lang="fr-FR" sz="1200" dirty="0">
                <a:solidFill>
                  <a:srgbClr val="4A66AC"/>
                </a:solidFill>
              </a:rPr>
              <a:t>nécessaires pour le fonctionnement de  l’application, à installer via le gestionnaire des paquets python « pip » pour chaque nouvel environnement</a:t>
            </a:r>
          </a:p>
        </p:txBody>
      </p:sp>
      <p:sp>
        <p:nvSpPr>
          <p:cNvPr id="15" name="Rectangle 14">
            <a:extLst>
              <a:ext uri="{FF2B5EF4-FFF2-40B4-BE49-F238E27FC236}">
                <a16:creationId xmlns:a16="http://schemas.microsoft.com/office/drawing/2014/main" id="{EB4B5049-09F3-4DCD-889A-08A010EFCF0E}"/>
              </a:ext>
            </a:extLst>
          </p:cNvPr>
          <p:cNvSpPr/>
          <p:nvPr/>
        </p:nvSpPr>
        <p:spPr>
          <a:xfrm>
            <a:off x="7102285" y="3074439"/>
            <a:ext cx="1394934" cy="276999"/>
          </a:xfrm>
          <a:prstGeom prst="rect">
            <a:avLst/>
          </a:prstGeom>
        </p:spPr>
        <p:txBody>
          <a:bodyPr wrap="none">
            <a:spAutoFit/>
          </a:bodyPr>
          <a:lstStyle/>
          <a:p>
            <a:r>
              <a:rPr lang="fr-FR" sz="1200" dirty="0">
                <a:solidFill>
                  <a:srgbClr val="4A66AC"/>
                </a:solidFill>
              </a:rPr>
              <a:t>les tests unitaires</a:t>
            </a:r>
          </a:p>
        </p:txBody>
      </p:sp>
      <p:sp>
        <p:nvSpPr>
          <p:cNvPr id="16" name="Rectangle 15">
            <a:extLst>
              <a:ext uri="{FF2B5EF4-FFF2-40B4-BE49-F238E27FC236}">
                <a16:creationId xmlns:a16="http://schemas.microsoft.com/office/drawing/2014/main" id="{73FF6CC4-C62B-4A2E-8A22-3D86FDAED9E2}"/>
              </a:ext>
            </a:extLst>
          </p:cNvPr>
          <p:cNvSpPr/>
          <p:nvPr/>
        </p:nvSpPr>
        <p:spPr>
          <a:xfrm>
            <a:off x="504827" y="2967335"/>
            <a:ext cx="2952748" cy="830997"/>
          </a:xfrm>
          <a:prstGeom prst="rect">
            <a:avLst/>
          </a:prstGeom>
        </p:spPr>
        <p:txBody>
          <a:bodyPr wrap="square">
            <a:spAutoFit/>
          </a:bodyPr>
          <a:lstStyle/>
          <a:p>
            <a:pPr algn="just"/>
            <a:r>
              <a:rPr lang="fr-FR" sz="1200" dirty="0">
                <a:solidFill>
                  <a:srgbClr val="4A66AC"/>
                </a:solidFill>
              </a:rPr>
              <a:t>module vide mais nécessaire pour que </a:t>
            </a:r>
            <a:br>
              <a:rPr lang="fr-FR" sz="1200" dirty="0">
                <a:solidFill>
                  <a:srgbClr val="4A66AC"/>
                </a:solidFill>
              </a:rPr>
            </a:br>
            <a:r>
              <a:rPr lang="fr-FR" sz="1200" dirty="0">
                <a:solidFill>
                  <a:srgbClr val="4A66AC"/>
                </a:solidFill>
              </a:rPr>
              <a:t>la librairie « </a:t>
            </a:r>
            <a:r>
              <a:rPr lang="fr-FR" sz="1200" dirty="0" err="1">
                <a:solidFill>
                  <a:srgbClr val="4A66AC"/>
                </a:solidFill>
              </a:rPr>
              <a:t>unittest</a:t>
            </a:r>
            <a:r>
              <a:rPr lang="fr-FR" sz="1200" dirty="0">
                <a:solidFill>
                  <a:srgbClr val="4A66AC"/>
                </a:solidFill>
              </a:rPr>
              <a:t> »  reconnaisse le répertoire monitor comme un package Python et lance les tests unitaires</a:t>
            </a:r>
          </a:p>
        </p:txBody>
      </p:sp>
      <p:sp>
        <p:nvSpPr>
          <p:cNvPr id="17" name="Rectangle 16">
            <a:extLst>
              <a:ext uri="{FF2B5EF4-FFF2-40B4-BE49-F238E27FC236}">
                <a16:creationId xmlns:a16="http://schemas.microsoft.com/office/drawing/2014/main" id="{6145869A-A185-45A3-A932-76B5F3E782DC}"/>
              </a:ext>
            </a:extLst>
          </p:cNvPr>
          <p:cNvSpPr/>
          <p:nvPr/>
        </p:nvSpPr>
        <p:spPr>
          <a:xfrm>
            <a:off x="466725" y="4182160"/>
            <a:ext cx="3111609" cy="646331"/>
          </a:xfrm>
          <a:prstGeom prst="rect">
            <a:avLst/>
          </a:prstGeom>
        </p:spPr>
        <p:txBody>
          <a:bodyPr wrap="square">
            <a:spAutoFit/>
          </a:bodyPr>
          <a:lstStyle/>
          <a:p>
            <a:pPr marL="45720" indent="0" algn="just">
              <a:buNone/>
            </a:pPr>
            <a:r>
              <a:rPr lang="fr-FR" sz="1200" dirty="0">
                <a:solidFill>
                  <a:srgbClr val="4A66AC"/>
                </a:solidFill>
              </a:rPr>
              <a:t>les scripts, les versions et les paramètres</a:t>
            </a:r>
            <a:br>
              <a:rPr lang="fr-FR" sz="1200" dirty="0">
                <a:solidFill>
                  <a:srgbClr val="4A66AC"/>
                </a:solidFill>
              </a:rPr>
            </a:br>
            <a:r>
              <a:rPr lang="fr-FR" sz="1200" dirty="0">
                <a:solidFill>
                  <a:srgbClr val="4A66AC"/>
                </a:solidFill>
              </a:rPr>
              <a:t> d’environnement des migrations de la BDD effectuées</a:t>
            </a:r>
          </a:p>
        </p:txBody>
      </p:sp>
      <p:sp>
        <p:nvSpPr>
          <p:cNvPr id="18" name="Rectangle 17">
            <a:extLst>
              <a:ext uri="{FF2B5EF4-FFF2-40B4-BE49-F238E27FC236}">
                <a16:creationId xmlns:a16="http://schemas.microsoft.com/office/drawing/2014/main" id="{DB31F5B5-FE7B-4E47-BA38-DDE548580CED}"/>
              </a:ext>
            </a:extLst>
          </p:cNvPr>
          <p:cNvSpPr/>
          <p:nvPr/>
        </p:nvSpPr>
        <p:spPr>
          <a:xfrm>
            <a:off x="7065936" y="4882634"/>
            <a:ext cx="3226845" cy="276999"/>
          </a:xfrm>
          <a:prstGeom prst="rect">
            <a:avLst/>
          </a:prstGeom>
        </p:spPr>
        <p:txBody>
          <a:bodyPr wrap="none">
            <a:spAutoFit/>
          </a:bodyPr>
          <a:lstStyle/>
          <a:p>
            <a:pPr marL="45720" indent="0">
              <a:buNone/>
            </a:pPr>
            <a:r>
              <a:rPr lang="fr-FR" sz="1200" dirty="0">
                <a:solidFill>
                  <a:srgbClr val="4A66AC"/>
                </a:solidFill>
              </a:rPr>
              <a:t>feuille de style en complément de Bootstrap</a:t>
            </a:r>
          </a:p>
        </p:txBody>
      </p:sp>
      <p:cxnSp>
        <p:nvCxnSpPr>
          <p:cNvPr id="27" name="Straight Arrow Connector 26">
            <a:extLst>
              <a:ext uri="{FF2B5EF4-FFF2-40B4-BE49-F238E27FC236}">
                <a16:creationId xmlns:a16="http://schemas.microsoft.com/office/drawing/2014/main" id="{281112F4-A98E-4E7C-8F39-BE9EF50E29E8}"/>
              </a:ext>
            </a:extLst>
          </p:cNvPr>
          <p:cNvCxnSpPr>
            <a:cxnSpLocks/>
            <a:endCxn id="8" idx="1"/>
          </p:cNvCxnSpPr>
          <p:nvPr/>
        </p:nvCxnSpPr>
        <p:spPr>
          <a:xfrm>
            <a:off x="5699051" y="1752346"/>
            <a:ext cx="1425649" cy="20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829DF1F-36E2-4CC8-B7EE-6FA1AA2E607B}"/>
              </a:ext>
            </a:extLst>
          </p:cNvPr>
          <p:cNvCxnSpPr>
            <a:endCxn id="9" idx="1"/>
          </p:cNvCxnSpPr>
          <p:nvPr/>
        </p:nvCxnSpPr>
        <p:spPr>
          <a:xfrm>
            <a:off x="5581650" y="2138750"/>
            <a:ext cx="1462523" cy="2534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985169-89B5-4321-8F77-2913A29BAB54}"/>
              </a:ext>
            </a:extLst>
          </p:cNvPr>
          <p:cNvCxnSpPr>
            <a:cxnSpLocks/>
          </p:cNvCxnSpPr>
          <p:nvPr/>
        </p:nvCxnSpPr>
        <p:spPr>
          <a:xfrm>
            <a:off x="5314276" y="2300348"/>
            <a:ext cx="1819457" cy="3585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FEF44860-6AB8-4258-87C1-FA4AF2E83E42}"/>
              </a:ext>
            </a:extLst>
          </p:cNvPr>
          <p:cNvCxnSpPr>
            <a:cxnSpLocks/>
            <a:endCxn id="15" idx="1"/>
          </p:cNvCxnSpPr>
          <p:nvPr/>
        </p:nvCxnSpPr>
        <p:spPr>
          <a:xfrm>
            <a:off x="6096000" y="3182820"/>
            <a:ext cx="1006285" cy="301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4A355EC-9D13-4B5A-99A1-9AD499070AF3}"/>
              </a:ext>
            </a:extLst>
          </p:cNvPr>
          <p:cNvCxnSpPr>
            <a:cxnSpLocks/>
            <a:endCxn id="18" idx="1"/>
          </p:cNvCxnSpPr>
          <p:nvPr/>
        </p:nvCxnSpPr>
        <p:spPr>
          <a:xfrm flipV="1">
            <a:off x="5924550" y="5021134"/>
            <a:ext cx="1141386" cy="1074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CD173117-6C8C-443F-B2C3-98261DC66104}"/>
              </a:ext>
            </a:extLst>
          </p:cNvPr>
          <p:cNvCxnSpPr>
            <a:cxnSpLocks/>
          </p:cNvCxnSpPr>
          <p:nvPr/>
        </p:nvCxnSpPr>
        <p:spPr>
          <a:xfrm flipH="1">
            <a:off x="3691672" y="1928426"/>
            <a:ext cx="627370" cy="109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E24D838-0CDB-468B-AFC8-CAFF268870E1}"/>
              </a:ext>
            </a:extLst>
          </p:cNvPr>
          <p:cNvCxnSpPr>
            <a:cxnSpLocks/>
          </p:cNvCxnSpPr>
          <p:nvPr/>
        </p:nvCxnSpPr>
        <p:spPr>
          <a:xfrm flipH="1" flipV="1">
            <a:off x="3464432" y="2530733"/>
            <a:ext cx="854610" cy="436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D6164692-8DD6-47E6-AF65-3B38AE7136FC}"/>
              </a:ext>
            </a:extLst>
          </p:cNvPr>
          <p:cNvCxnSpPr>
            <a:cxnSpLocks/>
          </p:cNvCxnSpPr>
          <p:nvPr/>
        </p:nvCxnSpPr>
        <p:spPr>
          <a:xfrm flipH="1">
            <a:off x="3590925" y="3335209"/>
            <a:ext cx="7281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65B12921-E9A4-42F0-B8BF-7BC269A3D314}"/>
              </a:ext>
            </a:extLst>
          </p:cNvPr>
          <p:cNvCxnSpPr>
            <a:cxnSpLocks/>
          </p:cNvCxnSpPr>
          <p:nvPr/>
        </p:nvCxnSpPr>
        <p:spPr>
          <a:xfrm flipH="1">
            <a:off x="3338124" y="3708405"/>
            <a:ext cx="941777" cy="4289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EB03F2C4-4CAD-410B-84A2-ADADBEE1CDF1}"/>
              </a:ext>
            </a:extLst>
          </p:cNvPr>
          <p:cNvCxnSpPr>
            <a:cxnSpLocks/>
          </p:cNvCxnSpPr>
          <p:nvPr/>
        </p:nvCxnSpPr>
        <p:spPr>
          <a:xfrm>
            <a:off x="5621732" y="1554784"/>
            <a:ext cx="1510925" cy="590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306877C8-7052-4FB7-A033-11F26E04529F}"/>
              </a:ext>
            </a:extLst>
          </p:cNvPr>
          <p:cNvCxnSpPr>
            <a:cxnSpLocks/>
          </p:cNvCxnSpPr>
          <p:nvPr/>
        </p:nvCxnSpPr>
        <p:spPr>
          <a:xfrm flipV="1">
            <a:off x="6637511" y="1159038"/>
            <a:ext cx="513614" cy="1656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38917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pic>
        <p:nvPicPr>
          <p:cNvPr id="9" name="Content Placeholder 8">
            <a:extLst>
              <a:ext uri="{FF2B5EF4-FFF2-40B4-BE49-F238E27FC236}">
                <a16:creationId xmlns:a16="http://schemas.microsoft.com/office/drawing/2014/main" id="{8ECD9798-120A-418D-8F34-D7A87771A4F4}"/>
              </a:ext>
            </a:extLst>
          </p:cNvPr>
          <p:cNvPicPr>
            <a:picLocks noGrp="1" noChangeAspect="1"/>
          </p:cNvPicPr>
          <p:nvPr>
            <p:ph idx="1"/>
          </p:nvPr>
        </p:nvPicPr>
        <p:blipFill>
          <a:blip r:embed="rId2"/>
          <a:stretch>
            <a:fillRect/>
          </a:stretch>
        </p:blipFill>
        <p:spPr>
          <a:xfrm>
            <a:off x="1457790" y="1205649"/>
            <a:ext cx="8977737" cy="5040000"/>
          </a:xfrm>
        </p:spPr>
      </p:pic>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5810286" y="3938113"/>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pic>
        <p:nvPicPr>
          <p:cNvPr id="7" name="Content Placeholder 6">
            <a:extLst>
              <a:ext uri="{FF2B5EF4-FFF2-40B4-BE49-F238E27FC236}">
                <a16:creationId xmlns:a16="http://schemas.microsoft.com/office/drawing/2014/main" id="{485B43BF-07D2-47C5-B39E-DC633DD52CC8}"/>
              </a:ext>
            </a:extLst>
          </p:cNvPr>
          <p:cNvPicPr>
            <a:picLocks noGrp="1" noChangeAspect="1"/>
          </p:cNvPicPr>
          <p:nvPr>
            <p:ph idx="1"/>
          </p:nvPr>
        </p:nvPicPr>
        <p:blipFill>
          <a:blip r:embed="rId2"/>
          <a:stretch>
            <a:fillRect/>
          </a:stretch>
        </p:blipFill>
        <p:spPr>
          <a:xfrm>
            <a:off x="8205089" y="2340600"/>
            <a:ext cx="1977549" cy="1656000"/>
          </a:xfrm>
        </p:spPr>
      </p:pic>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1907450" y="1769426"/>
            <a:ext cx="3863967" cy="369332"/>
          </a:xfrm>
          <a:prstGeom prst="rect">
            <a:avLst/>
          </a:prstGeom>
          <a:noFill/>
        </p:spPr>
        <p:txBody>
          <a:bodyPr wrap="square" rtlCol="0">
            <a:spAutoFit/>
          </a:bodyPr>
          <a:lstStyle/>
          <a:p>
            <a:r>
              <a:rPr lang="fr-FR" i="1" dirty="0">
                <a:solidFill>
                  <a:srgbClr val="4A66AC"/>
                </a:solidFill>
              </a:rPr>
              <a:t>Classes Mapping Objet-Relationnel</a:t>
            </a:r>
          </a:p>
        </p:txBody>
      </p:sp>
      <p:sp>
        <p:nvSpPr>
          <p:cNvPr id="14" name="TextBox 13">
            <a:extLst>
              <a:ext uri="{FF2B5EF4-FFF2-40B4-BE49-F238E27FC236}">
                <a16:creationId xmlns:a16="http://schemas.microsoft.com/office/drawing/2014/main" id="{11ADCE39-CB35-4C06-889F-0D7A28EDE3A1}"/>
              </a:ext>
            </a:extLst>
          </p:cNvPr>
          <p:cNvSpPr txBox="1"/>
          <p:nvPr/>
        </p:nvSpPr>
        <p:spPr>
          <a:xfrm>
            <a:off x="7267700" y="1756280"/>
            <a:ext cx="4227614" cy="369332"/>
          </a:xfrm>
          <a:prstGeom prst="rect">
            <a:avLst/>
          </a:prstGeom>
          <a:noFill/>
        </p:spPr>
        <p:txBody>
          <a:bodyPr wrap="square" rtlCol="0">
            <a:spAutoFit/>
          </a:bodyPr>
          <a:lstStyle/>
          <a:p>
            <a:r>
              <a:rPr lang="fr-FR" i="1" dirty="0">
                <a:solidFill>
                  <a:schemeClr val="tx2">
                    <a:lumMod val="60000"/>
                    <a:lumOff val="40000"/>
                  </a:schemeClr>
                </a:solidFill>
              </a:rPr>
              <a:t>Classe statique utilitaire non persistée</a:t>
            </a:r>
          </a:p>
        </p:txBody>
      </p:sp>
      <p:pic>
        <p:nvPicPr>
          <p:cNvPr id="5" name="Picture 4">
            <a:extLst>
              <a:ext uri="{FF2B5EF4-FFF2-40B4-BE49-F238E27FC236}">
                <a16:creationId xmlns:a16="http://schemas.microsoft.com/office/drawing/2014/main" id="{7C78F40B-1821-4590-802F-26BBE9318B1C}"/>
              </a:ext>
            </a:extLst>
          </p:cNvPr>
          <p:cNvPicPr>
            <a:picLocks noChangeAspect="1"/>
          </p:cNvPicPr>
          <p:nvPr/>
        </p:nvPicPr>
        <p:blipFill>
          <a:blip r:embed="rId3"/>
          <a:stretch>
            <a:fillRect/>
          </a:stretch>
        </p:blipFill>
        <p:spPr>
          <a:xfrm>
            <a:off x="1752823" y="2425593"/>
            <a:ext cx="5232857" cy="3600000"/>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7C934-97E0-490F-A04F-9A696566CBCE}"/>
              </a:ext>
            </a:extLst>
          </p:cNvPr>
          <p:cNvSpPr>
            <a:spLocks noGrp="1"/>
          </p:cNvSpPr>
          <p:nvPr>
            <p:ph type="sldNum" sz="quarter" idx="12"/>
          </p:nvPr>
        </p:nvSpPr>
        <p:spPr/>
        <p:txBody>
          <a:bodyPr/>
          <a:lstStyle/>
          <a:p>
            <a:fld id="{C52ED629-2BC0-4D25-969E-9ED78B40D7C7}" type="slidenum">
              <a:rPr lang="fr-FR" smtClean="0"/>
              <a:t>20</a:t>
            </a:fld>
            <a:endParaRPr lang="fr-FR"/>
          </a:p>
        </p:txBody>
      </p:sp>
      <p:pic>
        <p:nvPicPr>
          <p:cNvPr id="18" name="Content Placeholder 17">
            <a:extLst>
              <a:ext uri="{FF2B5EF4-FFF2-40B4-BE49-F238E27FC236}">
                <a16:creationId xmlns:a16="http://schemas.microsoft.com/office/drawing/2014/main" id="{E0E7A415-6D31-4F53-92D1-DED93E534F36}"/>
              </a:ext>
            </a:extLst>
          </p:cNvPr>
          <p:cNvPicPr>
            <a:picLocks noGrp="1" noChangeAspect="1"/>
          </p:cNvPicPr>
          <p:nvPr>
            <p:ph sz="half" idx="4294967295"/>
          </p:nvPr>
        </p:nvPicPr>
        <p:blipFill>
          <a:blip r:embed="rId2"/>
          <a:stretch>
            <a:fillRect/>
          </a:stretch>
        </p:blipFill>
        <p:spPr>
          <a:xfrm>
            <a:off x="0" y="2516188"/>
            <a:ext cx="3686175" cy="2051050"/>
          </a:xfrm>
        </p:spPr>
      </p:pic>
      <p:pic>
        <p:nvPicPr>
          <p:cNvPr id="36" name="Content Placeholder 35">
            <a:extLst>
              <a:ext uri="{FF2B5EF4-FFF2-40B4-BE49-F238E27FC236}">
                <a16:creationId xmlns:a16="http://schemas.microsoft.com/office/drawing/2014/main" id="{28813DFD-F216-455F-80C8-213CC306BCF0}"/>
              </a:ext>
            </a:extLst>
          </p:cNvPr>
          <p:cNvPicPr>
            <a:picLocks noGrp="1" noChangeAspect="1"/>
          </p:cNvPicPr>
          <p:nvPr>
            <p:ph sz="half" idx="4294967295"/>
          </p:nvPr>
        </p:nvPicPr>
        <p:blipFill>
          <a:blip r:embed="rId3"/>
          <a:stretch>
            <a:fillRect/>
          </a:stretch>
        </p:blipFill>
        <p:spPr>
          <a:xfrm>
            <a:off x="7588250" y="1273175"/>
            <a:ext cx="4603750" cy="4537075"/>
          </a:xfrm>
        </p:spPr>
      </p:pic>
      <p:sp>
        <p:nvSpPr>
          <p:cNvPr id="15" name="Rectangle 14">
            <a:extLst>
              <a:ext uri="{FF2B5EF4-FFF2-40B4-BE49-F238E27FC236}">
                <a16:creationId xmlns:a16="http://schemas.microsoft.com/office/drawing/2014/main" id="{967D2BBB-0B04-4C85-B81A-506E056BA635}"/>
              </a:ext>
            </a:extLst>
          </p:cNvPr>
          <p:cNvSpPr/>
          <p:nvPr/>
        </p:nvSpPr>
        <p:spPr>
          <a:xfrm>
            <a:off x="772168" y="800100"/>
            <a:ext cx="4399272"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58AE085C-19BC-4104-A0C0-7FDCDBA96CE7}"/>
              </a:ext>
            </a:extLst>
          </p:cNvPr>
          <p:cNvSpPr/>
          <p:nvPr/>
        </p:nvSpPr>
        <p:spPr>
          <a:xfrm>
            <a:off x="5763260" y="824672"/>
            <a:ext cx="5717539" cy="5423728"/>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Arrow: Right 29">
            <a:extLst>
              <a:ext uri="{FF2B5EF4-FFF2-40B4-BE49-F238E27FC236}">
                <a16:creationId xmlns:a16="http://schemas.microsoft.com/office/drawing/2014/main" id="{80CE0D6C-4B60-4281-9718-C883CE0D2479}"/>
              </a:ext>
            </a:extLst>
          </p:cNvPr>
          <p:cNvSpPr/>
          <p:nvPr/>
        </p:nvSpPr>
        <p:spPr>
          <a:xfrm>
            <a:off x="4687580" y="3541760"/>
            <a:ext cx="1089653" cy="252000"/>
          </a:xfrm>
          <a:prstGeom prst="rightArrow">
            <a:avLst>
              <a:gd name="adj1" fmla="val 5806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TextBox 30">
            <a:extLst>
              <a:ext uri="{FF2B5EF4-FFF2-40B4-BE49-F238E27FC236}">
                <a16:creationId xmlns:a16="http://schemas.microsoft.com/office/drawing/2014/main" id="{BC53E1B6-E13F-413E-8570-7A54A8EE3CD3}"/>
              </a:ext>
            </a:extLst>
          </p:cNvPr>
          <p:cNvSpPr txBox="1"/>
          <p:nvPr/>
        </p:nvSpPr>
        <p:spPr>
          <a:xfrm>
            <a:off x="2068195" y="952501"/>
            <a:ext cx="1940560" cy="276999"/>
          </a:xfrm>
          <a:prstGeom prst="rect">
            <a:avLst/>
          </a:prstGeom>
          <a:noFill/>
        </p:spPr>
        <p:txBody>
          <a:bodyPr wrap="square" rtlCol="0">
            <a:spAutoFit/>
          </a:bodyPr>
          <a:lstStyle/>
          <a:p>
            <a:r>
              <a:rPr lang="fr-FR" sz="1200" i="1" dirty="0">
                <a:solidFill>
                  <a:srgbClr val="4A66AC"/>
                </a:solidFill>
              </a:rPr>
              <a:t>Diagramme de packages</a:t>
            </a:r>
          </a:p>
        </p:txBody>
      </p:sp>
      <p:sp>
        <p:nvSpPr>
          <p:cNvPr id="32" name="TextBox 31">
            <a:extLst>
              <a:ext uri="{FF2B5EF4-FFF2-40B4-BE49-F238E27FC236}">
                <a16:creationId xmlns:a16="http://schemas.microsoft.com/office/drawing/2014/main" id="{D5E26461-1273-4296-8E63-D3267FFD9492}"/>
              </a:ext>
            </a:extLst>
          </p:cNvPr>
          <p:cNvSpPr txBox="1"/>
          <p:nvPr/>
        </p:nvSpPr>
        <p:spPr>
          <a:xfrm>
            <a:off x="6553200" y="958215"/>
            <a:ext cx="4846320" cy="276999"/>
          </a:xfrm>
          <a:prstGeom prst="rect">
            <a:avLst/>
          </a:prstGeom>
          <a:noFill/>
        </p:spPr>
        <p:txBody>
          <a:bodyPr wrap="square" rtlCol="0">
            <a:spAutoFit/>
          </a:bodyPr>
          <a:lstStyle/>
          <a:p>
            <a:r>
              <a:rPr lang="fr-FR" sz="1200" i="1" dirty="0">
                <a:solidFill>
                  <a:srgbClr val="4A66AC"/>
                </a:solidFill>
              </a:rPr>
              <a:t>Diagramme de cas d’utilisations du package « Consultation »</a:t>
            </a:r>
          </a:p>
        </p:txBody>
      </p:sp>
    </p:spTree>
    <p:extLst>
      <p:ext uri="{BB962C8B-B14F-4D97-AF65-F5344CB8AC3E}">
        <p14:creationId xmlns:p14="http://schemas.microsoft.com/office/powerpoint/2010/main" val="15072878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21</a:t>
            </a:fld>
            <a:endParaRPr lang="fr-FR"/>
          </a:p>
        </p:txBody>
      </p:sp>
    </p:spTree>
    <p:extLst>
      <p:ext uri="{BB962C8B-B14F-4D97-AF65-F5344CB8AC3E}">
        <p14:creationId xmlns:p14="http://schemas.microsoft.com/office/powerpoint/2010/main" val="282304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1028699" y="1001583"/>
            <a:ext cx="4048125" cy="1737360"/>
          </a:xfrm>
        </p:spPr>
        <p:txBody>
          <a:bodyPr/>
          <a:lstStyle/>
          <a:p>
            <a:r>
              <a:rPr lang="fr-FR" sz="3200" dirty="0"/>
              <a:t>Les Classes ORM</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1076325" y="2866539"/>
            <a:ext cx="4048124" cy="2428475"/>
          </a:xfrm>
        </p:spPr>
        <p:txBody>
          <a:bodyPr/>
          <a:lstStyle/>
          <a:p>
            <a:r>
              <a:rPr lang="fr-FR" dirty="0"/>
              <a:t>Module models.py</a:t>
            </a:r>
            <a:endParaRPr lang="fr-FR" dirty="0">
              <a:highlight>
                <a:srgbClr val="FFFF00"/>
              </a:highlight>
            </a:endParaRPr>
          </a:p>
          <a:p>
            <a:r>
              <a:rPr lang="fr-FR" dirty="0" err="1"/>
              <a:t>db</a:t>
            </a:r>
            <a:r>
              <a:rPr lang="fr-FR" dirty="0"/>
              <a:t> est une instance de </a:t>
            </a:r>
            <a:r>
              <a:rPr lang="fr-FR" dirty="0" err="1"/>
              <a:t>SQLAlchemy</a:t>
            </a:r>
            <a:r>
              <a:rPr lang="fr-FR" dirty="0"/>
              <a:t> créé dans le module database.py </a:t>
            </a:r>
          </a:p>
          <a:p>
            <a:pPr algn="just"/>
            <a:r>
              <a:rPr lang="fr-FR" dirty="0"/>
              <a:t>Model est la classe base déclarative de </a:t>
            </a:r>
            <a:r>
              <a:rPr lang="fr-FR" dirty="0" err="1"/>
              <a:t>SQLAlchemy</a:t>
            </a:r>
            <a:r>
              <a:rPr lang="fr-FR" dirty="0"/>
              <a:t> qui contient toutes les classes ORM et leurs relations.</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22</a:t>
            </a:fld>
            <a:endParaRPr lang="fr-FR"/>
          </a:p>
        </p:txBody>
      </p:sp>
      <p:pic>
        <p:nvPicPr>
          <p:cNvPr id="3" name="Picture 2">
            <a:extLst>
              <a:ext uri="{FF2B5EF4-FFF2-40B4-BE49-F238E27FC236}">
                <a16:creationId xmlns:a16="http://schemas.microsoft.com/office/drawing/2014/main" id="{AE1D7377-0B8D-44F6-899E-E9F64866F450}"/>
              </a:ext>
            </a:extLst>
          </p:cNvPr>
          <p:cNvPicPr>
            <a:picLocks noChangeAspect="1"/>
          </p:cNvPicPr>
          <p:nvPr/>
        </p:nvPicPr>
        <p:blipFill>
          <a:blip r:embed="rId3"/>
          <a:stretch>
            <a:fillRect/>
          </a:stretch>
        </p:blipFill>
        <p:spPr>
          <a:xfrm>
            <a:off x="5434243" y="1211455"/>
            <a:ext cx="5919807" cy="4320000"/>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1132367" y="1009339"/>
            <a:ext cx="3931920" cy="1737360"/>
          </a:xfrm>
        </p:spPr>
        <p:txBody>
          <a:bodyPr/>
          <a:lstStyle/>
          <a:p>
            <a:r>
              <a:rPr lang="fr-FR" sz="3200" dirty="0"/>
              <a:t>Migrations</a:t>
            </a:r>
          </a:p>
        </p:txBody>
      </p:sp>
      <p:sp>
        <p:nvSpPr>
          <p:cNvPr id="4" name="Text Placeholder 3">
            <a:extLst>
              <a:ext uri="{FF2B5EF4-FFF2-40B4-BE49-F238E27FC236}">
                <a16:creationId xmlns:a16="http://schemas.microsoft.com/office/drawing/2014/main" id="{346A3C87-2BEC-4F72-BB95-2A1DC946926A}"/>
              </a:ext>
            </a:extLst>
          </p:cNvPr>
          <p:cNvSpPr>
            <a:spLocks noGrp="1"/>
          </p:cNvSpPr>
          <p:nvPr>
            <p:ph type="body" sz="half" idx="2"/>
          </p:nvPr>
        </p:nvSpPr>
        <p:spPr>
          <a:xfrm>
            <a:off x="1143000" y="2866539"/>
            <a:ext cx="2620926" cy="1545973"/>
          </a:xfrm>
        </p:spPr>
        <p:txBody>
          <a:bodyPr>
            <a:normAutofit/>
          </a:bodyPr>
          <a:lstStyle/>
          <a:p>
            <a:r>
              <a:rPr lang="fr-FR" dirty="0"/>
              <a:t>Dossier migrations/</a:t>
            </a:r>
          </a:p>
          <a:p>
            <a:pPr algn="just"/>
            <a:r>
              <a:rPr lang="fr-FR" dirty="0"/>
              <a:t>Exemples de scripts de modifications de la base de données.</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23</a:t>
            </a:fld>
            <a:endParaRPr lang="fr-FR"/>
          </a:p>
        </p:txBody>
      </p:sp>
      <p:sp>
        <p:nvSpPr>
          <p:cNvPr id="10" name="TextBox 9">
            <a:extLst>
              <a:ext uri="{FF2B5EF4-FFF2-40B4-BE49-F238E27FC236}">
                <a16:creationId xmlns:a16="http://schemas.microsoft.com/office/drawing/2014/main" id="{9DAEBB5B-9244-4D7F-9925-F785F4D45A39}"/>
              </a:ext>
            </a:extLst>
          </p:cNvPr>
          <p:cNvSpPr txBox="1"/>
          <p:nvPr/>
        </p:nvSpPr>
        <p:spPr>
          <a:xfrm>
            <a:off x="5231440" y="3714138"/>
            <a:ext cx="3790951" cy="353943"/>
          </a:xfrm>
          <a:prstGeom prst="rect">
            <a:avLst/>
          </a:prstGeom>
          <a:noFill/>
        </p:spPr>
        <p:txBody>
          <a:bodyPr wrap="square" rtlCol="0">
            <a:spAutoFit/>
          </a:bodyPr>
          <a:lstStyle/>
          <a:p>
            <a:r>
              <a:rPr lang="fr-FR" sz="1600" i="1" dirty="0" err="1">
                <a:solidFill>
                  <a:srgbClr val="4A66AC"/>
                </a:solidFill>
              </a:rPr>
              <a:t>Version</a:t>
            </a:r>
            <a:r>
              <a:rPr lang="fr-FR" sz="1700" i="1" dirty="0" err="1">
                <a:solidFill>
                  <a:srgbClr val="4A66AC"/>
                </a:solidFill>
              </a:rPr>
              <a:t>_date</a:t>
            </a:r>
            <a:r>
              <a:rPr lang="fr-FR" sz="1700" i="1" dirty="0">
                <a:solidFill>
                  <a:srgbClr val="4A66AC"/>
                </a:solidFill>
              </a:rPr>
              <a:t> : </a:t>
            </a:r>
            <a:r>
              <a:rPr lang="fr-FR" sz="1700" i="1" dirty="0" err="1">
                <a:solidFill>
                  <a:srgbClr val="4A66AC"/>
                </a:solidFill>
              </a:rPr>
              <a:t>timezone</a:t>
            </a:r>
            <a:r>
              <a:rPr lang="fr-FR" sz="1700" i="1" dirty="0">
                <a:solidFill>
                  <a:srgbClr val="4A66AC"/>
                </a:solidFill>
              </a:rPr>
              <a:t> = </a:t>
            </a:r>
            <a:r>
              <a:rPr lang="fr-FR" sz="1700" i="1" dirty="0" err="1">
                <a:solidFill>
                  <a:srgbClr val="4A66AC"/>
                </a:solidFill>
              </a:rPr>
              <a:t>True</a:t>
            </a:r>
            <a:endParaRPr lang="fr-FR" sz="1700" i="1" dirty="0">
              <a:solidFill>
                <a:srgbClr val="4A66AC"/>
              </a:solidFill>
            </a:endParaRPr>
          </a:p>
        </p:txBody>
      </p:sp>
      <p:sp>
        <p:nvSpPr>
          <p:cNvPr id="11" name="TextBox 10">
            <a:extLst>
              <a:ext uri="{FF2B5EF4-FFF2-40B4-BE49-F238E27FC236}">
                <a16:creationId xmlns:a16="http://schemas.microsoft.com/office/drawing/2014/main" id="{30C83169-C78F-4502-BF62-2136F6131BAE}"/>
              </a:ext>
            </a:extLst>
          </p:cNvPr>
          <p:cNvSpPr txBox="1"/>
          <p:nvPr/>
        </p:nvSpPr>
        <p:spPr>
          <a:xfrm>
            <a:off x="5238751" y="450999"/>
            <a:ext cx="2705100" cy="353943"/>
          </a:xfrm>
          <a:prstGeom prst="rect">
            <a:avLst/>
          </a:prstGeom>
          <a:noFill/>
        </p:spPr>
        <p:txBody>
          <a:bodyPr wrap="square" rtlCol="0">
            <a:spAutoFit/>
          </a:bodyPr>
          <a:lstStyle/>
          <a:p>
            <a:r>
              <a:rPr lang="fr-FR" sz="1700" i="1" dirty="0">
                <a:solidFill>
                  <a:srgbClr val="4A66AC"/>
                </a:solidFill>
              </a:rPr>
              <a:t>Modifications de noms</a:t>
            </a:r>
          </a:p>
        </p:txBody>
      </p:sp>
      <p:pic>
        <p:nvPicPr>
          <p:cNvPr id="6" name="Picture 5">
            <a:extLst>
              <a:ext uri="{FF2B5EF4-FFF2-40B4-BE49-F238E27FC236}">
                <a16:creationId xmlns:a16="http://schemas.microsoft.com/office/drawing/2014/main" id="{CCF061CD-985B-41DE-AB67-4866FE8A6BEE}"/>
              </a:ext>
            </a:extLst>
          </p:cNvPr>
          <p:cNvPicPr>
            <a:picLocks noChangeAspect="1"/>
          </p:cNvPicPr>
          <p:nvPr/>
        </p:nvPicPr>
        <p:blipFill>
          <a:blip r:embed="rId2"/>
          <a:stretch>
            <a:fillRect/>
          </a:stretch>
        </p:blipFill>
        <p:spPr>
          <a:xfrm>
            <a:off x="5611802" y="798636"/>
            <a:ext cx="5588203" cy="2700000"/>
          </a:xfrm>
          <a:prstGeom prst="rect">
            <a:avLst/>
          </a:prstGeom>
        </p:spPr>
      </p:pic>
      <p:pic>
        <p:nvPicPr>
          <p:cNvPr id="12" name="Picture 11">
            <a:extLst>
              <a:ext uri="{FF2B5EF4-FFF2-40B4-BE49-F238E27FC236}">
                <a16:creationId xmlns:a16="http://schemas.microsoft.com/office/drawing/2014/main" id="{AE3E11B6-807A-4B8F-9ABB-EB0B1BDAB7B7}"/>
              </a:ext>
            </a:extLst>
          </p:cNvPr>
          <p:cNvPicPr>
            <a:picLocks noChangeAspect="1"/>
          </p:cNvPicPr>
          <p:nvPr/>
        </p:nvPicPr>
        <p:blipFill>
          <a:blip r:embed="rId3"/>
          <a:stretch>
            <a:fillRect/>
          </a:stretch>
        </p:blipFill>
        <p:spPr>
          <a:xfrm>
            <a:off x="5677790" y="4070806"/>
            <a:ext cx="3328658" cy="2160000"/>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1143000" y="1097280"/>
            <a:ext cx="3588488" cy="1737360"/>
          </a:xfrm>
        </p:spPr>
        <p:txBody>
          <a:bodyPr/>
          <a:lstStyle/>
          <a:p>
            <a:r>
              <a:rPr lang="fr-FR" sz="3200" dirty="0"/>
              <a:t>Paramètres de connexion de la base de données</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1143000" y="3047336"/>
            <a:ext cx="3588488" cy="2003131"/>
          </a:xfrm>
        </p:spPr>
        <p:txBody>
          <a:bodyPr>
            <a:normAutofit lnSpcReduction="10000"/>
          </a:bodyPr>
          <a:lstStyle/>
          <a:p>
            <a:r>
              <a:rPr lang="fr-FR" dirty="0"/>
              <a:t>Module database.py</a:t>
            </a:r>
          </a:p>
          <a:p>
            <a:pPr algn="just"/>
            <a:r>
              <a:rPr lang="fr-FR" dirty="0" err="1"/>
              <a:t>db</a:t>
            </a:r>
            <a:r>
              <a:rPr lang="fr-FR" dirty="0"/>
              <a:t> et </a:t>
            </a:r>
            <a:r>
              <a:rPr lang="fr-FR" dirty="0" err="1"/>
              <a:t>migrate</a:t>
            </a:r>
            <a:r>
              <a:rPr lang="fr-FR" dirty="0"/>
              <a:t> sont des instances de </a:t>
            </a:r>
            <a:r>
              <a:rPr lang="fr-FR" dirty="0" err="1"/>
              <a:t>SQLAlchemy</a:t>
            </a:r>
            <a:r>
              <a:rPr lang="fr-FR" dirty="0"/>
              <a:t> et </a:t>
            </a:r>
            <a:r>
              <a:rPr lang="fr-FR" dirty="0" err="1"/>
              <a:t>Migrate</a:t>
            </a:r>
            <a:r>
              <a:rPr lang="fr-FR" dirty="0"/>
              <a:t> créées de façon globales.</a:t>
            </a:r>
          </a:p>
          <a:p>
            <a:pPr algn="just"/>
            <a:r>
              <a:rPr lang="fr-FR" dirty="0"/>
              <a:t>Création d’un URI utilisé par l’objet application dans le contrôleur monitor.py</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6" name="Picture 5">
            <a:extLst>
              <a:ext uri="{FF2B5EF4-FFF2-40B4-BE49-F238E27FC236}">
                <a16:creationId xmlns:a16="http://schemas.microsoft.com/office/drawing/2014/main" id="{67D89FAA-F028-43C1-B2FE-BA7239AB78C4}"/>
              </a:ext>
            </a:extLst>
          </p:cNvPr>
          <p:cNvPicPr>
            <a:picLocks noChangeAspect="1"/>
          </p:cNvPicPr>
          <p:nvPr/>
        </p:nvPicPr>
        <p:blipFill>
          <a:blip r:embed="rId2"/>
          <a:stretch>
            <a:fillRect/>
          </a:stretch>
        </p:blipFill>
        <p:spPr>
          <a:xfrm>
            <a:off x="6318668" y="898395"/>
            <a:ext cx="3892750" cy="506121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1085850" y="992505"/>
            <a:ext cx="3539314" cy="1737360"/>
          </a:xfrm>
        </p:spPr>
        <p:txBody>
          <a:bodyPr/>
          <a:lstStyle/>
          <a:p>
            <a:r>
              <a:rPr lang="fr-FR" sz="3200" dirty="0"/>
              <a:t>Création de l’objet </a:t>
            </a:r>
            <a:br>
              <a:rPr lang="fr-FR" sz="3200" dirty="0"/>
            </a:br>
            <a:r>
              <a:rPr lang="fr-FR" sz="3200" dirty="0"/>
              <a:t>application Flask</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1143000" y="2834640"/>
            <a:ext cx="3482163" cy="2003174"/>
          </a:xfrm>
        </p:spPr>
        <p:txBody>
          <a:bodyPr>
            <a:normAutofit lnSpcReduction="10000"/>
          </a:bodyPr>
          <a:lstStyle/>
          <a:p>
            <a:r>
              <a:rPr lang="fr-FR" dirty="0"/>
              <a:t>monitor.py (le contrôleur)</a:t>
            </a:r>
          </a:p>
          <a:p>
            <a:pPr algn="just"/>
            <a:r>
              <a:rPr lang="fr-FR" dirty="0"/>
              <a:t>Création d’un objet application Flask. Il est configuré avec l’URI pour se connecter à la BDD PostgreSQL.</a:t>
            </a:r>
          </a:p>
          <a:p>
            <a:pPr algn="just"/>
            <a:r>
              <a:rPr lang="fr-FR" dirty="0"/>
              <a:t>Initialisation de l’application avec les instances de </a:t>
            </a:r>
            <a:r>
              <a:rPr lang="fr-FR" dirty="0" err="1"/>
              <a:t>SQLAlchemy</a:t>
            </a:r>
            <a:r>
              <a:rPr lang="fr-FR" dirty="0"/>
              <a:t> et </a:t>
            </a:r>
            <a:r>
              <a:rPr lang="fr-FR" dirty="0" err="1"/>
              <a:t>Migrate</a:t>
            </a:r>
            <a:r>
              <a:rPr lang="fr-FR" dirty="0"/>
              <a:t>.</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3" name="Picture 2">
            <a:extLst>
              <a:ext uri="{FF2B5EF4-FFF2-40B4-BE49-F238E27FC236}">
                <a16:creationId xmlns:a16="http://schemas.microsoft.com/office/drawing/2014/main" id="{A3296821-D5E4-438D-A150-9CAFAF4D3411}"/>
              </a:ext>
            </a:extLst>
          </p:cNvPr>
          <p:cNvPicPr>
            <a:picLocks noChangeAspect="1"/>
          </p:cNvPicPr>
          <p:nvPr/>
        </p:nvPicPr>
        <p:blipFill>
          <a:blip r:embed="rId3"/>
          <a:stretch>
            <a:fillRect/>
          </a:stretch>
        </p:blipFill>
        <p:spPr>
          <a:xfrm>
            <a:off x="5737568" y="1385939"/>
            <a:ext cx="5187971" cy="3600000"/>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62DDF-7CA4-46D5-AE64-B8D8A05397CE}"/>
              </a:ext>
            </a:extLst>
          </p:cNvPr>
          <p:cNvSpPr>
            <a:spLocks noGrp="1"/>
          </p:cNvSpPr>
          <p:nvPr>
            <p:ph type="title"/>
          </p:nvPr>
        </p:nvSpPr>
        <p:spPr>
          <a:xfrm>
            <a:off x="978195" y="1830933"/>
            <a:ext cx="4162425" cy="1493520"/>
          </a:xfrm>
        </p:spPr>
        <p:txBody>
          <a:bodyPr/>
          <a:lstStyle/>
          <a:p>
            <a:r>
              <a:rPr lang="fr-FR" sz="3200" dirty="0"/>
              <a:t>Synchronisation de l’application et du scheduler</a:t>
            </a:r>
          </a:p>
        </p:txBody>
      </p:sp>
      <p:sp>
        <p:nvSpPr>
          <p:cNvPr id="4" name="Text Placeholder 3">
            <a:extLst>
              <a:ext uri="{FF2B5EF4-FFF2-40B4-BE49-F238E27FC236}">
                <a16:creationId xmlns:a16="http://schemas.microsoft.com/office/drawing/2014/main" id="{5CD49CDB-3727-4612-A07D-9B2337EE07E8}"/>
              </a:ext>
            </a:extLst>
          </p:cNvPr>
          <p:cNvSpPr>
            <a:spLocks noGrp="1"/>
          </p:cNvSpPr>
          <p:nvPr>
            <p:ph type="body" sz="half" idx="2"/>
          </p:nvPr>
        </p:nvSpPr>
        <p:spPr>
          <a:xfrm>
            <a:off x="1032699" y="3568293"/>
            <a:ext cx="4162425" cy="1322684"/>
          </a:xfrm>
        </p:spPr>
        <p:txBody>
          <a:bodyPr/>
          <a:lstStyle/>
          <a:p>
            <a:pPr algn="just"/>
            <a:r>
              <a:rPr lang="fr-FR" dirty="0"/>
              <a:t>app_plus_scheduler.py</a:t>
            </a:r>
          </a:p>
          <a:p>
            <a:pPr algn="just"/>
            <a:r>
              <a:rPr lang="fr-FR" dirty="0"/>
              <a:t>Le module pour lancer en parallèle l’application Flask et la tâche de fonds périodique.</a:t>
            </a:r>
          </a:p>
        </p:txBody>
      </p:sp>
      <p:sp>
        <p:nvSpPr>
          <p:cNvPr id="5" name="Slide Number Placeholder 4">
            <a:extLst>
              <a:ext uri="{FF2B5EF4-FFF2-40B4-BE49-F238E27FC236}">
                <a16:creationId xmlns:a16="http://schemas.microsoft.com/office/drawing/2014/main" id="{864EDB35-B72A-4F18-A86B-3D64DD6E0008}"/>
              </a:ext>
            </a:extLst>
          </p:cNvPr>
          <p:cNvSpPr>
            <a:spLocks noGrp="1"/>
          </p:cNvSpPr>
          <p:nvPr>
            <p:ph type="sldNum" sz="quarter" idx="12"/>
          </p:nvPr>
        </p:nvSpPr>
        <p:spPr/>
        <p:txBody>
          <a:bodyPr/>
          <a:lstStyle/>
          <a:p>
            <a:fld id="{C52ED629-2BC0-4D25-969E-9ED78B40D7C7}" type="slidenum">
              <a:rPr lang="fr-FR" smtClean="0"/>
              <a:t>54</a:t>
            </a:fld>
            <a:endParaRPr lang="fr-FR"/>
          </a:p>
        </p:txBody>
      </p:sp>
      <p:pic>
        <p:nvPicPr>
          <p:cNvPr id="6" name="Picture 5">
            <a:extLst>
              <a:ext uri="{FF2B5EF4-FFF2-40B4-BE49-F238E27FC236}">
                <a16:creationId xmlns:a16="http://schemas.microsoft.com/office/drawing/2014/main" id="{2202B604-C550-4736-862A-5215E5085C2C}"/>
              </a:ext>
            </a:extLst>
          </p:cNvPr>
          <p:cNvPicPr>
            <a:picLocks noChangeAspect="1"/>
          </p:cNvPicPr>
          <p:nvPr/>
        </p:nvPicPr>
        <p:blipFill>
          <a:blip r:embed="rId2"/>
          <a:stretch>
            <a:fillRect/>
          </a:stretch>
        </p:blipFill>
        <p:spPr>
          <a:xfrm>
            <a:off x="6112243" y="1098330"/>
            <a:ext cx="4528074" cy="4320000"/>
          </a:xfrm>
          <a:prstGeom prst="rect">
            <a:avLst/>
          </a:prstGeom>
        </p:spPr>
      </p:pic>
    </p:spTree>
    <p:extLst>
      <p:ext uri="{BB962C8B-B14F-4D97-AF65-F5344CB8AC3E}">
        <p14:creationId xmlns:p14="http://schemas.microsoft.com/office/powerpoint/2010/main" val="26962491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1FEAC0E-BBE6-415B-BA7B-CB03AEDEAC99}"/>
              </a:ext>
            </a:extLst>
          </p:cNvPr>
          <p:cNvSpPr>
            <a:spLocks noGrp="1"/>
          </p:cNvSpPr>
          <p:nvPr>
            <p:ph type="title"/>
          </p:nvPr>
        </p:nvSpPr>
        <p:spPr>
          <a:xfrm>
            <a:off x="1143000" y="609600"/>
            <a:ext cx="9875520" cy="528084"/>
          </a:xfrm>
        </p:spPr>
        <p:txBody>
          <a:bodyPr>
            <a:noAutofit/>
          </a:bodyPr>
          <a:lstStyle/>
          <a:p>
            <a:r>
              <a:rPr lang="fr-FR" sz="4000" dirty="0"/>
              <a:t>Déploiement dans Cloud Foundry (SQLite)</a:t>
            </a:r>
          </a:p>
        </p:txBody>
      </p:sp>
      <p:pic>
        <p:nvPicPr>
          <p:cNvPr id="13" name="Content Placeholder 5">
            <a:extLst>
              <a:ext uri="{FF2B5EF4-FFF2-40B4-BE49-F238E27FC236}">
                <a16:creationId xmlns:a16="http://schemas.microsoft.com/office/drawing/2014/main" id="{1123C289-499B-440C-90E8-674724899FF8}"/>
              </a:ext>
            </a:extLst>
          </p:cNvPr>
          <p:cNvPicPr>
            <a:picLocks noGrp="1" noChangeAspect="1"/>
          </p:cNvPicPr>
          <p:nvPr>
            <p:ph idx="1"/>
          </p:nvPr>
        </p:nvPicPr>
        <p:blipFill>
          <a:blip r:embed="rId2"/>
          <a:stretch>
            <a:fillRect/>
          </a:stretch>
        </p:blipFill>
        <p:spPr>
          <a:xfrm>
            <a:off x="1251005" y="2674388"/>
            <a:ext cx="9376180" cy="3600000"/>
          </a:xfrm>
        </p:spPr>
      </p:pic>
      <p:sp>
        <p:nvSpPr>
          <p:cNvPr id="5" name="Slide Number Placeholder 4">
            <a:extLst>
              <a:ext uri="{FF2B5EF4-FFF2-40B4-BE49-F238E27FC236}">
                <a16:creationId xmlns:a16="http://schemas.microsoft.com/office/drawing/2014/main" id="{BEE976FF-B0EA-4DB3-BA52-DE6BFE635041}"/>
              </a:ext>
            </a:extLst>
          </p:cNvPr>
          <p:cNvSpPr>
            <a:spLocks noGrp="1"/>
          </p:cNvSpPr>
          <p:nvPr>
            <p:ph type="sldNum" sz="quarter" idx="12"/>
          </p:nvPr>
        </p:nvSpPr>
        <p:spPr/>
        <p:txBody>
          <a:bodyPr/>
          <a:lstStyle/>
          <a:p>
            <a:fld id="{C52ED629-2BC0-4D25-969E-9ED78B40D7C7}" type="slidenum">
              <a:rPr lang="fr-FR" smtClean="0"/>
              <a:t>55</a:t>
            </a:fld>
            <a:endParaRPr lang="fr-FR"/>
          </a:p>
        </p:txBody>
      </p:sp>
      <p:sp>
        <p:nvSpPr>
          <p:cNvPr id="8" name="Title 1">
            <a:extLst>
              <a:ext uri="{FF2B5EF4-FFF2-40B4-BE49-F238E27FC236}">
                <a16:creationId xmlns:a16="http://schemas.microsoft.com/office/drawing/2014/main" id="{817CA980-874D-4572-8929-C3EF8BF8B734}"/>
              </a:ext>
            </a:extLst>
          </p:cNvPr>
          <p:cNvSpPr txBox="1">
            <a:spLocks/>
          </p:cNvSpPr>
          <p:nvPr/>
        </p:nvSpPr>
        <p:spPr>
          <a:xfrm>
            <a:off x="1143000" y="1300719"/>
            <a:ext cx="9875520" cy="62818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r>
              <a:rPr lang="fr-FR" sz="1700" dirty="0"/>
              <a:t>Les commandes pour le déploiement de l’application  :</a:t>
            </a:r>
            <a:br>
              <a:rPr lang="fr-FR" sz="1700" dirty="0"/>
            </a:br>
            <a:r>
              <a:rPr lang="fr-FR" sz="1700" dirty="0"/>
              <a:t>$ </a:t>
            </a:r>
            <a:r>
              <a:rPr lang="fr-FR" sz="1700" dirty="0" err="1"/>
              <a:t>py</a:t>
            </a:r>
            <a:r>
              <a:rPr lang="fr-FR" sz="1700" dirty="0"/>
              <a:t> -m </a:t>
            </a:r>
            <a:r>
              <a:rPr lang="fr-FR" sz="1700" dirty="0" err="1"/>
              <a:t>pip</a:t>
            </a:r>
            <a:r>
              <a:rPr lang="fr-FR" sz="1700" dirty="0"/>
              <a:t> </a:t>
            </a:r>
            <a:r>
              <a:rPr lang="fr-FR" sz="1700" dirty="0" err="1"/>
              <a:t>install</a:t>
            </a:r>
            <a:r>
              <a:rPr lang="fr-FR" sz="1700" dirty="0"/>
              <a:t> --</a:t>
            </a:r>
            <a:r>
              <a:rPr lang="fr-FR" sz="1700" dirty="0" err="1"/>
              <a:t>requirement</a:t>
            </a:r>
            <a:r>
              <a:rPr lang="fr-FR" sz="1700" dirty="0"/>
              <a:t> requirements.txt</a:t>
            </a:r>
            <a:br>
              <a:rPr lang="fr-FR" sz="1700" dirty="0"/>
            </a:br>
            <a:r>
              <a:rPr lang="fr-FR" sz="1700" dirty="0"/>
              <a:t>$ </a:t>
            </a:r>
            <a:r>
              <a:rPr lang="fr-FR" sz="1700" dirty="0" err="1"/>
              <a:t>cf</a:t>
            </a:r>
            <a:r>
              <a:rPr lang="fr-FR" sz="1700" dirty="0"/>
              <a:t> push -f </a:t>
            </a:r>
            <a:r>
              <a:rPr lang="fr-FR" sz="1700" dirty="0" err="1"/>
              <a:t>manifest.yml</a:t>
            </a:r>
            <a:endParaRPr lang="fr-FR" sz="1700" dirty="0"/>
          </a:p>
        </p:txBody>
      </p:sp>
      <p:sp>
        <p:nvSpPr>
          <p:cNvPr id="12" name="TextBox 11">
            <a:extLst>
              <a:ext uri="{FF2B5EF4-FFF2-40B4-BE49-F238E27FC236}">
                <a16:creationId xmlns:a16="http://schemas.microsoft.com/office/drawing/2014/main" id="{5C7510E7-A8F6-43D5-9DF5-44781AD39F25}"/>
              </a:ext>
            </a:extLst>
          </p:cNvPr>
          <p:cNvSpPr txBox="1"/>
          <p:nvPr/>
        </p:nvSpPr>
        <p:spPr>
          <a:xfrm>
            <a:off x="1187206" y="2243467"/>
            <a:ext cx="9484185" cy="353943"/>
          </a:xfrm>
          <a:prstGeom prst="rect">
            <a:avLst/>
          </a:prstGeom>
          <a:noFill/>
        </p:spPr>
        <p:txBody>
          <a:bodyPr wrap="square" rtlCol="0">
            <a:spAutoFit/>
          </a:bodyPr>
          <a:lstStyle/>
          <a:p>
            <a:r>
              <a:rPr lang="fr-FR" sz="1700" dirty="0">
                <a:solidFill>
                  <a:srgbClr val="4A66AC"/>
                </a:solidFill>
              </a:rPr>
              <a:t>L’état de l’application après le déploiement et le contenu du fichier </a:t>
            </a:r>
            <a:r>
              <a:rPr lang="fr-FR" sz="1700" dirty="0" err="1">
                <a:solidFill>
                  <a:srgbClr val="4A66AC"/>
                </a:solidFill>
              </a:rPr>
              <a:t>manifest.yml</a:t>
            </a:r>
            <a:endParaRPr lang="fr-FR" sz="1700" dirty="0">
              <a:solidFill>
                <a:srgbClr val="4A66AC"/>
              </a:solidFill>
            </a:endParaRPr>
          </a:p>
        </p:txBody>
      </p:sp>
    </p:spTree>
    <p:extLst>
      <p:ext uri="{BB962C8B-B14F-4D97-AF65-F5344CB8AC3E}">
        <p14:creationId xmlns:p14="http://schemas.microsoft.com/office/powerpoint/2010/main" val="12424674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9C21B-91B8-4244-8EBB-06F33AEBFA2A}"/>
              </a:ext>
            </a:extLst>
          </p:cNvPr>
          <p:cNvSpPr>
            <a:spLocks noGrp="1"/>
          </p:cNvSpPr>
          <p:nvPr>
            <p:ph type="title"/>
          </p:nvPr>
        </p:nvSpPr>
        <p:spPr>
          <a:xfrm>
            <a:off x="1143000" y="609600"/>
            <a:ext cx="9875520" cy="566057"/>
          </a:xfrm>
        </p:spPr>
        <p:txBody>
          <a:bodyPr>
            <a:normAutofit fontScale="90000"/>
          </a:bodyPr>
          <a:lstStyle/>
          <a:p>
            <a:r>
              <a:rPr lang="fr-FR" dirty="0"/>
              <a:t>Cockpit Cloud Foundry</a:t>
            </a:r>
          </a:p>
        </p:txBody>
      </p:sp>
      <p:pic>
        <p:nvPicPr>
          <p:cNvPr id="6" name="Content Placeholder 5">
            <a:extLst>
              <a:ext uri="{FF2B5EF4-FFF2-40B4-BE49-F238E27FC236}">
                <a16:creationId xmlns:a16="http://schemas.microsoft.com/office/drawing/2014/main" id="{0ADBEF4E-BE02-455E-A0A5-A86F585EB757}"/>
              </a:ext>
            </a:extLst>
          </p:cNvPr>
          <p:cNvPicPr>
            <a:picLocks noGrp="1" noChangeAspect="1"/>
          </p:cNvPicPr>
          <p:nvPr>
            <p:ph idx="1"/>
          </p:nvPr>
        </p:nvPicPr>
        <p:blipFill>
          <a:blip r:embed="rId2"/>
          <a:stretch>
            <a:fillRect/>
          </a:stretch>
        </p:blipFill>
        <p:spPr>
          <a:xfrm>
            <a:off x="1143000" y="1261516"/>
            <a:ext cx="9872663" cy="4685507"/>
          </a:xfrm>
        </p:spPr>
      </p:pic>
      <p:sp>
        <p:nvSpPr>
          <p:cNvPr id="4" name="Slide Number Placeholder 3">
            <a:extLst>
              <a:ext uri="{FF2B5EF4-FFF2-40B4-BE49-F238E27FC236}">
                <a16:creationId xmlns:a16="http://schemas.microsoft.com/office/drawing/2014/main" id="{CC631A8C-BF3C-40E3-BB40-F2FB94F9914E}"/>
              </a:ext>
            </a:extLst>
          </p:cNvPr>
          <p:cNvSpPr>
            <a:spLocks noGrp="1"/>
          </p:cNvSpPr>
          <p:nvPr>
            <p:ph type="sldNum" sz="quarter" idx="12"/>
          </p:nvPr>
        </p:nvSpPr>
        <p:spPr/>
        <p:txBody>
          <a:bodyPr/>
          <a:lstStyle/>
          <a:p>
            <a:fld id="{C52ED629-2BC0-4D25-969E-9ED78B40D7C7}" type="slidenum">
              <a:rPr lang="fr-FR" smtClean="0"/>
              <a:t>56</a:t>
            </a:fld>
            <a:endParaRPr lang="fr-FR"/>
          </a:p>
        </p:txBody>
      </p:sp>
    </p:spTree>
    <p:extLst>
      <p:ext uri="{BB962C8B-B14F-4D97-AF65-F5344CB8AC3E}">
        <p14:creationId xmlns:p14="http://schemas.microsoft.com/office/powerpoint/2010/main" val="41795088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8CF4753-5E1B-447E-A690-077879B3A68D}"/>
              </a:ext>
            </a:extLst>
          </p:cNvPr>
          <p:cNvSpPr>
            <a:spLocks noGrp="1"/>
          </p:cNvSpPr>
          <p:nvPr>
            <p:ph type="title"/>
          </p:nvPr>
        </p:nvSpPr>
        <p:spPr>
          <a:xfrm>
            <a:off x="1106424" y="1173575"/>
            <a:ext cx="10100292" cy="2926080"/>
          </a:xfrm>
        </p:spPr>
        <p:txBody>
          <a:bodyPr/>
          <a:lstStyle/>
          <a:p>
            <a:r>
              <a:rPr lang="fr-FR" dirty="0"/>
              <a:t>Tests et contrôles</a:t>
            </a:r>
          </a:p>
        </p:txBody>
      </p:sp>
      <p:sp>
        <p:nvSpPr>
          <p:cNvPr id="5" name="Slide Number Placeholder 4">
            <a:extLst>
              <a:ext uri="{FF2B5EF4-FFF2-40B4-BE49-F238E27FC236}">
                <a16:creationId xmlns:a16="http://schemas.microsoft.com/office/drawing/2014/main" id="{8C0981BC-17A1-4726-8576-D6CBCEF6DCDE}"/>
              </a:ext>
            </a:extLst>
          </p:cNvPr>
          <p:cNvSpPr>
            <a:spLocks noGrp="1"/>
          </p:cNvSpPr>
          <p:nvPr>
            <p:ph type="sldNum" sz="quarter" idx="12"/>
          </p:nvPr>
        </p:nvSpPr>
        <p:spPr/>
        <p:txBody>
          <a:bodyPr/>
          <a:lstStyle/>
          <a:p>
            <a:fld id="{C52ED629-2BC0-4D25-969E-9ED78B40D7C7}" type="slidenum">
              <a:rPr lang="fr-FR" smtClean="0"/>
              <a:t>57</a:t>
            </a:fld>
            <a:endParaRPr lang="fr-FR"/>
          </a:p>
        </p:txBody>
      </p:sp>
    </p:spTree>
    <p:extLst>
      <p:ext uri="{BB962C8B-B14F-4D97-AF65-F5344CB8AC3E}">
        <p14:creationId xmlns:p14="http://schemas.microsoft.com/office/powerpoint/2010/main" val="26351435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302C2-843C-49ED-9E03-ED2A7DC7B9E1}"/>
              </a:ext>
            </a:extLst>
          </p:cNvPr>
          <p:cNvSpPr>
            <a:spLocks noGrp="1"/>
          </p:cNvSpPr>
          <p:nvPr>
            <p:ph type="title"/>
          </p:nvPr>
        </p:nvSpPr>
        <p:spPr>
          <a:xfrm>
            <a:off x="1143000" y="1097280"/>
            <a:ext cx="3931920" cy="1569720"/>
          </a:xfrm>
        </p:spPr>
        <p:txBody>
          <a:bodyPr/>
          <a:lstStyle/>
          <a:p>
            <a:r>
              <a:rPr lang="fr-FR" sz="3200" dirty="0"/>
              <a:t>Intégration continue</a:t>
            </a:r>
          </a:p>
        </p:txBody>
      </p:sp>
      <p:sp>
        <p:nvSpPr>
          <p:cNvPr id="4" name="Text Placeholder 3">
            <a:extLst>
              <a:ext uri="{FF2B5EF4-FFF2-40B4-BE49-F238E27FC236}">
                <a16:creationId xmlns:a16="http://schemas.microsoft.com/office/drawing/2014/main" id="{F6BB302E-284C-4396-A290-3CB2C1EC8287}"/>
              </a:ext>
            </a:extLst>
          </p:cNvPr>
          <p:cNvSpPr>
            <a:spLocks noGrp="1"/>
          </p:cNvSpPr>
          <p:nvPr>
            <p:ph type="body" sz="half" idx="2"/>
          </p:nvPr>
        </p:nvSpPr>
        <p:spPr>
          <a:xfrm>
            <a:off x="1143000" y="2868133"/>
            <a:ext cx="3931920" cy="2994660"/>
          </a:xfrm>
        </p:spPr>
        <p:txBody>
          <a:bodyPr/>
          <a:lstStyle/>
          <a:p>
            <a:r>
              <a:rPr lang="fr-FR" dirty="0"/>
              <a:t>Exemple du module « Actions » de GitHub. </a:t>
            </a:r>
            <a:br>
              <a:rPr lang="fr-FR" dirty="0"/>
            </a:br>
            <a:r>
              <a:rPr lang="fr-FR" dirty="0"/>
              <a:t/>
            </a:r>
            <a:br>
              <a:rPr lang="fr-FR" dirty="0"/>
            </a:br>
            <a:r>
              <a:rPr lang="fr-FR" dirty="0"/>
              <a:t>Ce workflow se lance à l’arrivée de chaque code pour lequel il y a une demande de « Pull </a:t>
            </a:r>
            <a:r>
              <a:rPr lang="fr-FR" dirty="0" err="1"/>
              <a:t>Request</a:t>
            </a:r>
            <a:r>
              <a:rPr lang="fr-FR" dirty="0"/>
              <a:t> » sur la branche master.</a:t>
            </a:r>
          </a:p>
        </p:txBody>
      </p:sp>
      <p:sp>
        <p:nvSpPr>
          <p:cNvPr id="5" name="Slide Number Placeholder 4">
            <a:extLst>
              <a:ext uri="{FF2B5EF4-FFF2-40B4-BE49-F238E27FC236}">
                <a16:creationId xmlns:a16="http://schemas.microsoft.com/office/drawing/2014/main" id="{EBC2931B-BAF4-4477-8933-FFCD1491EBE7}"/>
              </a:ext>
            </a:extLst>
          </p:cNvPr>
          <p:cNvSpPr>
            <a:spLocks noGrp="1"/>
          </p:cNvSpPr>
          <p:nvPr>
            <p:ph type="sldNum" sz="quarter" idx="12"/>
          </p:nvPr>
        </p:nvSpPr>
        <p:spPr/>
        <p:txBody>
          <a:bodyPr/>
          <a:lstStyle/>
          <a:p>
            <a:fld id="{C52ED629-2BC0-4D25-969E-9ED78B40D7C7}" type="slidenum">
              <a:rPr lang="fr-FR" smtClean="0"/>
              <a:t>58</a:t>
            </a:fld>
            <a:endParaRPr lang="fr-FR"/>
          </a:p>
        </p:txBody>
      </p:sp>
      <p:pic>
        <p:nvPicPr>
          <p:cNvPr id="15" name="Picture 14">
            <a:extLst>
              <a:ext uri="{FF2B5EF4-FFF2-40B4-BE49-F238E27FC236}">
                <a16:creationId xmlns:a16="http://schemas.microsoft.com/office/drawing/2014/main" id="{FCFA2337-B080-4DA2-A6A7-14F356E6B522}"/>
              </a:ext>
            </a:extLst>
          </p:cNvPr>
          <p:cNvPicPr>
            <a:picLocks noChangeAspect="1"/>
          </p:cNvPicPr>
          <p:nvPr/>
        </p:nvPicPr>
        <p:blipFill>
          <a:blip r:embed="rId2"/>
          <a:stretch>
            <a:fillRect/>
          </a:stretch>
        </p:blipFill>
        <p:spPr>
          <a:xfrm>
            <a:off x="5856807" y="583106"/>
            <a:ext cx="4197207" cy="5760000"/>
          </a:xfrm>
          <a:prstGeom prst="rect">
            <a:avLst/>
          </a:prstGeom>
        </p:spPr>
      </p:pic>
    </p:spTree>
    <p:extLst>
      <p:ext uri="{BB962C8B-B14F-4D97-AF65-F5344CB8AC3E}">
        <p14:creationId xmlns:p14="http://schemas.microsoft.com/office/powerpoint/2010/main" val="26480098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8D3BB-4534-4507-A806-C628A192C6F5}"/>
              </a:ext>
            </a:extLst>
          </p:cNvPr>
          <p:cNvSpPr>
            <a:spLocks noGrp="1"/>
          </p:cNvSpPr>
          <p:nvPr>
            <p:ph type="title"/>
          </p:nvPr>
        </p:nvSpPr>
        <p:spPr>
          <a:xfrm>
            <a:off x="1143000" y="609600"/>
            <a:ext cx="9875520" cy="704850"/>
          </a:xfrm>
        </p:spPr>
        <p:txBody>
          <a:bodyPr>
            <a:normAutofit/>
          </a:bodyPr>
          <a:lstStyle/>
          <a:p>
            <a:r>
              <a:rPr lang="fr-FR" sz="4000" dirty="0"/>
              <a:t>Le résultat du workflow dans GitHub</a:t>
            </a:r>
          </a:p>
        </p:txBody>
      </p:sp>
      <p:pic>
        <p:nvPicPr>
          <p:cNvPr id="7" name="Content Placeholder 6">
            <a:extLst>
              <a:ext uri="{FF2B5EF4-FFF2-40B4-BE49-F238E27FC236}">
                <a16:creationId xmlns:a16="http://schemas.microsoft.com/office/drawing/2014/main" id="{90823F51-7ED0-43FA-A7AC-648980CFD662}"/>
              </a:ext>
            </a:extLst>
          </p:cNvPr>
          <p:cNvPicPr>
            <a:picLocks noGrp="1" noChangeAspect="1"/>
          </p:cNvPicPr>
          <p:nvPr>
            <p:ph idx="1"/>
          </p:nvPr>
        </p:nvPicPr>
        <p:blipFill>
          <a:blip r:embed="rId2"/>
          <a:stretch>
            <a:fillRect/>
          </a:stretch>
        </p:blipFill>
        <p:spPr>
          <a:xfrm>
            <a:off x="1304691" y="1844676"/>
            <a:ext cx="9087317" cy="3708494"/>
          </a:xfrm>
          <a:prstGeom prst="rect">
            <a:avLst/>
          </a:prstGeom>
        </p:spPr>
      </p:pic>
      <p:sp>
        <p:nvSpPr>
          <p:cNvPr id="4" name="Slide Number Placeholder 3">
            <a:extLst>
              <a:ext uri="{FF2B5EF4-FFF2-40B4-BE49-F238E27FC236}">
                <a16:creationId xmlns:a16="http://schemas.microsoft.com/office/drawing/2014/main" id="{E98FB3A3-0377-482D-975B-8DD1D6C9678F}"/>
              </a:ext>
            </a:extLst>
          </p:cNvPr>
          <p:cNvSpPr>
            <a:spLocks noGrp="1"/>
          </p:cNvSpPr>
          <p:nvPr>
            <p:ph type="sldNum" sz="quarter" idx="12"/>
          </p:nvPr>
        </p:nvSpPr>
        <p:spPr/>
        <p:txBody>
          <a:bodyPr/>
          <a:lstStyle/>
          <a:p>
            <a:fld id="{C52ED629-2BC0-4D25-969E-9ED78B40D7C7}" type="slidenum">
              <a:rPr lang="fr-FR" smtClean="0"/>
              <a:t>59</a:t>
            </a:fld>
            <a:endParaRPr lang="fr-FR"/>
          </a:p>
        </p:txBody>
      </p:sp>
    </p:spTree>
    <p:extLst>
      <p:ext uri="{BB962C8B-B14F-4D97-AF65-F5344CB8AC3E}">
        <p14:creationId xmlns:p14="http://schemas.microsoft.com/office/powerpoint/2010/main" val="3166314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D2465D-BC31-40F8-97C9-218E19767277}"/>
              </a:ext>
            </a:extLst>
          </p:cNvPr>
          <p:cNvSpPr>
            <a:spLocks noGrp="1"/>
          </p:cNvSpPr>
          <p:nvPr>
            <p:ph type="title"/>
          </p:nvPr>
        </p:nvSpPr>
        <p:spPr>
          <a:xfrm>
            <a:off x="1143000" y="609600"/>
            <a:ext cx="9989288" cy="561975"/>
          </a:xfrm>
        </p:spPr>
        <p:txBody>
          <a:bodyPr>
            <a:normAutofit fontScale="90000"/>
          </a:bodyPr>
          <a:lstStyle/>
          <a:p>
            <a:r>
              <a:rPr lang="fr-FR" dirty="0" err="1"/>
              <a:t>Unittest</a:t>
            </a:r>
            <a:r>
              <a:rPr lang="fr-FR" dirty="0"/>
              <a:t> et le rapport </a:t>
            </a:r>
            <a:r>
              <a:rPr lang="fr-FR" dirty="0" err="1"/>
              <a:t>coverage</a:t>
            </a:r>
            <a:r>
              <a:rPr lang="fr-FR" dirty="0"/>
              <a:t> dans GitHub</a:t>
            </a:r>
          </a:p>
        </p:txBody>
      </p:sp>
      <p:pic>
        <p:nvPicPr>
          <p:cNvPr id="5" name="Content Placeholder 4">
            <a:extLst>
              <a:ext uri="{FF2B5EF4-FFF2-40B4-BE49-F238E27FC236}">
                <a16:creationId xmlns:a16="http://schemas.microsoft.com/office/drawing/2014/main" id="{A23DF64D-5540-45A3-88D7-FB1566E2C2DF}"/>
              </a:ext>
            </a:extLst>
          </p:cNvPr>
          <p:cNvPicPr>
            <a:picLocks noGrp="1" noChangeAspect="1"/>
          </p:cNvPicPr>
          <p:nvPr>
            <p:ph idx="1"/>
          </p:nvPr>
        </p:nvPicPr>
        <p:blipFill>
          <a:blip r:embed="rId2"/>
          <a:stretch>
            <a:fillRect/>
          </a:stretch>
        </p:blipFill>
        <p:spPr>
          <a:xfrm>
            <a:off x="1276350" y="1298122"/>
            <a:ext cx="8667749" cy="4756394"/>
          </a:xfrm>
          <a:prstGeom prst="rect">
            <a:avLst/>
          </a:prstGeom>
        </p:spPr>
      </p:pic>
      <p:sp>
        <p:nvSpPr>
          <p:cNvPr id="2" name="Slide Number Placeholder 1">
            <a:extLst>
              <a:ext uri="{FF2B5EF4-FFF2-40B4-BE49-F238E27FC236}">
                <a16:creationId xmlns:a16="http://schemas.microsoft.com/office/drawing/2014/main" id="{6CD12ADC-22FF-4BF2-8AA5-0A8C52E822E2}"/>
              </a:ext>
            </a:extLst>
          </p:cNvPr>
          <p:cNvSpPr>
            <a:spLocks noGrp="1"/>
          </p:cNvSpPr>
          <p:nvPr>
            <p:ph type="sldNum" sz="quarter" idx="12"/>
          </p:nvPr>
        </p:nvSpPr>
        <p:spPr/>
        <p:txBody>
          <a:bodyPr/>
          <a:lstStyle/>
          <a:p>
            <a:fld id="{C52ED629-2BC0-4D25-969E-9ED78B40D7C7}" type="slidenum">
              <a:rPr lang="fr-FR" smtClean="0"/>
              <a:t>60</a:t>
            </a:fld>
            <a:endParaRPr lang="fr-FR"/>
          </a:p>
        </p:txBody>
      </p:sp>
    </p:spTree>
    <p:extLst>
      <p:ext uri="{BB962C8B-B14F-4D97-AF65-F5344CB8AC3E}">
        <p14:creationId xmlns:p14="http://schemas.microsoft.com/office/powerpoint/2010/main" val="13376690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46F9D36-F6D2-4FB8-BD83-2AC8709C815D}"/>
              </a:ext>
            </a:extLst>
          </p:cNvPr>
          <p:cNvSpPr>
            <a:spLocks noGrp="1"/>
          </p:cNvSpPr>
          <p:nvPr>
            <p:ph type="title"/>
          </p:nvPr>
        </p:nvSpPr>
        <p:spPr>
          <a:xfrm>
            <a:off x="595859" y="1097280"/>
            <a:ext cx="3931920" cy="1645920"/>
          </a:xfrm>
        </p:spPr>
        <p:txBody>
          <a:bodyPr/>
          <a:lstStyle/>
          <a:p>
            <a:r>
              <a:rPr lang="fr-FR" sz="3200" dirty="0"/>
              <a:t>Des tests unitaires</a:t>
            </a:r>
          </a:p>
        </p:txBody>
      </p:sp>
      <p:sp>
        <p:nvSpPr>
          <p:cNvPr id="5" name="Text Placeholder 4">
            <a:extLst>
              <a:ext uri="{FF2B5EF4-FFF2-40B4-BE49-F238E27FC236}">
                <a16:creationId xmlns:a16="http://schemas.microsoft.com/office/drawing/2014/main" id="{D679174E-03B2-4D7D-8A9D-372CB8B943C0}"/>
              </a:ext>
            </a:extLst>
          </p:cNvPr>
          <p:cNvSpPr>
            <a:spLocks noGrp="1"/>
          </p:cNvSpPr>
          <p:nvPr>
            <p:ph type="body" sz="half" idx="2"/>
          </p:nvPr>
        </p:nvSpPr>
        <p:spPr>
          <a:xfrm>
            <a:off x="635073" y="2898438"/>
            <a:ext cx="3931920" cy="1035609"/>
          </a:xfrm>
        </p:spPr>
        <p:txBody>
          <a:bodyPr>
            <a:noAutofit/>
          </a:bodyPr>
          <a:lstStyle/>
          <a:p>
            <a:r>
              <a:rPr lang="fr-FR" dirty="0"/>
              <a:t>Quelques exemples de tests unitaires du module test_monitor.py</a:t>
            </a:r>
          </a:p>
          <a:p>
            <a:r>
              <a:rPr lang="fr-FR" dirty="0"/>
              <a:t>Page ½.</a:t>
            </a:r>
          </a:p>
        </p:txBody>
      </p:sp>
      <p:sp>
        <p:nvSpPr>
          <p:cNvPr id="2" name="Slide Number Placeholder 1">
            <a:extLst>
              <a:ext uri="{FF2B5EF4-FFF2-40B4-BE49-F238E27FC236}">
                <a16:creationId xmlns:a16="http://schemas.microsoft.com/office/drawing/2014/main" id="{3EDDCF6C-A208-49C3-9D08-8DAC1DE85391}"/>
              </a:ext>
            </a:extLst>
          </p:cNvPr>
          <p:cNvSpPr>
            <a:spLocks noGrp="1"/>
          </p:cNvSpPr>
          <p:nvPr>
            <p:ph type="sldNum" sz="quarter" idx="12"/>
          </p:nvPr>
        </p:nvSpPr>
        <p:spPr/>
        <p:txBody>
          <a:bodyPr/>
          <a:lstStyle/>
          <a:p>
            <a:fld id="{C52ED629-2BC0-4D25-969E-9ED78B40D7C7}" type="slidenum">
              <a:rPr lang="fr-FR" smtClean="0"/>
              <a:t>61</a:t>
            </a:fld>
            <a:endParaRPr lang="fr-FR"/>
          </a:p>
        </p:txBody>
      </p:sp>
      <p:pic>
        <p:nvPicPr>
          <p:cNvPr id="6" name="Picture 5">
            <a:extLst>
              <a:ext uri="{FF2B5EF4-FFF2-40B4-BE49-F238E27FC236}">
                <a16:creationId xmlns:a16="http://schemas.microsoft.com/office/drawing/2014/main" id="{720E8F8A-40E9-4313-AC19-4BA9A0C93141}"/>
              </a:ext>
            </a:extLst>
          </p:cNvPr>
          <p:cNvPicPr>
            <a:picLocks noChangeAspect="1"/>
          </p:cNvPicPr>
          <p:nvPr/>
        </p:nvPicPr>
        <p:blipFill>
          <a:blip r:embed="rId2"/>
          <a:stretch>
            <a:fillRect/>
          </a:stretch>
        </p:blipFill>
        <p:spPr>
          <a:xfrm>
            <a:off x="4666474" y="951935"/>
            <a:ext cx="6965543" cy="4762745"/>
          </a:xfrm>
          <a:prstGeom prst="rect">
            <a:avLst/>
          </a:prstGeom>
        </p:spPr>
      </p:pic>
    </p:spTree>
    <p:extLst>
      <p:ext uri="{BB962C8B-B14F-4D97-AF65-F5344CB8AC3E}">
        <p14:creationId xmlns:p14="http://schemas.microsoft.com/office/powerpoint/2010/main" val="187939432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0881C-4F72-454C-A8C1-6D1BA15E4B89}"/>
              </a:ext>
            </a:extLst>
          </p:cNvPr>
          <p:cNvSpPr>
            <a:spLocks noGrp="1"/>
          </p:cNvSpPr>
          <p:nvPr>
            <p:ph type="title"/>
          </p:nvPr>
        </p:nvSpPr>
        <p:spPr>
          <a:xfrm>
            <a:off x="769309" y="1097280"/>
            <a:ext cx="3931920" cy="1737360"/>
          </a:xfrm>
        </p:spPr>
        <p:txBody>
          <a:bodyPr/>
          <a:lstStyle/>
          <a:p>
            <a:r>
              <a:rPr lang="fr-FR" sz="3200" dirty="0"/>
              <a:t>Tests unitaires suite</a:t>
            </a:r>
          </a:p>
        </p:txBody>
      </p:sp>
      <p:sp>
        <p:nvSpPr>
          <p:cNvPr id="4" name="Text Placeholder 3">
            <a:extLst>
              <a:ext uri="{FF2B5EF4-FFF2-40B4-BE49-F238E27FC236}">
                <a16:creationId xmlns:a16="http://schemas.microsoft.com/office/drawing/2014/main" id="{FEE69EA2-5101-43DB-A4BA-AD73B892C3D7}"/>
              </a:ext>
            </a:extLst>
          </p:cNvPr>
          <p:cNvSpPr>
            <a:spLocks noGrp="1"/>
          </p:cNvSpPr>
          <p:nvPr>
            <p:ph type="body" sz="half" idx="2"/>
          </p:nvPr>
        </p:nvSpPr>
        <p:spPr>
          <a:xfrm>
            <a:off x="818042" y="2834640"/>
            <a:ext cx="3883187" cy="897388"/>
          </a:xfrm>
        </p:spPr>
        <p:txBody>
          <a:bodyPr/>
          <a:lstStyle/>
          <a:p>
            <a:r>
              <a:rPr lang="fr-FR" dirty="0"/>
              <a:t>test_monitor.py</a:t>
            </a:r>
          </a:p>
          <a:p>
            <a:r>
              <a:rPr lang="fr-FR" dirty="0"/>
              <a:t>page 2/2.</a:t>
            </a:r>
          </a:p>
          <a:p>
            <a:endParaRPr lang="fr-FR" dirty="0"/>
          </a:p>
        </p:txBody>
      </p:sp>
      <p:sp>
        <p:nvSpPr>
          <p:cNvPr id="5" name="Slide Number Placeholder 4">
            <a:extLst>
              <a:ext uri="{FF2B5EF4-FFF2-40B4-BE49-F238E27FC236}">
                <a16:creationId xmlns:a16="http://schemas.microsoft.com/office/drawing/2014/main" id="{6AF34CA0-3E8B-425E-B3DB-04078EA59A02}"/>
              </a:ext>
            </a:extLst>
          </p:cNvPr>
          <p:cNvSpPr>
            <a:spLocks noGrp="1"/>
          </p:cNvSpPr>
          <p:nvPr>
            <p:ph type="sldNum" sz="quarter" idx="12"/>
          </p:nvPr>
        </p:nvSpPr>
        <p:spPr/>
        <p:txBody>
          <a:bodyPr/>
          <a:lstStyle/>
          <a:p>
            <a:fld id="{C52ED629-2BC0-4D25-969E-9ED78B40D7C7}" type="slidenum">
              <a:rPr lang="fr-FR" smtClean="0"/>
              <a:t>62</a:t>
            </a:fld>
            <a:endParaRPr lang="fr-FR"/>
          </a:p>
        </p:txBody>
      </p:sp>
      <p:pic>
        <p:nvPicPr>
          <p:cNvPr id="6" name="Picture 5">
            <a:extLst>
              <a:ext uri="{FF2B5EF4-FFF2-40B4-BE49-F238E27FC236}">
                <a16:creationId xmlns:a16="http://schemas.microsoft.com/office/drawing/2014/main" id="{029ADD83-45D3-4EB6-891C-37580FB15501}"/>
              </a:ext>
            </a:extLst>
          </p:cNvPr>
          <p:cNvPicPr>
            <a:picLocks noChangeAspect="1"/>
          </p:cNvPicPr>
          <p:nvPr/>
        </p:nvPicPr>
        <p:blipFill>
          <a:blip r:embed="rId2"/>
          <a:stretch>
            <a:fillRect/>
          </a:stretch>
        </p:blipFill>
        <p:spPr>
          <a:xfrm>
            <a:off x="4858014" y="1121911"/>
            <a:ext cx="6655134" cy="4320000"/>
          </a:xfrm>
          <a:prstGeom prst="rect">
            <a:avLst/>
          </a:prstGeom>
        </p:spPr>
      </p:pic>
    </p:spTree>
    <p:extLst>
      <p:ext uri="{BB962C8B-B14F-4D97-AF65-F5344CB8AC3E}">
        <p14:creationId xmlns:p14="http://schemas.microsoft.com/office/powerpoint/2010/main" val="26185889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24682-5D06-47BE-9321-79D004AB9B84}"/>
              </a:ext>
            </a:extLst>
          </p:cNvPr>
          <p:cNvSpPr>
            <a:spLocks noGrp="1"/>
          </p:cNvSpPr>
          <p:nvPr>
            <p:ph type="title"/>
          </p:nvPr>
        </p:nvSpPr>
        <p:spPr>
          <a:xfrm>
            <a:off x="1143000" y="609600"/>
            <a:ext cx="9875520" cy="365125"/>
          </a:xfrm>
        </p:spPr>
        <p:txBody>
          <a:bodyPr>
            <a:normAutofit fontScale="90000"/>
          </a:bodyPr>
          <a:lstStyle/>
          <a:p>
            <a:r>
              <a:rPr lang="fr-FR" dirty="0"/>
              <a:t>Pylint avec le module lint.py</a:t>
            </a:r>
          </a:p>
        </p:txBody>
      </p:sp>
      <p:pic>
        <p:nvPicPr>
          <p:cNvPr id="8" name="Content Placeholder 7">
            <a:extLst>
              <a:ext uri="{FF2B5EF4-FFF2-40B4-BE49-F238E27FC236}">
                <a16:creationId xmlns:a16="http://schemas.microsoft.com/office/drawing/2014/main" id="{AD0BD107-A7C9-4063-BEFB-883029507206}"/>
              </a:ext>
            </a:extLst>
          </p:cNvPr>
          <p:cNvPicPr>
            <a:picLocks noGrp="1" noChangeAspect="1"/>
          </p:cNvPicPr>
          <p:nvPr>
            <p:ph idx="1"/>
          </p:nvPr>
        </p:nvPicPr>
        <p:blipFill>
          <a:blip r:embed="rId2"/>
          <a:stretch>
            <a:fillRect/>
          </a:stretch>
        </p:blipFill>
        <p:spPr>
          <a:xfrm>
            <a:off x="1748382" y="1201556"/>
            <a:ext cx="8664756" cy="5121275"/>
          </a:xfrm>
        </p:spPr>
      </p:pic>
      <p:sp>
        <p:nvSpPr>
          <p:cNvPr id="4" name="Slide Number Placeholder 3">
            <a:extLst>
              <a:ext uri="{FF2B5EF4-FFF2-40B4-BE49-F238E27FC236}">
                <a16:creationId xmlns:a16="http://schemas.microsoft.com/office/drawing/2014/main" id="{E1539F83-44F9-4179-B706-6F653B33D0DE}"/>
              </a:ext>
            </a:extLst>
          </p:cNvPr>
          <p:cNvSpPr>
            <a:spLocks noGrp="1"/>
          </p:cNvSpPr>
          <p:nvPr>
            <p:ph type="sldNum" sz="quarter" idx="12"/>
          </p:nvPr>
        </p:nvSpPr>
        <p:spPr/>
        <p:txBody>
          <a:bodyPr/>
          <a:lstStyle/>
          <a:p>
            <a:fld id="{C52ED629-2BC0-4D25-969E-9ED78B40D7C7}" type="slidenum">
              <a:rPr lang="fr-FR" smtClean="0"/>
              <a:t>63</a:t>
            </a:fld>
            <a:endParaRPr lang="fr-FR"/>
          </a:p>
        </p:txBody>
      </p:sp>
    </p:spTree>
    <p:extLst>
      <p:ext uri="{BB962C8B-B14F-4D97-AF65-F5344CB8AC3E}">
        <p14:creationId xmlns:p14="http://schemas.microsoft.com/office/powerpoint/2010/main" val="17527567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64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A2ECFDE-CCCD-4184-981F-FCB1A88E5D9B}">
  <ds:schemaRefs>
    <ds:schemaRef ds:uri="http://schemas.microsoft.com/sharepoint/v3/contenttype/forms"/>
  </ds:schemaRefs>
</ds:datastoreItem>
</file>

<file path=customXml/itemProps2.xml><?xml version="1.0" encoding="utf-8"?>
<ds:datastoreItem xmlns:ds="http://schemas.openxmlformats.org/officeDocument/2006/customXml" ds:itemID="{F277AA4F-207B-4045-A452-6C98BA7AB2BD}">
  <ds:schemaRefs>
    <ds:schemaRef ds:uri="http://schemas.openxmlformats.org/package/2006/metadata/core-properties"/>
    <ds:schemaRef ds:uri="http://purl.org/dc/dcmitype/"/>
    <ds:schemaRef ds:uri="386f4720-9db4-4950-8ffd-cd1ef4b846d5"/>
    <ds:schemaRef ds:uri="http://schemas.microsoft.com/office/2006/metadata/properties"/>
    <ds:schemaRef ds:uri="http://purl.org/dc/terms/"/>
    <ds:schemaRef ds:uri="http://schemas.microsoft.com/office/infopath/2007/PartnerControls"/>
    <ds:schemaRef ds:uri="http://www.w3.org/XML/1998/namespace"/>
    <ds:schemaRef ds:uri="http://schemas.microsoft.com/office/2006/documentManagement/types"/>
    <ds:schemaRef ds:uri="025efd7d-4e1d-49ec-b269-b81537660960"/>
    <ds:schemaRef ds:uri="http://purl.org/dc/elements/1.1/"/>
  </ds:schemaRefs>
</ds:datastoreItem>
</file>

<file path=customXml/itemProps3.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TM03457444[[fn=Base]]</Template>
  <TotalTime>20713</TotalTime>
  <Words>2428</Words>
  <Application>Microsoft Office PowerPoint</Application>
  <PresentationFormat>Grand écran</PresentationFormat>
  <Paragraphs>292</Paragraphs>
  <Slides>64</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64</vt:i4>
      </vt:variant>
    </vt:vector>
  </HeadingPairs>
  <TitlesOfParts>
    <vt:vector size="6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Présentation PowerPoint</vt:lpstr>
      <vt:lpstr>apprentissage</vt:lpstr>
      <vt:lpstr>Python, Git, GitHub et Flask</vt:lpstr>
      <vt:lpstr>conception</vt:lpstr>
      <vt:lpstr>Architecture</vt:lpstr>
      <vt:lpstr>Structure</vt:lpstr>
      <vt:lpstr>Schéma de la base de données</vt:lpstr>
      <vt:lpstr>Diagrammes des Classes</vt:lpstr>
      <vt:lpstr>Présentation PowerPoint</vt:lpstr>
      <vt:lpstr>implémentation</vt:lpstr>
      <vt:lpstr>Les Classes ORM</vt:lpstr>
      <vt:lpstr>Migrations</vt:lpstr>
      <vt:lpstr>Paramètres de connexion de la base de données</vt:lpstr>
      <vt:lpstr>Création de l’objet  application Flask</vt:lpstr>
      <vt:lpstr>Cas d’utilisation « Formulaire »</vt:lpstr>
      <vt:lpstr>Présentation PowerPoint</vt:lpstr>
      <vt:lpstr>Contrôleur partie formulaire</vt:lpstr>
      <vt:lpstr>form.html</vt:lpstr>
      <vt:lpstr>Présentation PowerPoint</vt:lpstr>
      <vt:lpstr>Présentation PowerPoint</vt:lpstr>
      <vt:lpstr>Contrôleur page result.html</vt:lpstr>
      <vt:lpstr>Les méthodes de la partie form_result() du contrôleur</vt:lpstr>
      <vt:lpstr>result.html</vt:lpstr>
      <vt:lpstr>Présentation PowerPoint</vt:lpstr>
      <vt:lpstr>Cas d’utilisation page « List »</vt:lpstr>
      <vt:lpstr>Présentation PowerPoint</vt:lpstr>
      <vt:lpstr>Présentation PowerPoint</vt:lpstr>
      <vt:lpstr>Présentation PowerPoint</vt:lpstr>
      <vt:lpstr>Contrôleur index()</vt:lpstr>
      <vt:lpstr>Les méthodes du contrôleur index()</vt:lpstr>
      <vt:lpstr>index.html</vt:lpstr>
      <vt:lpstr>index.html</vt:lpstr>
      <vt:lpstr>Présentation PowerPoint</vt:lpstr>
      <vt:lpstr>Contrôleur index() suite</vt:lpstr>
      <vt:lpstr>Méthodes du index() en cas de filtres</vt:lpstr>
      <vt:lpstr>Pagination</vt:lpstr>
      <vt:lpstr>Présentation PowerPoint</vt:lpstr>
      <vt:lpstr>Présentation PowerPoint</vt:lpstr>
      <vt:lpstr>Contrôleur la partie delete()</vt:lpstr>
      <vt:lpstr>Les de la partie delete() du contrôleur</vt:lpstr>
      <vt:lpstr>Présentation PowerPoint</vt:lpstr>
      <vt:lpstr>La tâche de fonds périodique</vt:lpstr>
      <vt:lpstr>Synchronisation de l’application et du scheduler</vt:lpstr>
      <vt:lpstr>Déploiement dans Cloud Foundry (SQLite)</vt:lpstr>
      <vt:lpstr>Cockpit Cloud Foundry</vt:lpstr>
      <vt:lpstr>Tests et contrôles</vt:lpstr>
      <vt:lpstr>Intégration continue</vt:lpstr>
      <vt:lpstr>Le résultat du workflow dans GitHub</vt:lpstr>
      <vt:lpstr>Unittest et le rapport coverage dans GitHub</vt:lpstr>
      <vt:lpstr>Des tests unitaires</vt:lpstr>
      <vt:lpstr>Tests unitaires suite</vt:lpstr>
      <vt:lpstr>Pylint avec le module lint.py</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cda610</cp:lastModifiedBy>
  <cp:revision>403</cp:revision>
  <cp:lastPrinted>2020-06-10T07:53:15Z</cp:lastPrinted>
  <dcterms:created xsi:type="dcterms:W3CDTF">2020-04-16T13:13:31Z</dcterms:created>
  <dcterms:modified xsi:type="dcterms:W3CDTF">2021-08-26T10:31:05Z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