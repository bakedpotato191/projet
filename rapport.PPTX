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9"/>
  </p:notesMasterIdLst>
  <p:handoutMasterIdLst>
    <p:handoutMasterId r:id="rId6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279" r:id="rId24"/>
    <p:sldId id="373" r:id="rId25"/>
    <p:sldId id="345" r:id="rId26"/>
    <p:sldId id="367" r:id="rId27"/>
    <p:sldId id="346" r:id="rId28"/>
    <p:sldId id="344"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03" r:id="rId5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 id="279"/>
          </p14:sldIdLst>
        </p14:section>
        <p14:section name="Implementation" id="{4F01F8AB-2081-45D5-9329-E02D0662CD36}">
          <p14:sldIdLst>
            <p14:sldId id="373"/>
            <p14:sldId id="345"/>
            <p14:sldId id="367"/>
            <p14:sldId id="346"/>
            <p14:sldId id="344"/>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Lst>
        </p14:section>
        <p14:section name="Tests" id="{2A1E5F8D-9C3F-44EA-B7C4-9D25DFEF77D5}">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0188" autoAdjust="0"/>
  </p:normalViewPr>
  <p:slideViewPr>
    <p:cSldViewPr snapToGrid="0">
      <p:cViewPr varScale="1">
        <p:scale>
          <a:sx n="116" d="100"/>
          <a:sy n="116" d="100"/>
        </p:scale>
        <p:origin x="390" y="114"/>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78"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31/08/2021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‹N°›</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31/08/2021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‹N°›</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22</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984538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smtClean="0"/>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‹N°›</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smtClean="0"/>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31/08/2021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smtClean="0"/>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31/08/2021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31/08/2021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31/08/2021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31/08/2021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31/08/2021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smtClean="0"/>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31/08/2021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31/08/2021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‹N°›</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sv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r>
              <a:rPr lang="fr-FR" sz="3200" dirty="0"/>
              <a:t/>
            </a: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a:t>
            </a:r>
            <a:r>
              <a:rPr lang="fr-FR" sz="2400" dirty="0" smtClean="0"/>
              <a:t>16 </a:t>
            </a:r>
            <a:r>
              <a:rPr lang="fr-FR" sz="2400" dirty="0" err="1" smtClean="0"/>
              <a:t>decembre</a:t>
            </a:r>
            <a:r>
              <a:rPr lang="fr-FR" sz="2400" dirty="0" smtClean="0"/>
              <a:t> 2020 </a:t>
            </a:r>
            <a:r>
              <a:rPr lang="fr-FR" sz="2400" dirty="0"/>
              <a:t>au </a:t>
            </a:r>
            <a:r>
              <a:rPr lang="fr-FR" sz="2400" dirty="0" smtClean="0"/>
              <a:t>31 aout 2021</a:t>
            </a:r>
            <a:endParaRPr lang="fr-FR" dirty="0"/>
          </a:p>
          <a:p>
            <a:r>
              <a:rPr lang="fr-FR" dirty="0" smtClean="0"/>
              <a:t>Vladislav PITENTII</a:t>
            </a:r>
            <a:endParaRPr lang="fr-FR" dirty="0"/>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r>
              <a:rPr lang="fr-FR" sz="1400" dirty="0">
                <a:solidFill>
                  <a:schemeClr val="bg1"/>
                </a:solidFill>
              </a:rPr>
              <a:t/>
            </a:r>
            <a:br>
              <a:rPr lang="fr-FR" sz="1400" dirty="0">
                <a:solidFill>
                  <a:schemeClr val="bg1"/>
                </a:solidFill>
              </a:rPr>
            </a:br>
            <a:r>
              <a:rPr lang="fr-FR" sz="1400" dirty="0">
                <a:solidFill>
                  <a:schemeClr val="bg1"/>
                </a:solidFill>
              </a:rPr>
              <a:t>Centre de formation : </a:t>
            </a:r>
            <a:r>
              <a:rPr lang="fr-FR" sz="1400" dirty="0" smtClean="0">
                <a:solidFill>
                  <a:schemeClr val="bg1"/>
                </a:solidFill>
              </a:rPr>
              <a:t>AFPA, Paris Politzer 75012</a:t>
            </a:r>
            <a:endParaRPr lang="fr-FR" sz="1400" dirty="0">
              <a:solidFill>
                <a:schemeClr val="bg1"/>
              </a:solidFill>
            </a:endParaRP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smtClean="0"/>
              <a:t>Remerciements </a:t>
            </a:r>
            <a:r>
              <a:rPr lang="fr-FR" sz="1600" dirty="0" smtClean="0"/>
              <a:t>……………………………....................... .p</a:t>
            </a:r>
            <a:r>
              <a:rPr lang="fr-FR" sz="1600" dirty="0"/>
              <a:t>. 3</a:t>
            </a:r>
            <a:r>
              <a:rPr lang="fr-FR" sz="2400" dirty="0"/>
              <a:t/>
            </a:r>
            <a:br>
              <a:rPr lang="fr-FR" sz="2400" dirty="0"/>
            </a:br>
            <a:endParaRPr lang="fr-FR" sz="2400" dirty="0"/>
          </a:p>
          <a:p>
            <a:pPr marL="560070" indent="-514350">
              <a:buFont typeface="+mj-lt"/>
              <a:buAutoNum type="romanUcPeriod"/>
            </a:pPr>
            <a:r>
              <a:rPr lang="fr-FR" sz="2400" dirty="0"/>
              <a:t>Introduction</a:t>
            </a:r>
            <a:r>
              <a:rPr lang="fr-FR" dirty="0"/>
              <a:t/>
            </a:r>
            <a:br>
              <a:rPr lang="fr-FR" dirty="0"/>
            </a:br>
            <a:endParaRPr lang="fr-FR" dirty="0"/>
          </a:p>
          <a:p>
            <a:pPr lvl="2">
              <a:buFont typeface="Wingdings" panose="05000000000000000000" pitchFamily="2" charset="2"/>
              <a:buChar char="§"/>
            </a:pPr>
            <a:r>
              <a:rPr lang="fr-FR" sz="1700" dirty="0" smtClean="0"/>
              <a:t>Période préformation</a:t>
            </a:r>
            <a:r>
              <a:rPr lang="fr-FR" sz="1600" dirty="0" smtClean="0"/>
              <a:t>………………………………………………..p</a:t>
            </a:r>
            <a:r>
              <a:rPr lang="fr-FR" sz="1600" dirty="0"/>
              <a:t>. </a:t>
            </a:r>
            <a:r>
              <a:rPr lang="fr-FR" sz="1600" dirty="0" smtClean="0"/>
              <a:t>4</a:t>
            </a:r>
            <a:endParaRPr lang="fr-FR" sz="1600" dirty="0"/>
          </a:p>
          <a:p>
            <a:pPr lvl="2">
              <a:buFont typeface="Wingdings" panose="05000000000000000000" pitchFamily="2" charset="2"/>
              <a:buChar char="§"/>
            </a:pPr>
            <a:r>
              <a:rPr lang="fr-FR" sz="1700" dirty="0" smtClean="0"/>
              <a:t>Période de recherche de stage</a:t>
            </a:r>
            <a:r>
              <a:rPr lang="fr-FR" sz="1600" dirty="0" smtClean="0"/>
              <a:t>……………………………………p</a:t>
            </a:r>
            <a:r>
              <a:rPr lang="fr-FR" sz="1600" dirty="0"/>
              <a:t>. 4</a:t>
            </a:r>
            <a:br>
              <a:rPr lang="fr-FR" sz="1600" dirty="0"/>
            </a:br>
            <a:endParaRPr lang="fr-FR" sz="1600" dirty="0"/>
          </a:p>
          <a:p>
            <a:pPr marL="560070" indent="-514350">
              <a:buFont typeface="+mj-lt"/>
              <a:buAutoNum type="romanUcPeriod"/>
            </a:pPr>
            <a:r>
              <a:rPr lang="fr-FR" sz="2400" dirty="0"/>
              <a:t>Environnement de travail</a:t>
            </a:r>
            <a:r>
              <a:rPr lang="fr-FR" dirty="0"/>
              <a:t/>
            </a:r>
            <a:br>
              <a:rPr lang="fr-FR" dirty="0"/>
            </a:br>
            <a:endParaRPr lang="fr-FR" dirty="0"/>
          </a:p>
          <a:p>
            <a:pPr lvl="2">
              <a:buFont typeface="Wingdings" panose="05000000000000000000" pitchFamily="2" charset="2"/>
              <a:buChar char="§"/>
            </a:pPr>
            <a:r>
              <a:rPr lang="fr-FR" sz="1700" dirty="0"/>
              <a:t>Langages et base de données </a:t>
            </a:r>
            <a:r>
              <a:rPr lang="fr-FR" sz="1600" dirty="0" smtClean="0"/>
              <a:t>…………………………….. ……p</a:t>
            </a:r>
            <a:r>
              <a:rPr lang="fr-FR" sz="1600" dirty="0"/>
              <a:t>. </a:t>
            </a:r>
            <a:r>
              <a:rPr lang="fr-FR" sz="1600" dirty="0" smtClean="0"/>
              <a:t>6</a:t>
            </a:r>
            <a:endParaRPr lang="fr-FR" sz="1600" dirty="0"/>
          </a:p>
          <a:p>
            <a:pPr lvl="2">
              <a:buFont typeface="Wingdings" panose="05000000000000000000" pitchFamily="2" charset="2"/>
              <a:buChar char="§"/>
            </a:pPr>
            <a:r>
              <a:rPr lang="fr-FR" sz="1700" dirty="0" err="1" smtClean="0"/>
              <a:t>Frameworks</a:t>
            </a:r>
            <a:r>
              <a:rPr lang="fr-FR" sz="1700" dirty="0" smtClean="0"/>
              <a:t> et bibliothèques</a:t>
            </a:r>
            <a:r>
              <a:rPr lang="fr-FR" sz="1600" dirty="0" smtClean="0"/>
              <a:t>………………………</a:t>
            </a:r>
            <a:r>
              <a:rPr lang="en-US" sz="1600" dirty="0" smtClean="0"/>
              <a:t>…………….</a:t>
            </a:r>
            <a:r>
              <a:rPr lang="fr-FR" sz="1600" dirty="0" smtClean="0"/>
              <a:t>p</a:t>
            </a:r>
            <a:r>
              <a:rPr lang="fr-FR" sz="1600" dirty="0"/>
              <a:t>. </a:t>
            </a:r>
            <a:r>
              <a:rPr lang="fr-FR" sz="1600" dirty="0" smtClean="0"/>
              <a:t>7</a:t>
            </a:r>
            <a:endParaRPr lang="fr-FR" sz="1600" dirty="0"/>
          </a:p>
          <a:p>
            <a:pPr lvl="2">
              <a:buFont typeface="Wingdings" panose="05000000000000000000" pitchFamily="2" charset="2"/>
              <a:buChar char="§"/>
            </a:pPr>
            <a:r>
              <a:rPr lang="fr-FR" sz="1700" dirty="0" smtClean="0"/>
              <a:t>Git </a:t>
            </a:r>
            <a:r>
              <a:rPr lang="en-US" sz="1700" dirty="0" smtClean="0"/>
              <a:t>&amp; </a:t>
            </a:r>
            <a:r>
              <a:rPr lang="en-US" sz="1700" dirty="0" err="1" smtClean="0"/>
              <a:t>Github</a:t>
            </a:r>
            <a:r>
              <a:rPr lang="fr-FR" sz="1600" dirty="0" smtClean="0"/>
              <a:t>………………………………............................……..p</a:t>
            </a:r>
            <a:r>
              <a:rPr lang="fr-FR" sz="1600" dirty="0"/>
              <a:t>. 8</a:t>
            </a:r>
          </a:p>
          <a:p>
            <a:pPr lvl="2">
              <a:buFont typeface="Wingdings" panose="05000000000000000000" pitchFamily="2" charset="2"/>
              <a:buChar char="§"/>
            </a:pPr>
            <a:r>
              <a:rPr lang="fr-FR" sz="1700" dirty="0" smtClean="0"/>
              <a:t>Editeur de </a:t>
            </a:r>
            <a:r>
              <a:rPr lang="fr-FR" sz="1700" dirty="0" err="1" smtClean="0"/>
              <a:t>text</a:t>
            </a:r>
            <a:r>
              <a:rPr lang="fr-FR" sz="1700" dirty="0" smtClean="0"/>
              <a:t>, IDE et quelques outils</a:t>
            </a:r>
            <a:r>
              <a:rPr lang="fr-FR" sz="1600" dirty="0" smtClean="0"/>
              <a:t>……………..............p</a:t>
            </a:r>
            <a:r>
              <a:rPr lang="fr-FR" sz="1600" dirty="0"/>
              <a:t>.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a:t>
            </a:r>
            <a:r>
              <a:rPr lang="fr-FR" sz="1600" dirty="0" smtClean="0">
                <a:ea typeface="+mn-lt"/>
                <a:cs typeface="+mn-lt"/>
              </a:rPr>
              <a:t>… p</a:t>
            </a:r>
            <a:r>
              <a:rPr lang="fr-FR" sz="1600" dirty="0">
                <a:ea typeface="+mn-lt"/>
                <a:cs typeface="+mn-lt"/>
              </a:rPr>
              <a:t>.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a:t>
            </a:r>
            <a:r>
              <a:rPr lang="fr-FR" sz="1600" dirty="0" smtClean="0">
                <a:ea typeface="+mn-lt"/>
                <a:cs typeface="+mn-lt"/>
              </a:rPr>
              <a:t>………………… </a:t>
            </a:r>
            <a:r>
              <a:rPr lang="fr-FR" sz="1600" dirty="0">
                <a:ea typeface="+mn-lt"/>
                <a:cs typeface="+mn-lt"/>
              </a:rPr>
              <a:t>p. 26</a:t>
            </a:r>
          </a:p>
          <a:p>
            <a:pPr lvl="2">
              <a:buFont typeface="Wingdings" panose="05000000000000000000" pitchFamily="2" charset="2"/>
              <a:buChar char="§"/>
            </a:pPr>
            <a:r>
              <a:rPr lang="fr-FR" sz="1600" dirty="0">
                <a:ea typeface="+mn-lt"/>
                <a:cs typeface="+mn-lt"/>
              </a:rPr>
              <a:t>Création de l’objet application </a:t>
            </a:r>
            <a:r>
              <a:rPr lang="fr-FR" sz="1600" dirty="0" smtClean="0">
                <a:ea typeface="+mn-lt"/>
                <a:cs typeface="+mn-lt"/>
              </a:rPr>
              <a:t>………………………………………… </a:t>
            </a:r>
            <a:r>
              <a:rPr lang="fr-FR" sz="1600" dirty="0">
                <a:ea typeface="+mn-lt"/>
                <a:cs typeface="+mn-lt"/>
              </a:rPr>
              <a:t>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a:t>
            </a:r>
            <a:r>
              <a:rPr lang="fr-FR" sz="1600" dirty="0" smtClean="0">
                <a:ea typeface="+mn-lt"/>
                <a:cs typeface="+mn-lt"/>
              </a:rPr>
              <a:t>…………………………………………………. </a:t>
            </a:r>
            <a:r>
              <a:rPr lang="fr-FR" sz="1600" dirty="0">
                <a:ea typeface="+mn-lt"/>
                <a:cs typeface="+mn-lt"/>
              </a:rPr>
              <a:t>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a:t>
            </a:r>
            <a:r>
              <a:rPr lang="fr-FR" sz="1600" dirty="0" smtClean="0">
                <a:ea typeface="+mn-lt"/>
                <a:cs typeface="+mn-lt"/>
              </a:rPr>
              <a:t>…………………………………. </a:t>
            </a:r>
            <a:r>
              <a:rPr lang="fr-FR" sz="1600" dirty="0">
                <a:ea typeface="+mn-lt"/>
                <a:cs typeface="+mn-lt"/>
              </a:rPr>
              <a:t>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smtClean="0"/>
              <a:t>Remerciements</a:t>
            </a:r>
            <a:endParaRPr lang="fr-FR" dirty="0"/>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a:t>
            </a:r>
            <a:r>
              <a:rPr lang="fr-FR" dirty="0" smtClean="0"/>
              <a:t>m'avoir </a:t>
            </a:r>
            <a:r>
              <a:rPr lang="fr-FR" dirty="0"/>
              <a:t>donné ma chance en validant ma candidature pour la formation</a:t>
            </a:r>
            <a:r>
              <a:rPr lang="fr-FR" dirty="0" smtClean="0"/>
              <a:t>.</a:t>
            </a:r>
            <a:endParaRPr lang="fr-FR" dirty="0"/>
          </a:p>
          <a:p>
            <a:r>
              <a:rPr lang="fr-FR" dirty="0"/>
              <a:t>Je remercie également Moussa Camara, mon formateur qui, par la qualité de son enseignement et sa pédagogie, m'a permis d'acquérir des bases solides en m'aidant pendant les cours et en consacrant son temps libre</a:t>
            </a:r>
            <a:r>
              <a:rPr lang="fr-FR" dirty="0" smtClean="0"/>
              <a:t>.</a:t>
            </a:r>
          </a:p>
          <a:p>
            <a:r>
              <a:rPr lang="fr-FR" sz="2400" dirty="0"/>
              <a:t>Un mot en particulier sur notre professeur d’anglais </a:t>
            </a:r>
            <a:r>
              <a:rPr lang="fr-FR" sz="2400" dirty="0" err="1" smtClean="0"/>
              <a:t>Susannah</a:t>
            </a:r>
            <a:r>
              <a:rPr lang="fr-FR" sz="2400" dirty="0" smtClean="0"/>
              <a:t> </a:t>
            </a:r>
            <a:r>
              <a:rPr lang="fr-FR" sz="2400" dirty="0"/>
              <a:t>pour ses cours intelligents et </a:t>
            </a:r>
            <a:r>
              <a:rPr lang="fr-FR" sz="2400" dirty="0" smtClean="0"/>
              <a:t>intéressants.</a:t>
            </a:r>
            <a:endParaRPr lang="fr-FR" sz="2400" dirty="0"/>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smtClean="0"/>
              <a:t>Période pré</a:t>
            </a:r>
            <a:r>
              <a:rPr lang="en-US" sz="2000" b="1" dirty="0" smtClean="0"/>
              <a:t>formation</a:t>
            </a:r>
            <a:r>
              <a:rPr lang="fr-FR" sz="2000" b="1" dirty="0" smtClean="0"/>
              <a:t>: </a:t>
            </a:r>
            <a:r>
              <a:rPr lang="fr-FR" dirty="0" smtClean="0"/>
              <a:t>Ayant </a:t>
            </a:r>
            <a:r>
              <a:rPr lang="fr-FR" dirty="0"/>
              <a:t>déjà les connaissances en informatique </a:t>
            </a:r>
            <a:r>
              <a:rPr lang="fr-FR" dirty="0" smtClean="0"/>
              <a:t>j’avais décidé de </a:t>
            </a:r>
            <a:r>
              <a:rPr lang="fr-FR" dirty="0"/>
              <a:t>les approfondir par l'inscription en formation.  Parmi celles que j’ai trouvées, la formation “Concepteur Développeur d’Applications” proposée par l’AFPA m’a semblé être la plus prometteuse, et le centre Paris 12eme était la plus proche de chez moi</a:t>
            </a:r>
            <a:r>
              <a:rPr lang="fr-FR" dirty="0" smtClean="0"/>
              <a:t>.</a:t>
            </a:r>
          </a:p>
          <a:p>
            <a:r>
              <a:rPr lang="fr-FR" sz="2000" b="1" dirty="0" smtClean="0"/>
              <a:t>Période de recherche de stage</a:t>
            </a:r>
            <a:r>
              <a:rPr lang="en-US" b="1" dirty="0" smtClean="0"/>
              <a:t>: </a:t>
            </a:r>
            <a:r>
              <a:rPr lang="fr-FR" dirty="0"/>
              <a:t>Malgré mes recherches, je n’ai pas trouvé d’entreprise d’accueil pour effectuer un stage. J’ai donc dû entreprendre la création d’un projet afin de le présenter le jour de l’examen. </a:t>
            </a:r>
            <a:r>
              <a:rPr lang="fr-FR" dirty="0" smtClean="0"/>
              <a:t>Sous </a:t>
            </a:r>
            <a:r>
              <a:rPr lang="fr-FR" dirty="0"/>
              <a:t>les conseils de mon formateur, j’ai décidé de continuer le travail sur mon dernier projet en formation de type réseau sociale. </a:t>
            </a:r>
            <a:r>
              <a:rPr lang="fr-FR" dirty="0" smtClean="0"/>
              <a:t>Ce </a:t>
            </a:r>
            <a:r>
              <a:rPr lang="fr-FR" dirty="0"/>
              <a:t>type de projet était tout indiqué pour exposer l’ensemble des capacités que j‘ai acquises pendant la formation.</a:t>
            </a:r>
            <a:endParaRPr lang="fr-FR" dirty="0" smtClean="0"/>
          </a:p>
          <a:p>
            <a:pPr algn="just"/>
            <a:endParaRPr lang="fr-FR" sz="2000" b="1" dirty="0" smtClean="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a:t>
            </a:r>
            <a:r>
              <a:rPr lang="fr-FR" sz="2000" b="1" dirty="0" smtClean="0"/>
              <a:t>11: </a:t>
            </a:r>
            <a:r>
              <a:rPr lang="fr-FR" sz="2000" dirty="0" smtClean="0"/>
              <a:t>un</a:t>
            </a:r>
            <a:r>
              <a:rPr lang="fr-FR" sz="2000" b="1" dirty="0" smtClean="0"/>
              <a:t> </a:t>
            </a:r>
            <a:r>
              <a:rPr lang="fr-FR" sz="2000" dirty="0" smtClean="0"/>
              <a:t>langage </a:t>
            </a:r>
            <a:r>
              <a:rPr lang="fr-FR" sz="2000" dirty="0"/>
              <a:t>de programmation orienté </a:t>
            </a:r>
            <a:r>
              <a:rPr lang="fr-FR" sz="2000" dirty="0" smtClean="0"/>
              <a:t>objet.</a:t>
            </a:r>
            <a:endParaRPr lang="fr-FR" sz="2000" b="1" dirty="0" smtClean="0"/>
          </a:p>
          <a:p>
            <a:r>
              <a:rPr lang="en-US" sz="1800" b="1" dirty="0" smtClean="0"/>
              <a:t>Typescript 4: </a:t>
            </a:r>
            <a:r>
              <a:rPr lang="fr-FR" sz="1800" dirty="0"/>
              <a:t>un langage de programmation libre et open source </a:t>
            </a:r>
            <a:r>
              <a:rPr lang="fr-FR" sz="1800" dirty="0" smtClean="0"/>
              <a:t>qui </a:t>
            </a:r>
            <a:r>
              <a:rPr lang="fr-FR" sz="1800" dirty="0"/>
              <a:t>a pour but d'améliorer et de sécuriser la production de code JavaScript.</a:t>
            </a:r>
            <a:endParaRPr lang="en-US" sz="1800" b="1" dirty="0" smtClean="0"/>
          </a:p>
          <a:p>
            <a:r>
              <a:rPr lang="fr-FR" sz="1800" b="1" dirty="0" smtClean="0"/>
              <a:t>HTML5</a:t>
            </a:r>
            <a:r>
              <a:rPr lang="fr-FR" sz="1800" b="1" dirty="0"/>
              <a:t> et </a:t>
            </a:r>
            <a:r>
              <a:rPr lang="fr-FR" sz="1800" b="1" dirty="0" smtClean="0"/>
              <a:t>CSS3</a:t>
            </a:r>
          </a:p>
          <a:p>
            <a:r>
              <a:rPr lang="en-US" sz="1800" b="1" dirty="0" smtClean="0"/>
              <a:t>MySQL 8 - </a:t>
            </a:r>
            <a:r>
              <a:rPr lang="fr-FR" sz="1800" dirty="0" smtClean="0"/>
              <a:t>système </a:t>
            </a:r>
            <a:r>
              <a:rPr lang="fr-FR" sz="1800" dirty="0"/>
              <a:t>de gestion de bases de données relationnelles </a:t>
            </a:r>
            <a:r>
              <a:rPr lang="fr-FR" sz="1800" dirty="0" smtClean="0"/>
              <a:t>.</a:t>
            </a:r>
            <a:endParaRPr lang="fr-FR" sz="1800" dirty="0"/>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smtClean="0"/>
              <a:t>Frameworks</a:t>
            </a:r>
            <a:r>
              <a:rPr lang="fr-FR" b="1" dirty="0" smtClean="0"/>
              <a:t> </a:t>
            </a:r>
            <a:r>
              <a:rPr lang="fr-FR" b="1" dirty="0"/>
              <a:t>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smtClean="0"/>
              <a:t>Springboot</a:t>
            </a:r>
            <a:r>
              <a:rPr lang="fr-FR" sz="1900" b="1" dirty="0" smtClean="0"/>
              <a:t> 2.5.4</a:t>
            </a:r>
            <a:r>
              <a:rPr lang="fr-FR" sz="1900" dirty="0"/>
              <a:t> </a:t>
            </a:r>
            <a:r>
              <a:rPr lang="fr-FR" sz="2000" dirty="0"/>
              <a:t>—</a:t>
            </a:r>
            <a:r>
              <a:rPr lang="fr-FR" sz="1900" dirty="0" smtClean="0"/>
              <a:t> Un </a:t>
            </a:r>
            <a:r>
              <a:rPr lang="fr-FR" sz="1900" dirty="0" err="1" smtClean="0"/>
              <a:t>framework</a:t>
            </a:r>
            <a:r>
              <a:rPr lang="fr-FR" sz="1900" dirty="0" smtClean="0"/>
              <a:t> </a:t>
            </a:r>
            <a:r>
              <a:rPr lang="fr-FR" sz="1900" dirty="0"/>
              <a:t>open source qui prisse en charge la création d’objets et la mise en relation d’objets par l’intermédiaire d’un fichier de </a:t>
            </a:r>
            <a:r>
              <a:rPr lang="fr-FR" sz="1900" dirty="0" smtClean="0"/>
              <a:t>configuration.</a:t>
            </a:r>
            <a:endParaRPr lang="fr-FR" sz="2200" dirty="0" smtClean="0">
              <a:solidFill>
                <a:srgbClr val="4A66AC"/>
              </a:solidFill>
            </a:endParaRPr>
          </a:p>
          <a:p>
            <a:pPr marL="274320" lvl="1" indent="0">
              <a:buNone/>
            </a:pPr>
            <a:endParaRPr lang="fr-FR" dirty="0" smtClean="0">
              <a:solidFill>
                <a:srgbClr val="4A66AC"/>
              </a:solidFill>
            </a:endParaRPr>
          </a:p>
          <a:p>
            <a:pPr marL="274320" lvl="1" indent="0">
              <a:buNone/>
            </a:pPr>
            <a:r>
              <a:rPr lang="fr-FR" dirty="0" smtClean="0">
                <a:solidFill>
                  <a:srgbClr val="4A66AC"/>
                </a:solidFill>
              </a:rPr>
              <a:t>Les </a:t>
            </a:r>
            <a:r>
              <a:rPr lang="fr-FR" dirty="0" err="1" smtClean="0">
                <a:solidFill>
                  <a:srgbClr val="4A66AC"/>
                </a:solidFill>
              </a:rPr>
              <a:t>libraries</a:t>
            </a:r>
            <a:r>
              <a:rPr lang="fr-FR" dirty="0" smtClean="0">
                <a:solidFill>
                  <a:srgbClr val="4A66AC"/>
                </a:solidFill>
              </a:rPr>
              <a:t> utilisées</a:t>
            </a:r>
            <a:r>
              <a:rPr lang="fr-FR" sz="2200" dirty="0" smtClean="0">
                <a:solidFill>
                  <a:srgbClr val="4A66AC"/>
                </a:solidFill>
              </a:rPr>
              <a:t>:</a:t>
            </a:r>
          </a:p>
          <a:p>
            <a:pPr lvl="2">
              <a:buFont typeface="Courier New" panose="02070309020205020404" pitchFamily="49" charset="0"/>
              <a:buChar char="o"/>
            </a:pPr>
            <a:r>
              <a:rPr lang="fr-FR" dirty="0"/>
              <a:t>MySQL </a:t>
            </a:r>
            <a:r>
              <a:rPr lang="fr-FR" dirty="0" err="1" smtClean="0"/>
              <a:t>Connector</a:t>
            </a:r>
            <a:r>
              <a:rPr lang="fr-FR" dirty="0"/>
              <a:t> —</a:t>
            </a:r>
            <a:r>
              <a:rPr lang="fr-FR" dirty="0" smtClean="0"/>
              <a:t> </a:t>
            </a:r>
            <a:r>
              <a:rPr lang="fr-FR" dirty="0"/>
              <a:t>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smtClean="0"/>
              <a:t>) </a:t>
            </a:r>
            <a:r>
              <a:rPr lang="fr-FR" dirty="0"/>
              <a:t>—</a:t>
            </a:r>
            <a:r>
              <a:rPr lang="fr-FR" dirty="0" smtClean="0"/>
              <a:t> </a:t>
            </a:r>
            <a:r>
              <a:rPr lang="fr-FR" dirty="0"/>
              <a:t>Bibliothèque la plus facile à utiliser et à comprendre pour créer et vérifier des jetons Web JSON (JWT) sur la JVM. </a:t>
            </a:r>
          </a:p>
          <a:p>
            <a:pPr marL="45720" indent="0">
              <a:buNone/>
            </a:pPr>
            <a:r>
              <a:rPr lang="fr-FR" sz="2000" b="1" dirty="0" err="1" smtClean="0">
                <a:solidFill>
                  <a:srgbClr val="4A66AC"/>
                </a:solidFill>
              </a:rPr>
              <a:t>Angular</a:t>
            </a:r>
            <a:r>
              <a:rPr lang="fr-FR" sz="2000" b="1" dirty="0" smtClean="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r>
              <a:rPr lang="fr-FR" sz="2000" dirty="0" smtClean="0"/>
              <a:t>».</a:t>
            </a:r>
          </a:p>
          <a:p>
            <a:pPr marL="45720" indent="0">
              <a:buNone/>
            </a:pPr>
            <a:r>
              <a:rPr lang="en-US" sz="2000" dirty="0" smtClean="0"/>
              <a:t>    Les libraries </a:t>
            </a:r>
            <a:r>
              <a:rPr lang="en-US" sz="2000" dirty="0" err="1" smtClean="0"/>
              <a:t>utilis</a:t>
            </a:r>
            <a:r>
              <a:rPr lang="fr-FR" sz="2000" dirty="0" err="1" smtClean="0"/>
              <a:t>ées</a:t>
            </a:r>
            <a:r>
              <a:rPr lang="en-US" sz="2000" dirty="0" smtClean="0"/>
              <a:t>:</a:t>
            </a:r>
            <a:endParaRPr lang="fr-FR" sz="2000" dirty="0"/>
          </a:p>
          <a:p>
            <a:pPr lvl="2">
              <a:buFont typeface="Courier New" panose="02070309020205020404" pitchFamily="49" charset="0"/>
              <a:buChar char="o"/>
            </a:pPr>
            <a:r>
              <a:rPr lang="en-US" sz="1600" dirty="0" smtClean="0"/>
              <a:t>Angular Material </a:t>
            </a:r>
            <a:r>
              <a:rPr lang="fr-FR" sz="1600" dirty="0"/>
              <a:t>—</a:t>
            </a:r>
            <a:r>
              <a:rPr lang="fr-FR" sz="1600" dirty="0" smtClean="0"/>
              <a:t> </a:t>
            </a:r>
            <a:r>
              <a:rPr lang="fr-FR" sz="1600" dirty="0"/>
              <a:t>Bibliothèque de composants </a:t>
            </a:r>
            <a:r>
              <a:rPr lang="fr-FR" sz="1600" dirty="0" smtClean="0"/>
              <a:t>UI</a:t>
            </a:r>
          </a:p>
          <a:p>
            <a:pPr lvl="2">
              <a:buFont typeface="Courier New" panose="02070309020205020404" pitchFamily="49" charset="0"/>
              <a:buChar char="o"/>
            </a:pPr>
            <a:r>
              <a:rPr lang="en-US" sz="1600" dirty="0" smtClean="0"/>
              <a:t>ng-infinite-scroll </a:t>
            </a:r>
            <a:r>
              <a:rPr lang="fr-FR" sz="1600" dirty="0" smtClean="0"/>
              <a:t>— Directive </a:t>
            </a:r>
            <a:r>
              <a:rPr lang="fr-FR" sz="1600" dirty="0"/>
              <a:t>"</a:t>
            </a:r>
            <a:r>
              <a:rPr lang="fr-FR" sz="1600" dirty="0" err="1"/>
              <a:t>Infinite</a:t>
            </a:r>
            <a:r>
              <a:rPr lang="fr-FR" sz="1600" dirty="0"/>
              <a:t> Scroll" pour </a:t>
            </a:r>
            <a:r>
              <a:rPr lang="fr-FR" sz="1600" dirty="0" err="1"/>
              <a:t>Angular</a:t>
            </a:r>
            <a:r>
              <a:rPr lang="fr-FR" sz="1600" dirty="0"/>
              <a:t> </a:t>
            </a:r>
            <a:endParaRPr lang="fr-FR" sz="1600" dirty="0" smtClean="0"/>
          </a:p>
          <a:p>
            <a:pPr lvl="2">
              <a:buFont typeface="Courier New" panose="02070309020205020404" pitchFamily="49" charset="0"/>
              <a:buChar char="o"/>
            </a:pPr>
            <a:r>
              <a:rPr lang="en-US" sz="1600" dirty="0" smtClean="0"/>
              <a:t>angular-</a:t>
            </a:r>
            <a:r>
              <a:rPr lang="en-US" sz="1600" dirty="0" err="1" smtClean="0"/>
              <a:t>timesince</a:t>
            </a:r>
            <a:r>
              <a:rPr lang="en-US" sz="1600" dirty="0" smtClean="0"/>
              <a:t> </a:t>
            </a:r>
            <a:r>
              <a:rPr lang="fr-FR" sz="1600" dirty="0"/>
              <a:t>— </a:t>
            </a:r>
            <a:r>
              <a:rPr lang="fr-FR" sz="1600" dirty="0" smtClean="0"/>
              <a:t> une </a:t>
            </a:r>
            <a:r>
              <a:rPr lang="fr-FR" sz="1600" dirty="0"/>
              <a:t>bibliothèque simple et légère qui rend une date </a:t>
            </a:r>
            <a:r>
              <a:rPr lang="fr-FR" sz="1600" dirty="0" err="1"/>
              <a:t>json</a:t>
            </a:r>
            <a:r>
              <a:rPr lang="fr-FR" sz="1600" dirty="0"/>
              <a:t> lisible par l'homme</a:t>
            </a:r>
            <a:endParaRPr lang="en-US" sz="1600" dirty="0" smtClean="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smtClean="0">
                <a:solidFill>
                  <a:schemeClr val="tx2">
                    <a:lumMod val="60000"/>
                    <a:lumOff val="40000"/>
                  </a:schemeClr>
                </a:solidFill>
              </a:rPr>
              <a:t>2.33.0</a:t>
            </a:r>
            <a:r>
              <a:rPr lang="fr-FR" sz="1900" dirty="0" smtClean="0">
                <a:solidFill>
                  <a:schemeClr val="tx2">
                    <a:lumMod val="60000"/>
                    <a:lumOff val="40000"/>
                  </a:schemeClr>
                </a:solidFill>
              </a:rPr>
              <a:t> </a:t>
            </a:r>
            <a:r>
              <a:rPr lang="fr-FR" sz="1900" dirty="0">
                <a:solidFill>
                  <a:schemeClr val="tx2">
                    <a:lumMod val="60000"/>
                    <a:lumOff val="40000"/>
                  </a:schemeClr>
                </a:solidFill>
              </a:rPr>
              <a:t>: </a:t>
            </a:r>
            <a:r>
              <a:rPr lang="fr-FR" sz="1900" dirty="0"/>
              <a:t>Un logiciel de gestion de versions.</a:t>
            </a:r>
            <a:br>
              <a:rPr lang="fr-FR" sz="1900" dirty="0"/>
            </a:br>
            <a:r>
              <a:rPr lang="fr-FR" sz="1900" dirty="0"/>
              <a:t/>
            </a: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a:t>
            </a:r>
            <a:r>
              <a:rPr lang="fr-FR" sz="1900" dirty="0" smtClean="0"/>
              <a:t>l’arbre historique de notre </a:t>
            </a:r>
            <a:r>
              <a:rPr lang="fr-FR" sz="1900" dirty="0" err="1" smtClean="0"/>
              <a:t>depot</a:t>
            </a:r>
            <a:r>
              <a:rPr lang="fr-FR" sz="1900" dirty="0" smtClean="0"/>
              <a:t>, </a:t>
            </a:r>
            <a:r>
              <a:rPr lang="fr-FR" sz="1900" dirty="0"/>
              <a:t>les informations d’un commit (Id (SHA-1), auteur, </a:t>
            </a:r>
            <a:r>
              <a:rPr lang="fr-FR" sz="1900" dirty="0" smtClean="0"/>
              <a:t>le message, la liste de tags), </a:t>
            </a:r>
            <a:r>
              <a:rPr lang="fr-FR" sz="1900" dirty="0"/>
              <a:t>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smtClean="0"/>
              <a:t>Les </a:t>
            </a:r>
            <a:r>
              <a:rPr lang="fr-FR" b="1" dirty="0" err="1" smtClean="0"/>
              <a:t>editeurs</a:t>
            </a:r>
            <a:r>
              <a:rPr lang="fr-FR" b="1" dirty="0" smtClean="0"/>
              <a:t> de </a:t>
            </a:r>
            <a:r>
              <a:rPr lang="fr-FR" b="1" dirty="0" err="1" smtClean="0"/>
              <a:t>text</a:t>
            </a:r>
            <a:r>
              <a:rPr lang="fr-FR" b="1" dirty="0" smtClean="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smtClean="0"/>
              <a:t>Eclipse IDE </a:t>
            </a:r>
            <a:r>
              <a:rPr lang="fr-FR" sz="2000" dirty="0" smtClean="0"/>
              <a:t>— pour </a:t>
            </a:r>
            <a:r>
              <a:rPr lang="fr-FR" sz="2000" dirty="0" err="1" smtClean="0"/>
              <a:t>gerer</a:t>
            </a:r>
            <a:r>
              <a:rPr lang="fr-FR" sz="2000" dirty="0" smtClean="0"/>
              <a:t> la partie back-end en Java.</a:t>
            </a:r>
          </a:p>
          <a:p>
            <a:pPr algn="just"/>
            <a:r>
              <a:rPr lang="en-US" sz="2000" b="1" dirty="0" err="1" smtClean="0"/>
              <a:t>VSCodium</a:t>
            </a:r>
            <a:r>
              <a:rPr lang="en-US" sz="2000" b="1" dirty="0" smtClean="0"/>
              <a:t> </a:t>
            </a:r>
            <a:r>
              <a:rPr lang="fr-FR" sz="2000" dirty="0" smtClean="0"/>
              <a:t>— un </a:t>
            </a:r>
            <a:r>
              <a:rPr lang="fr-FR" sz="2000" dirty="0" err="1" smtClean="0"/>
              <a:t>editeur</a:t>
            </a:r>
            <a:r>
              <a:rPr lang="fr-FR" sz="2000" dirty="0" smtClean="0"/>
              <a:t> </a:t>
            </a:r>
            <a:r>
              <a:rPr lang="fr-FR" sz="2000" dirty="0" err="1" smtClean="0"/>
              <a:t>text</a:t>
            </a:r>
            <a:r>
              <a:rPr lang="fr-FR" sz="2000" dirty="0" smtClean="0"/>
              <a:t>, qui permet de </a:t>
            </a:r>
            <a:r>
              <a:rPr lang="fr-FR" sz="2000" dirty="0" err="1" smtClean="0"/>
              <a:t>gerer</a:t>
            </a:r>
            <a:r>
              <a:rPr lang="fr-FR" sz="2000" dirty="0" smtClean="0"/>
              <a:t> tout types de fichiers, il vient avec le support </a:t>
            </a:r>
            <a:r>
              <a:rPr lang="fr-FR" sz="2000" dirty="0" err="1" smtClean="0"/>
              <a:t>integré</a:t>
            </a:r>
            <a:r>
              <a:rPr lang="fr-FR" sz="2000" dirty="0" smtClean="0"/>
              <a:t> d</a:t>
            </a:r>
            <a:r>
              <a:rPr lang="en-US" sz="2000" dirty="0" smtClean="0"/>
              <a:t>’un terminal et </a:t>
            </a:r>
            <a:r>
              <a:rPr lang="en-US" sz="2000" dirty="0" err="1" smtClean="0"/>
              <a:t>git</a:t>
            </a:r>
            <a:r>
              <a:rPr lang="en-US" sz="2000" dirty="0" smtClean="0"/>
              <a:t>. </a:t>
            </a:r>
            <a:r>
              <a:rPr lang="fr-FR" sz="2000" dirty="0" smtClean="0"/>
              <a:t>Je l’avais utilisé pour </a:t>
            </a:r>
            <a:r>
              <a:rPr lang="fr-FR" sz="2000" dirty="0" err="1" smtClean="0"/>
              <a:t>developpeur</a:t>
            </a:r>
            <a:r>
              <a:rPr lang="fr-FR" sz="2000" dirty="0" smtClean="0"/>
              <a:t> l</a:t>
            </a:r>
            <a:r>
              <a:rPr lang="en-US" sz="2000" dirty="0" smtClean="0"/>
              <a:t>a </a:t>
            </a:r>
            <a:r>
              <a:rPr lang="en-US" sz="2000" dirty="0" err="1" smtClean="0"/>
              <a:t>partie</a:t>
            </a:r>
            <a:r>
              <a:rPr lang="en-US" sz="2000" dirty="0" smtClean="0"/>
              <a:t> front-end de mon </a:t>
            </a:r>
            <a:r>
              <a:rPr lang="en-US" sz="2000" dirty="0" err="1" smtClean="0"/>
              <a:t>projet</a:t>
            </a:r>
            <a:r>
              <a:rPr lang="en-US" sz="2000" dirty="0"/>
              <a:t> </a:t>
            </a:r>
            <a:r>
              <a:rPr lang="en-US" sz="2000" dirty="0" smtClean="0"/>
              <a:t>(html/</a:t>
            </a:r>
            <a:r>
              <a:rPr lang="en-US" sz="2000" dirty="0" err="1" smtClean="0"/>
              <a:t>css</a:t>
            </a:r>
            <a:r>
              <a:rPr lang="en-US" sz="2000" dirty="0" smtClean="0"/>
              <a:t>/typescript).</a:t>
            </a:r>
            <a:endParaRPr lang="fr-FR" sz="2000" b="1" dirty="0" smtClean="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a:t>
            </a:r>
            <a:r>
              <a:rPr lang="fr-FR" dirty="0" smtClean="0"/>
              <a:t>versions :</a:t>
            </a:r>
            <a:br>
              <a:rPr lang="fr-FR" dirty="0" smtClean="0"/>
            </a:br>
            <a:endParaRPr lang="fr-FR" dirty="0" smtClean="0"/>
          </a:p>
          <a:p>
            <a:pPr lvl="1">
              <a:buFont typeface="Wingdings" panose="05000000000000000000" pitchFamily="2" charset="2"/>
              <a:buChar char="§"/>
            </a:pPr>
            <a:r>
              <a:rPr lang="fr-FR" dirty="0" smtClean="0"/>
              <a:t>Squelette </a:t>
            </a:r>
            <a:r>
              <a:rPr lang="fr-FR" dirty="0"/>
              <a:t>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smtClean="0"/>
              <a:t>Ajout </a:t>
            </a:r>
            <a:r>
              <a:rPr lang="fr-FR" dirty="0"/>
              <a:t>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smtClean="0"/>
              <a:t>Ajouter </a:t>
            </a:r>
            <a:r>
              <a:rPr lang="fr-FR" dirty="0"/>
              <a:t>la possibilité de télécharger des photos, d'aimer les photos et de laisser des </a:t>
            </a:r>
            <a:r>
              <a:rPr lang="fr-FR" dirty="0" smtClean="0"/>
              <a:t>commentaires.</a:t>
            </a:r>
            <a:r>
              <a:rPr lang="fr-FR" dirty="0"/>
              <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a:t>
            </a:r>
            <a:r>
              <a:rPr lang="fr-FR" dirty="0" smtClean="0"/>
              <a:t>. Ainsi changer le photo de profil.</a:t>
            </a:r>
            <a:r>
              <a:rPr lang="fr-FR" dirty="0"/>
              <a:t/>
            </a:r>
            <a:br>
              <a:rPr lang="fr-FR" dirty="0"/>
            </a:br>
            <a:endParaRPr lang="fr-FR" dirty="0"/>
          </a:p>
          <a:p>
            <a:pPr lvl="1">
              <a:buFont typeface="Wingdings" panose="05000000000000000000" pitchFamily="2" charset="2"/>
              <a:buChar char="§"/>
            </a:pPr>
            <a:r>
              <a:rPr lang="fr-FR" dirty="0" smtClean="0"/>
              <a:t>Ajout de la pagination.</a:t>
            </a:r>
          </a:p>
          <a:p>
            <a:pPr lvl="1">
              <a:buFont typeface="Wingdings" panose="05000000000000000000" pitchFamily="2" charset="2"/>
              <a:buChar char="§"/>
            </a:pPr>
            <a:endParaRPr lang="fr-FR" dirty="0" smtClean="0"/>
          </a:p>
          <a:p>
            <a:pPr lvl="1">
              <a:buFont typeface="Wingdings" panose="05000000000000000000" pitchFamily="2" charset="2"/>
              <a:buChar char="§"/>
            </a:pPr>
            <a:r>
              <a:rPr lang="fr-FR" dirty="0" smtClean="0"/>
              <a:t>Ajouter </a:t>
            </a:r>
            <a:r>
              <a:rPr lang="fr-FR" dirty="0"/>
              <a:t>des tâches pour s'occuper des publications </a:t>
            </a:r>
            <a:r>
              <a:rPr lang="fr-FR" dirty="0" smtClean="0"/>
              <a:t>ou les photos de profil supprimées</a:t>
            </a:r>
            <a:r>
              <a:rPr lang="fr-FR" dirty="0"/>
              <a:t>.</a:t>
            </a:r>
          </a:p>
          <a:p>
            <a:pPr marL="45720" indent="0">
              <a:buNone/>
            </a:pPr>
            <a:r>
              <a:rPr lang="fr-FR" dirty="0" smtClean="0"/>
              <a:t/>
            </a:r>
            <a:br>
              <a:rPr lang="fr-FR" dirty="0" smtClean="0"/>
            </a:br>
            <a:r>
              <a:rPr lang="fr-FR" dirty="0" smtClean="0"/>
              <a:t>La version utilisée pour le rapport du stage est avec MySQL</a:t>
            </a:r>
            <a:r>
              <a:rPr lang="fr-FR" dirty="0"/>
              <a:t>.</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smtClean="0"/>
              <a:t>Spring</a:t>
            </a:r>
            <a:r>
              <a:rPr lang="fr-FR" dirty="0" smtClean="0"/>
              <a:t> Boot et </a:t>
            </a:r>
            <a:r>
              <a:rPr lang="fr-FR" dirty="0" err="1" smtClean="0"/>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a:t>
            </a:r>
            <a:r>
              <a:rPr lang="fr-FR" dirty="0" smtClean="0"/>
              <a:t>. </a:t>
            </a:r>
          </a:p>
          <a:p>
            <a:r>
              <a:rPr lang="fr-FR" dirty="0"/>
              <a:t>l</a:t>
            </a:r>
            <a:r>
              <a:rPr lang="fr-FR" dirty="0" smtClean="0"/>
              <a:t>a </a:t>
            </a:r>
            <a:r>
              <a:rPr lang="fr-FR" dirty="0"/>
              <a:t>meilleure </a:t>
            </a:r>
            <a:r>
              <a:rPr lang="fr-FR" dirty="0" smtClean="0"/>
              <a:t>façon de mapper les entités</a:t>
            </a:r>
          </a:p>
          <a:p>
            <a:r>
              <a:rPr lang="fr-FR" dirty="0"/>
              <a:t>transfert de la logique aux </a:t>
            </a:r>
            <a:r>
              <a:rPr lang="fr-FR" dirty="0" smtClean="0"/>
              <a:t>services</a:t>
            </a:r>
          </a:p>
          <a:p>
            <a:r>
              <a:rPr lang="fr-FR" dirty="0"/>
              <a:t>traitement des exceptions et des réponses </a:t>
            </a:r>
            <a:r>
              <a:rPr lang="fr-FR" dirty="0" smtClean="0"/>
              <a:t>api</a:t>
            </a:r>
          </a:p>
          <a:p>
            <a:r>
              <a:rPr lang="fr-FR" dirty="0"/>
              <a:t>observables </a:t>
            </a:r>
            <a:r>
              <a:rPr lang="fr-FR" dirty="0" err="1" smtClean="0"/>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 xmlns:asvg="http://schemas.microsoft.com/office/drawing/2016/SVG/main" r:embed="rId6"/>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smtClean="0">
                <a:solidFill>
                  <a:schemeClr val="tx1"/>
                </a:solidFill>
              </a:rPr>
              <a:t>entités</a:t>
            </a:r>
            <a:endParaRPr lang="fr-FR" sz="1200" dirty="0">
              <a:solidFill>
                <a:schemeClr val="tx1"/>
              </a:solidFill>
            </a:endParaRP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smtClean="0">
                <a:solidFill>
                  <a:schemeClr val="tx1"/>
                </a:solidFill>
              </a:rPr>
              <a:t>service</a:t>
            </a:r>
            <a:endParaRPr lang="fr-FR" sz="1200" dirty="0">
              <a:solidFill>
                <a:schemeClr val="tx1"/>
              </a:solidFill>
            </a:endParaRP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a:t>
            </a:r>
            <a:r>
              <a:rPr lang="fr-FR" i="1" dirty="0" smtClean="0">
                <a:solidFill>
                  <a:schemeClr val="tx2">
                    <a:lumMod val="60000"/>
                    <a:lumOff val="40000"/>
                  </a:schemeClr>
                </a:solidFill>
              </a:rPr>
              <a:t>REST API</a:t>
            </a:r>
            <a:r>
              <a:rPr lang="fr-FR" i="1" dirty="0">
                <a:solidFill>
                  <a:schemeClr val="tx2">
                    <a:lumMod val="60000"/>
                    <a:lumOff val="40000"/>
                  </a:schemeClr>
                </a:solidFill>
              </a:rPr>
              <a:t>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smtClean="0">
                <a:solidFill>
                  <a:schemeClr val="tx1"/>
                </a:solidFill>
              </a:rPr>
              <a:t>dao</a:t>
            </a:r>
            <a:endParaRPr lang="fr-FR" sz="1200" dirty="0">
              <a:solidFill>
                <a:schemeClr val="tx1"/>
              </a:solidFill>
            </a:endParaRP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smtClean="0"/>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smtClean="0"/>
              <a:t>HTML</a:t>
            </a:r>
          </a:p>
          <a:p>
            <a:pPr algn="ctr"/>
            <a:r>
              <a:rPr lang="en-US" dirty="0" smtClean="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smtClean="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smtClean="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smtClean="0"/>
          </a:p>
          <a:p>
            <a:pPr algn="ctr"/>
            <a:r>
              <a:rPr lang="fr-FR" sz="3200" dirty="0" smtClean="0"/>
              <a:t>Structure </a:t>
            </a:r>
            <a:r>
              <a:rPr lang="fr-FR" sz="3200" dirty="0" smtClean="0"/>
              <a:t>de Back-End</a:t>
            </a:r>
            <a:endParaRPr lang="fr-FR" sz="3200" dirty="0" smtClean="0"/>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smtClean="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p:nvPr/>
        </p:nvCxnSpPr>
        <p:spPr>
          <a:xfrm flipH="1" flipV="1">
            <a:off x="3534032" y="1878227"/>
            <a:ext cx="1713472" cy="238897"/>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830997"/>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écouteurs d'événements et des événements qui sont publiés lorsque l'utilisateur a terminé l'enregistrement ou demandé une réinitialisation du mot de </a:t>
            </a:r>
            <a:r>
              <a:rPr lang="fr-FR" sz="1200" dirty="0" smtClean="0">
                <a:solidFill>
                  <a:schemeClr val="accent1">
                    <a:lumMod val="75000"/>
                  </a:schemeClr>
                </a:solidFill>
              </a:rPr>
              <a:t>passe</a:t>
            </a:r>
            <a:endParaRPr lang="fr-FR" sz="1200" b="1" dirty="0">
              <a:solidFill>
                <a:schemeClr val="accent1">
                  <a:lumMod val="75000"/>
                </a:schemeClr>
              </a:solidFill>
            </a:endParaRPr>
          </a:p>
        </p:txBody>
      </p:sp>
      <p:sp>
        <p:nvSpPr>
          <p:cNvPr id="16" name="ZoneTexte 15"/>
          <p:cNvSpPr txBox="1"/>
          <p:nvPr/>
        </p:nvSpPr>
        <p:spPr>
          <a:xfrm>
            <a:off x="460933" y="2368631"/>
            <a:ext cx="3379316" cy="1015663"/>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a:t>
            </a:r>
            <a:r>
              <a:rPr lang="fr-FR" sz="1200" dirty="0" smtClean="0">
                <a:solidFill>
                  <a:schemeClr val="accent1">
                    <a:lumMod val="75000"/>
                  </a:schemeClr>
                </a:solidFill>
              </a:rPr>
              <a:t>requête</a:t>
            </a:r>
            <a:endParaRPr lang="fr-FR" sz="1200" dirty="0">
              <a:solidFill>
                <a:schemeClr val="accent1">
                  <a:lumMod val="75000"/>
                </a:schemeClr>
              </a:solidFill>
            </a:endParaRPr>
          </a:p>
        </p:txBody>
      </p:sp>
      <p:cxnSp>
        <p:nvCxnSpPr>
          <p:cNvPr id="18" name="Connecteur droit avec flèche 17"/>
          <p:cNvCxnSpPr/>
          <p:nvPr/>
        </p:nvCxnSpPr>
        <p:spPr>
          <a:xfrm flipH="1">
            <a:off x="3749632" y="2529535"/>
            <a:ext cx="1868573" cy="46080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51581" y="3497222"/>
            <a:ext cx="2850292" cy="1015663"/>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entités, qui sont stockées dans la base de données, et le </a:t>
            </a:r>
            <a:r>
              <a:rPr lang="fr-FR" sz="1200" dirty="0" smtClean="0">
                <a:solidFill>
                  <a:schemeClr val="accent1">
                    <a:lumMod val="75000"/>
                  </a:schemeClr>
                </a:solidFill>
              </a:rPr>
              <a:t>dao (</a:t>
            </a:r>
            <a:r>
              <a:rPr lang="fr-FR" sz="1200" dirty="0" err="1" smtClean="0">
                <a:solidFill>
                  <a:schemeClr val="accent1">
                    <a:lumMod val="75000"/>
                  </a:schemeClr>
                </a:solidFill>
              </a:rPr>
              <a:t>repository</a:t>
            </a:r>
            <a:r>
              <a:rPr lang="fr-FR" sz="1200" dirty="0" smtClean="0">
                <a:solidFill>
                  <a:schemeClr val="accent1">
                    <a:lumMod val="75000"/>
                  </a:schemeClr>
                </a:solidFill>
              </a:rPr>
              <a:t>) - mécanisme </a:t>
            </a:r>
            <a:r>
              <a:rPr lang="fr-FR" sz="1200" dirty="0">
                <a:solidFill>
                  <a:schemeClr val="accent1">
                    <a:lumMod val="75000"/>
                  </a:schemeClr>
                </a:solidFill>
              </a:rPr>
              <a:t>pour encapsuler le stockage, la récupération et le comportement de </a:t>
            </a:r>
            <a:r>
              <a:rPr lang="fr-FR" sz="1200" dirty="0" smtClean="0">
                <a:solidFill>
                  <a:schemeClr val="accent1">
                    <a:lumMod val="75000"/>
                  </a:schemeClr>
                </a:solidFill>
              </a:rPr>
              <a:t>recherche</a:t>
            </a:r>
            <a:endParaRPr lang="fr-FR" sz="1200" dirty="0">
              <a:solidFill>
                <a:schemeClr val="accent1">
                  <a:lumMod val="75000"/>
                </a:schemeClr>
              </a:solidFill>
            </a:endParaRPr>
          </a:p>
        </p:txBody>
      </p:sp>
      <p:cxnSp>
        <p:nvCxnSpPr>
          <p:cNvPr id="21" name="Connecteur droit avec flèche 20"/>
          <p:cNvCxnSpPr/>
          <p:nvPr/>
        </p:nvCxnSpPr>
        <p:spPr>
          <a:xfrm flipH="1">
            <a:off x="3301873" y="2876462"/>
            <a:ext cx="2279778" cy="100356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1581" y="4633099"/>
            <a:ext cx="2817341" cy="646331"/>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services qui sont utilisés pour écrire la logique dans une couche différente, séparée des contrôleurs </a:t>
            </a:r>
            <a:r>
              <a:rPr lang="fr-FR" sz="1200" dirty="0" smtClean="0">
                <a:solidFill>
                  <a:schemeClr val="accent1">
                    <a:lumMod val="75000"/>
                  </a:schemeClr>
                </a:solidFill>
              </a:rPr>
              <a:t>REST</a:t>
            </a:r>
            <a:endParaRPr lang="fr-FR" sz="1200" dirty="0">
              <a:solidFill>
                <a:schemeClr val="accent1">
                  <a:lumMod val="75000"/>
                </a:schemeClr>
              </a:solidFill>
            </a:endParaRPr>
          </a:p>
        </p:txBody>
      </p:sp>
      <p:cxnSp>
        <p:nvCxnSpPr>
          <p:cNvPr id="26" name="Connecteur droit avec flèche 25"/>
          <p:cNvCxnSpPr/>
          <p:nvPr/>
        </p:nvCxnSpPr>
        <p:spPr>
          <a:xfrm flipH="1">
            <a:off x="3212757" y="3497222"/>
            <a:ext cx="2368894" cy="1437243"/>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79430"/>
            <a:ext cx="2840940" cy="1015663"/>
          </a:xfrm>
          <a:prstGeom prst="rect">
            <a:avLst/>
          </a:prstGeom>
          <a:noFill/>
        </p:spPr>
        <p:txBody>
          <a:bodyPr wrap="square" rtlCol="0">
            <a:spAutoFit/>
          </a:bodyPr>
          <a:lstStyle/>
          <a:p>
            <a:r>
              <a:rPr lang="fr-FR" sz="1200" dirty="0">
                <a:solidFill>
                  <a:schemeClr val="accent1">
                    <a:lumMod val="75000"/>
                  </a:schemeClr>
                </a:solidFill>
              </a:rPr>
              <a:t>c</a:t>
            </a:r>
            <a:r>
              <a:rPr lang="fr-FR" sz="1200" dirty="0" smtClean="0">
                <a:solidFill>
                  <a:schemeClr val="accent1">
                    <a:lumMod val="75000"/>
                  </a:schemeClr>
                </a:solidFill>
              </a:rPr>
              <a:t>ontient </a:t>
            </a:r>
            <a:r>
              <a:rPr lang="fr-FR" sz="1200" dirty="0">
                <a:solidFill>
                  <a:schemeClr val="accent1">
                    <a:lumMod val="75000"/>
                  </a:schemeClr>
                </a:solidFill>
              </a:rPr>
              <a:t>des configurations </a:t>
            </a:r>
            <a:r>
              <a:rPr lang="fr-FR" sz="1200" dirty="0" err="1" smtClean="0">
                <a:solidFill>
                  <a:schemeClr val="accent1">
                    <a:lumMod val="75000"/>
                  </a:schemeClr>
                </a:solidFill>
              </a:rPr>
              <a:t>Spring</a:t>
            </a:r>
            <a:r>
              <a:rPr lang="fr-FR" sz="1200" dirty="0" smtClean="0">
                <a:solidFill>
                  <a:schemeClr val="accent1">
                    <a:lumMod val="75000"/>
                  </a:schemeClr>
                </a:solidFill>
              </a:rPr>
              <a:t>. </a:t>
            </a:r>
            <a:r>
              <a:rPr lang="fr-FR" sz="1200" dirty="0">
                <a:solidFill>
                  <a:schemeClr val="accent1">
                    <a:lumMod val="75000"/>
                  </a:schemeClr>
                </a:solidFill>
              </a:rPr>
              <a:t>Une configuration Web pour permettre l'accès aux contrôleurs en fonction des autorisations, et la configuration qui permet la planification des tâches</a:t>
            </a:r>
          </a:p>
        </p:txBody>
      </p:sp>
      <p:cxnSp>
        <p:nvCxnSpPr>
          <p:cNvPr id="29" name="Connecteur droit avec flèche 28"/>
          <p:cNvCxnSpPr/>
          <p:nvPr/>
        </p:nvCxnSpPr>
        <p:spPr>
          <a:xfrm flipH="1">
            <a:off x="3155092" y="3880022"/>
            <a:ext cx="2463114" cy="188166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21908" y="1134174"/>
            <a:ext cx="3303373" cy="830997"/>
          </a:xfrm>
          <a:prstGeom prst="rect">
            <a:avLst/>
          </a:prstGeom>
          <a:noFill/>
        </p:spPr>
        <p:txBody>
          <a:bodyPr wrap="square" rtlCol="0">
            <a:spAutoFit/>
          </a:bodyPr>
          <a:lstStyle/>
          <a:p>
            <a:r>
              <a:rPr lang="fr-FR" sz="1200" dirty="0">
                <a:solidFill>
                  <a:schemeClr val="accent1">
                    <a:lumMod val="75000"/>
                  </a:schemeClr>
                </a:solidFill>
              </a:rPr>
              <a:t>contient des tâches de planification qui prennent en charge la suppression des fichiers, qui ne sont plus référencés dans la base de données, du stockage du </a:t>
            </a:r>
            <a:r>
              <a:rPr lang="fr-FR" sz="1200" dirty="0" smtClean="0">
                <a:solidFill>
                  <a:schemeClr val="accent1">
                    <a:lumMod val="75000"/>
                  </a:schemeClr>
                </a:solidFill>
              </a:rPr>
              <a:t>serveur</a:t>
            </a:r>
            <a:endParaRPr lang="fr-FR" sz="1200" dirty="0">
              <a:solidFill>
                <a:schemeClr val="accent1">
                  <a:lumMod val="75000"/>
                </a:schemeClr>
              </a:solidFill>
            </a:endParaRPr>
          </a:p>
        </p:txBody>
      </p:sp>
      <p:cxnSp>
        <p:nvCxnSpPr>
          <p:cNvPr id="33" name="Connecteur droit avec flèche 32"/>
          <p:cNvCxnSpPr/>
          <p:nvPr/>
        </p:nvCxnSpPr>
        <p:spPr>
          <a:xfrm flipV="1">
            <a:off x="6109754" y="1771135"/>
            <a:ext cx="2111608" cy="225716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16196" y="2042745"/>
            <a:ext cx="3171568" cy="830997"/>
          </a:xfrm>
          <a:prstGeom prst="rect">
            <a:avLst/>
          </a:prstGeom>
          <a:noFill/>
        </p:spPr>
        <p:txBody>
          <a:bodyPr wrap="square" rtlCol="0">
            <a:spAutoFit/>
          </a:bodyPr>
          <a:lstStyle/>
          <a:p>
            <a:r>
              <a:rPr lang="fr-FR" sz="1200" dirty="0">
                <a:solidFill>
                  <a:schemeClr val="accent1">
                    <a:lumMod val="75000"/>
                  </a:schemeClr>
                </a:solidFill>
              </a:rPr>
              <a:t>contient des validateurs de contraintes, utilisés pour valider les demandes d'inscription, les demandes de connexion et les jetons de récupération de mot de </a:t>
            </a:r>
            <a:r>
              <a:rPr lang="fr-FR" sz="1200" dirty="0" smtClean="0">
                <a:solidFill>
                  <a:schemeClr val="accent1">
                    <a:lumMod val="75000"/>
                  </a:schemeClr>
                </a:solidFill>
              </a:rPr>
              <a:t>passe</a:t>
            </a:r>
            <a:endParaRPr lang="fr-FR" sz="1200" dirty="0">
              <a:solidFill>
                <a:schemeClr val="accent1">
                  <a:lumMod val="75000"/>
                </a:schemeClr>
              </a:solidFill>
            </a:endParaRPr>
          </a:p>
        </p:txBody>
      </p:sp>
      <p:cxnSp>
        <p:nvCxnSpPr>
          <p:cNvPr id="36" name="Connecteur droit avec flèche 35"/>
          <p:cNvCxnSpPr/>
          <p:nvPr/>
        </p:nvCxnSpPr>
        <p:spPr>
          <a:xfrm flipV="1">
            <a:off x="6532605" y="2759935"/>
            <a:ext cx="1683591" cy="145590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254313" y="29513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p:nvPr/>
        </p:nvCxnSpPr>
        <p:spPr>
          <a:xfrm flipV="1">
            <a:off x="6672649" y="3487889"/>
            <a:ext cx="1581664" cy="114521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283324" y="3741522"/>
            <a:ext cx="3001644" cy="276999"/>
          </a:xfrm>
          <a:prstGeom prst="rect">
            <a:avLst/>
          </a:prstGeom>
          <a:noFill/>
        </p:spPr>
        <p:txBody>
          <a:bodyPr wrap="square" rtlCol="0">
            <a:spAutoFit/>
          </a:bodyPr>
          <a:lstStyle/>
          <a:p>
            <a:r>
              <a:rPr lang="en-US" sz="1200" dirty="0" err="1">
                <a:solidFill>
                  <a:schemeClr val="accent1">
                    <a:lumMod val="75000"/>
                  </a:schemeClr>
                </a:solidFill>
              </a:rPr>
              <a:t>c</a:t>
            </a:r>
            <a:r>
              <a:rPr lang="en-US" sz="1200" dirty="0" err="1" smtClean="0">
                <a:solidFill>
                  <a:schemeClr val="accent1">
                    <a:lumMod val="75000"/>
                  </a:schemeClr>
                </a:solidFill>
              </a:rPr>
              <a:t>ontient</a:t>
            </a:r>
            <a:r>
              <a:rPr lang="en-US" sz="1200" dirty="0" smtClean="0">
                <a:solidFill>
                  <a:schemeClr val="accent1">
                    <a:lumMod val="75000"/>
                  </a:schemeClr>
                </a:solidFill>
              </a:rPr>
              <a:t> </a:t>
            </a:r>
            <a:r>
              <a:rPr lang="en-US" sz="1200" dirty="0">
                <a:solidFill>
                  <a:schemeClr val="accent1">
                    <a:lumMod val="75000"/>
                  </a:schemeClr>
                </a:solidFill>
              </a:rPr>
              <a:t>les </a:t>
            </a:r>
            <a:r>
              <a:rPr lang="en-US" sz="1200" dirty="0" err="1" smtClean="0">
                <a:solidFill>
                  <a:schemeClr val="accent1">
                    <a:lumMod val="75000"/>
                  </a:schemeClr>
                </a:solidFill>
              </a:rPr>
              <a:t>contrôleurs</a:t>
            </a:r>
            <a:r>
              <a:rPr lang="en-US" sz="1200" dirty="0" smtClean="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p:nvPr/>
        </p:nvCxnSpPr>
        <p:spPr>
          <a:xfrm flipV="1">
            <a:off x="6870357" y="4005053"/>
            <a:ext cx="1491048" cy="815803"/>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smtClean="0">
                <a:solidFill>
                  <a:schemeClr val="accent1">
                    <a:lumMod val="75000"/>
                  </a:schemeClr>
                </a:solidFill>
              </a:rPr>
              <a:t>des objets de transfert de données qui ne contiennent pas de logique mais des mécanismes de sérialisation et de </a:t>
            </a:r>
            <a:r>
              <a:rPr lang="fr-FR" sz="1200" dirty="0" err="1" smtClean="0">
                <a:solidFill>
                  <a:schemeClr val="accent1">
                    <a:lumMod val="75000"/>
                  </a:schemeClr>
                </a:solidFill>
              </a:rPr>
              <a:t>désérialisation</a:t>
            </a:r>
            <a:r>
              <a:rPr lang="fr-FR" sz="1200" dirty="0" smtClean="0">
                <a:solidFill>
                  <a:schemeClr val="accent1">
                    <a:lumMod val="75000"/>
                  </a:schemeClr>
                </a:solidFill>
              </a:rPr>
              <a:t> pour le transfert de données.</a:t>
            </a:r>
            <a:endParaRPr lang="fr-FR" sz="1200" dirty="0">
              <a:solidFill>
                <a:schemeClr val="accent1">
                  <a:lumMod val="75000"/>
                </a:schemeClr>
              </a:solidFill>
            </a:endParaRP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310496" y="5174127"/>
            <a:ext cx="2674342" cy="1384995"/>
          </a:xfrm>
          <a:prstGeom prst="rect">
            <a:avLst/>
          </a:prstGeom>
          <a:noFill/>
        </p:spPr>
        <p:txBody>
          <a:bodyPr wrap="square" rtlCol="0">
            <a:spAutoFit/>
          </a:bodyPr>
          <a:lstStyle/>
          <a:p>
            <a:r>
              <a:rPr lang="fr-FR" sz="1200" dirty="0" smtClean="0">
                <a:solidFill>
                  <a:schemeClr val="accent1">
                    <a:lumMod val="75000"/>
                  </a:schemeClr>
                </a:solidFill>
              </a:rPr>
              <a:t>contient les exceptions qui sont lancées pendant le traitement des demandes, et un gestionnaire d'exception, qui gère toutes les exceptions et envoie au client une erreur lisible par l'homme au lieu d'un </a:t>
            </a:r>
            <a:r>
              <a:rPr lang="fr-FR" sz="1200" dirty="0" err="1" smtClean="0">
                <a:solidFill>
                  <a:schemeClr val="accent1">
                    <a:lumMod val="75000"/>
                  </a:schemeClr>
                </a:solidFill>
              </a:rPr>
              <a:t>backtrace</a:t>
            </a:r>
            <a:r>
              <a:rPr lang="fr-FR" sz="1200" dirty="0" smtClean="0">
                <a:solidFill>
                  <a:schemeClr val="accent1">
                    <a:lumMod val="75000"/>
                  </a:schemeClr>
                </a:solidFill>
              </a:rPr>
              <a:t>, en utilisant l'objet </a:t>
            </a:r>
            <a:r>
              <a:rPr lang="fr-FR" sz="1200" dirty="0" err="1" smtClean="0">
                <a:solidFill>
                  <a:schemeClr val="accent1">
                    <a:lumMod val="75000"/>
                  </a:schemeClr>
                </a:solidFill>
              </a:rPr>
              <a:t>ApiError</a:t>
            </a:r>
            <a:r>
              <a:rPr lang="fr-FR" sz="1200" dirty="0" smtClean="0">
                <a:solidFill>
                  <a:schemeClr val="accent1">
                    <a:lumMod val="75000"/>
                  </a:schemeClr>
                </a:solidFill>
              </a:rPr>
              <a:t>.</a:t>
            </a:r>
            <a:endParaRPr lang="fr-FR" sz="1200" dirty="0">
              <a:solidFill>
                <a:schemeClr val="accent1">
                  <a:lumMod val="75000"/>
                </a:schemeClr>
              </a:solidFill>
            </a:endParaRPr>
          </a:p>
        </p:txBody>
      </p:sp>
      <p:cxnSp>
        <p:nvCxnSpPr>
          <p:cNvPr id="48" name="Connecteur droit avec flèche 47"/>
          <p:cNvCxnSpPr/>
          <p:nvPr/>
        </p:nvCxnSpPr>
        <p:spPr>
          <a:xfrm>
            <a:off x="6763265" y="5552303"/>
            <a:ext cx="1598140" cy="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222407" y="5935421"/>
            <a:ext cx="3417667" cy="646331"/>
          </a:xfrm>
          <a:prstGeom prst="rect">
            <a:avLst/>
          </a:prstGeom>
          <a:noFill/>
        </p:spPr>
        <p:txBody>
          <a:bodyPr wrap="square" rtlCol="0">
            <a:spAutoFit/>
          </a:bodyPr>
          <a:lstStyle/>
          <a:p>
            <a:r>
              <a:rPr lang="fr-FR" sz="1200" dirty="0">
                <a:solidFill>
                  <a:schemeClr val="accent1">
                    <a:lumMod val="75000"/>
                  </a:schemeClr>
                </a:solidFill>
              </a:rPr>
              <a:t>contient les propriétés de l'application (propriétés de la source de données, propriétés du servlet, propriétés du serveur et minuteries </a:t>
            </a:r>
            <a:r>
              <a:rPr lang="fr-FR" sz="1200" dirty="0" err="1">
                <a:solidFill>
                  <a:schemeClr val="accent1">
                    <a:lumMod val="75000"/>
                  </a:schemeClr>
                </a:solidFill>
              </a:rPr>
              <a:t>cron</a:t>
            </a:r>
            <a:r>
              <a:rPr lang="fr-FR" sz="1200" dirty="0">
                <a:solidFill>
                  <a:schemeClr val="accent1">
                    <a:lumMod val="75000"/>
                  </a:schemeClr>
                </a:solidFill>
              </a:rPr>
              <a:t>).</a:t>
            </a:r>
          </a:p>
        </p:txBody>
      </p:sp>
      <p:cxnSp>
        <p:nvCxnSpPr>
          <p:cNvPr id="51" name="Connecteur droit avec flèche 50"/>
          <p:cNvCxnSpPr/>
          <p:nvPr/>
        </p:nvCxnSpPr>
        <p:spPr>
          <a:xfrm>
            <a:off x="5016843" y="5761690"/>
            <a:ext cx="8238" cy="276645"/>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pic>
        <p:nvPicPr>
          <p:cNvPr id="9" name="Content Placeholder 8">
            <a:extLst>
              <a:ext uri="{FF2B5EF4-FFF2-40B4-BE49-F238E27FC236}">
                <a16:creationId xmlns:a16="http://schemas.microsoft.com/office/drawing/2014/main" id="{8ECD9798-120A-418D-8F34-D7A87771A4F4}"/>
              </a:ext>
            </a:extLst>
          </p:cNvPr>
          <p:cNvPicPr>
            <a:picLocks noGrp="1" noChangeAspect="1"/>
          </p:cNvPicPr>
          <p:nvPr>
            <p:ph idx="1"/>
          </p:nvPr>
        </p:nvPicPr>
        <p:blipFill>
          <a:blip r:embed="rId2"/>
          <a:stretch>
            <a:fillRect/>
          </a:stretch>
        </p:blipFill>
        <p:spPr>
          <a:xfrm>
            <a:off x="1457790" y="1205649"/>
            <a:ext cx="8977737" cy="5040000"/>
          </a:xfrm>
        </p:spPr>
      </p:pic>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5810286" y="3938113"/>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spTree>
    <p:extLst>
      <p:ext uri="{BB962C8B-B14F-4D97-AF65-F5344CB8AC3E}">
        <p14:creationId xmlns:p14="http://schemas.microsoft.com/office/powerpoint/2010/main" val="60202888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pic>
        <p:nvPicPr>
          <p:cNvPr id="7" name="Content Placeholder 6">
            <a:extLst>
              <a:ext uri="{FF2B5EF4-FFF2-40B4-BE49-F238E27FC236}">
                <a16:creationId xmlns:a16="http://schemas.microsoft.com/office/drawing/2014/main" id="{485B43BF-07D2-47C5-B39E-DC633DD52CC8}"/>
              </a:ext>
            </a:extLst>
          </p:cNvPr>
          <p:cNvPicPr>
            <a:picLocks noGrp="1" noChangeAspect="1"/>
          </p:cNvPicPr>
          <p:nvPr>
            <p:ph idx="1"/>
          </p:nvPr>
        </p:nvPicPr>
        <p:blipFill>
          <a:blip r:embed="rId2"/>
          <a:stretch>
            <a:fillRect/>
          </a:stretch>
        </p:blipFill>
        <p:spPr>
          <a:xfrm>
            <a:off x="8205089" y="2340600"/>
            <a:ext cx="1977549" cy="1656000"/>
          </a:xfrm>
        </p:spPr>
      </p:pic>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1907450" y="1769426"/>
            <a:ext cx="3863967" cy="369332"/>
          </a:xfrm>
          <a:prstGeom prst="rect">
            <a:avLst/>
          </a:prstGeom>
          <a:noFill/>
        </p:spPr>
        <p:txBody>
          <a:bodyPr wrap="square" rtlCol="0">
            <a:spAutoFit/>
          </a:bodyPr>
          <a:lstStyle/>
          <a:p>
            <a:r>
              <a:rPr lang="fr-FR" i="1" dirty="0">
                <a:solidFill>
                  <a:srgbClr val="4A66AC"/>
                </a:solidFill>
              </a:rPr>
              <a:t>Classes Mapping Objet-Relationnel</a:t>
            </a:r>
          </a:p>
        </p:txBody>
      </p:sp>
      <p:sp>
        <p:nvSpPr>
          <p:cNvPr id="14" name="TextBox 13">
            <a:extLst>
              <a:ext uri="{FF2B5EF4-FFF2-40B4-BE49-F238E27FC236}">
                <a16:creationId xmlns:a16="http://schemas.microsoft.com/office/drawing/2014/main" id="{11ADCE39-CB35-4C06-889F-0D7A28EDE3A1}"/>
              </a:ext>
            </a:extLst>
          </p:cNvPr>
          <p:cNvSpPr txBox="1"/>
          <p:nvPr/>
        </p:nvSpPr>
        <p:spPr>
          <a:xfrm>
            <a:off x="7267700" y="1756280"/>
            <a:ext cx="4227614" cy="369332"/>
          </a:xfrm>
          <a:prstGeom prst="rect">
            <a:avLst/>
          </a:prstGeom>
          <a:noFill/>
        </p:spPr>
        <p:txBody>
          <a:bodyPr wrap="square" rtlCol="0">
            <a:spAutoFit/>
          </a:bodyPr>
          <a:lstStyle/>
          <a:p>
            <a:r>
              <a:rPr lang="fr-FR" i="1" dirty="0">
                <a:solidFill>
                  <a:schemeClr val="tx2">
                    <a:lumMod val="60000"/>
                    <a:lumOff val="40000"/>
                  </a:schemeClr>
                </a:solidFill>
              </a:rPr>
              <a:t>Classe statique utilitaire non persistée</a:t>
            </a:r>
          </a:p>
        </p:txBody>
      </p:sp>
      <p:pic>
        <p:nvPicPr>
          <p:cNvPr id="5" name="Picture 4">
            <a:extLst>
              <a:ext uri="{FF2B5EF4-FFF2-40B4-BE49-F238E27FC236}">
                <a16:creationId xmlns:a16="http://schemas.microsoft.com/office/drawing/2014/main" id="{7C78F40B-1821-4590-802F-26BBE9318B1C}"/>
              </a:ext>
            </a:extLst>
          </p:cNvPr>
          <p:cNvPicPr>
            <a:picLocks noChangeAspect="1"/>
          </p:cNvPicPr>
          <p:nvPr/>
        </p:nvPicPr>
        <p:blipFill>
          <a:blip r:embed="rId3"/>
          <a:stretch>
            <a:fillRect/>
          </a:stretch>
        </p:blipFill>
        <p:spPr>
          <a:xfrm>
            <a:off x="1752823" y="2425593"/>
            <a:ext cx="5232857" cy="3600000"/>
          </a:xfrm>
          <a:prstGeom prst="rect">
            <a:avLst/>
          </a:prstGeom>
        </p:spPr>
      </p:pic>
    </p:spTree>
    <p:extLst>
      <p:ext uri="{BB962C8B-B14F-4D97-AF65-F5344CB8AC3E}">
        <p14:creationId xmlns:p14="http://schemas.microsoft.com/office/powerpoint/2010/main" val="180249999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7C934-97E0-490F-A04F-9A696566CBCE}"/>
              </a:ext>
            </a:extLst>
          </p:cNvPr>
          <p:cNvSpPr>
            <a:spLocks noGrp="1"/>
          </p:cNvSpPr>
          <p:nvPr>
            <p:ph type="sldNum" sz="quarter" idx="12"/>
          </p:nvPr>
        </p:nvSpPr>
        <p:spPr/>
        <p:txBody>
          <a:bodyPr/>
          <a:lstStyle/>
          <a:p>
            <a:fld id="{C52ED629-2BC0-4D25-969E-9ED78B40D7C7}" type="slidenum">
              <a:rPr lang="fr-FR" smtClean="0"/>
              <a:t>20</a:t>
            </a:fld>
            <a:endParaRPr lang="fr-FR"/>
          </a:p>
        </p:txBody>
      </p:sp>
      <p:pic>
        <p:nvPicPr>
          <p:cNvPr id="18" name="Content Placeholder 17">
            <a:extLst>
              <a:ext uri="{FF2B5EF4-FFF2-40B4-BE49-F238E27FC236}">
                <a16:creationId xmlns:a16="http://schemas.microsoft.com/office/drawing/2014/main" id="{E0E7A415-6D31-4F53-92D1-DED93E534F36}"/>
              </a:ext>
            </a:extLst>
          </p:cNvPr>
          <p:cNvPicPr>
            <a:picLocks noGrp="1" noChangeAspect="1"/>
          </p:cNvPicPr>
          <p:nvPr>
            <p:ph sz="half" idx="4294967295"/>
          </p:nvPr>
        </p:nvPicPr>
        <p:blipFill>
          <a:blip r:embed="rId2"/>
          <a:stretch>
            <a:fillRect/>
          </a:stretch>
        </p:blipFill>
        <p:spPr>
          <a:xfrm>
            <a:off x="0" y="2516188"/>
            <a:ext cx="3686175" cy="2051050"/>
          </a:xfrm>
        </p:spPr>
      </p:pic>
      <p:pic>
        <p:nvPicPr>
          <p:cNvPr id="36" name="Content Placeholder 35">
            <a:extLst>
              <a:ext uri="{FF2B5EF4-FFF2-40B4-BE49-F238E27FC236}">
                <a16:creationId xmlns:a16="http://schemas.microsoft.com/office/drawing/2014/main" id="{28813DFD-F216-455F-80C8-213CC306BCF0}"/>
              </a:ext>
            </a:extLst>
          </p:cNvPr>
          <p:cNvPicPr>
            <a:picLocks noGrp="1" noChangeAspect="1"/>
          </p:cNvPicPr>
          <p:nvPr>
            <p:ph sz="half" idx="4294967295"/>
          </p:nvPr>
        </p:nvPicPr>
        <p:blipFill>
          <a:blip r:embed="rId3"/>
          <a:stretch>
            <a:fillRect/>
          </a:stretch>
        </p:blipFill>
        <p:spPr>
          <a:xfrm>
            <a:off x="7588250" y="1273175"/>
            <a:ext cx="4603750" cy="4537075"/>
          </a:xfrm>
        </p:spPr>
      </p:pic>
      <p:sp>
        <p:nvSpPr>
          <p:cNvPr id="15" name="Rectangle 14">
            <a:extLst>
              <a:ext uri="{FF2B5EF4-FFF2-40B4-BE49-F238E27FC236}">
                <a16:creationId xmlns:a16="http://schemas.microsoft.com/office/drawing/2014/main" id="{967D2BBB-0B04-4C85-B81A-506E056BA635}"/>
              </a:ext>
            </a:extLst>
          </p:cNvPr>
          <p:cNvSpPr/>
          <p:nvPr/>
        </p:nvSpPr>
        <p:spPr>
          <a:xfrm>
            <a:off x="772168" y="800100"/>
            <a:ext cx="4399272"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58AE085C-19BC-4104-A0C0-7FDCDBA96CE7}"/>
              </a:ext>
            </a:extLst>
          </p:cNvPr>
          <p:cNvSpPr/>
          <p:nvPr/>
        </p:nvSpPr>
        <p:spPr>
          <a:xfrm>
            <a:off x="5763260" y="824672"/>
            <a:ext cx="5717539"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Arrow: Right 29">
            <a:extLst>
              <a:ext uri="{FF2B5EF4-FFF2-40B4-BE49-F238E27FC236}">
                <a16:creationId xmlns:a16="http://schemas.microsoft.com/office/drawing/2014/main" id="{80CE0D6C-4B60-4281-9718-C883CE0D2479}"/>
              </a:ext>
            </a:extLst>
          </p:cNvPr>
          <p:cNvSpPr/>
          <p:nvPr/>
        </p:nvSpPr>
        <p:spPr>
          <a:xfrm>
            <a:off x="4687580" y="3541760"/>
            <a:ext cx="1089653" cy="252000"/>
          </a:xfrm>
          <a:prstGeom prst="rightArrow">
            <a:avLst>
              <a:gd name="adj1" fmla="val 5806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TextBox 30">
            <a:extLst>
              <a:ext uri="{FF2B5EF4-FFF2-40B4-BE49-F238E27FC236}">
                <a16:creationId xmlns:a16="http://schemas.microsoft.com/office/drawing/2014/main" id="{BC53E1B6-E13F-413E-8570-7A54A8EE3CD3}"/>
              </a:ext>
            </a:extLst>
          </p:cNvPr>
          <p:cNvSpPr txBox="1"/>
          <p:nvPr/>
        </p:nvSpPr>
        <p:spPr>
          <a:xfrm>
            <a:off x="2068195" y="952501"/>
            <a:ext cx="1940560" cy="276999"/>
          </a:xfrm>
          <a:prstGeom prst="rect">
            <a:avLst/>
          </a:prstGeom>
          <a:noFill/>
        </p:spPr>
        <p:txBody>
          <a:bodyPr wrap="square" rtlCol="0">
            <a:spAutoFit/>
          </a:bodyPr>
          <a:lstStyle/>
          <a:p>
            <a:r>
              <a:rPr lang="fr-FR" sz="1200" i="1" dirty="0">
                <a:solidFill>
                  <a:srgbClr val="4A66AC"/>
                </a:solidFill>
              </a:rPr>
              <a:t>Diagramme de packages</a:t>
            </a:r>
          </a:p>
        </p:txBody>
      </p:sp>
      <p:sp>
        <p:nvSpPr>
          <p:cNvPr id="32" name="TextBox 31">
            <a:extLst>
              <a:ext uri="{FF2B5EF4-FFF2-40B4-BE49-F238E27FC236}">
                <a16:creationId xmlns:a16="http://schemas.microsoft.com/office/drawing/2014/main" id="{D5E26461-1273-4296-8E63-D3267FFD9492}"/>
              </a:ext>
            </a:extLst>
          </p:cNvPr>
          <p:cNvSpPr txBox="1"/>
          <p:nvPr/>
        </p:nvSpPr>
        <p:spPr>
          <a:xfrm>
            <a:off x="6553200" y="958215"/>
            <a:ext cx="4846320" cy="276999"/>
          </a:xfrm>
          <a:prstGeom prst="rect">
            <a:avLst/>
          </a:prstGeom>
          <a:noFill/>
        </p:spPr>
        <p:txBody>
          <a:bodyPr wrap="square" rtlCol="0">
            <a:spAutoFit/>
          </a:bodyPr>
          <a:lstStyle/>
          <a:p>
            <a:r>
              <a:rPr lang="fr-FR" sz="1200" i="1" dirty="0">
                <a:solidFill>
                  <a:srgbClr val="4A66AC"/>
                </a:solidFill>
              </a:rPr>
              <a:t>Diagramme de cas d’utilisations du package « Consultation »</a:t>
            </a:r>
          </a:p>
        </p:txBody>
      </p:sp>
    </p:spTree>
    <p:extLst>
      <p:ext uri="{BB962C8B-B14F-4D97-AF65-F5344CB8AC3E}">
        <p14:creationId xmlns:p14="http://schemas.microsoft.com/office/powerpoint/2010/main" val="150728782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21</a:t>
            </a:fld>
            <a:endParaRPr lang="fr-FR"/>
          </a:p>
        </p:txBody>
      </p:sp>
    </p:spTree>
    <p:extLst>
      <p:ext uri="{BB962C8B-B14F-4D97-AF65-F5344CB8AC3E}">
        <p14:creationId xmlns:p14="http://schemas.microsoft.com/office/powerpoint/2010/main" val="282304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1028699" y="1001583"/>
            <a:ext cx="4048125" cy="1737360"/>
          </a:xfrm>
        </p:spPr>
        <p:txBody>
          <a:bodyPr/>
          <a:lstStyle/>
          <a:p>
            <a:r>
              <a:rPr lang="fr-FR" sz="3200" dirty="0"/>
              <a:t>Les Classes ORM</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1076325" y="2866539"/>
            <a:ext cx="4048124" cy="2428475"/>
          </a:xfrm>
        </p:spPr>
        <p:txBody>
          <a:bodyPr/>
          <a:lstStyle/>
          <a:p>
            <a:r>
              <a:rPr lang="fr-FR" dirty="0"/>
              <a:t>Module models.py</a:t>
            </a:r>
            <a:endParaRPr lang="fr-FR" dirty="0">
              <a:highlight>
                <a:srgbClr val="FFFF00"/>
              </a:highlight>
            </a:endParaRPr>
          </a:p>
          <a:p>
            <a:r>
              <a:rPr lang="fr-FR" dirty="0" err="1"/>
              <a:t>db</a:t>
            </a:r>
            <a:r>
              <a:rPr lang="fr-FR" dirty="0"/>
              <a:t> est une instance de </a:t>
            </a:r>
            <a:r>
              <a:rPr lang="fr-FR" dirty="0" err="1"/>
              <a:t>SQLAlchemy</a:t>
            </a:r>
            <a:r>
              <a:rPr lang="fr-FR" dirty="0"/>
              <a:t> créé dans le module database.py </a:t>
            </a:r>
          </a:p>
          <a:p>
            <a:pPr algn="just"/>
            <a:r>
              <a:rPr lang="fr-FR" dirty="0"/>
              <a:t>Model est la classe base déclarative de </a:t>
            </a:r>
            <a:r>
              <a:rPr lang="fr-FR" dirty="0" err="1"/>
              <a:t>SQLAlchemy</a:t>
            </a:r>
            <a:r>
              <a:rPr lang="fr-FR" dirty="0"/>
              <a:t> qui contient toutes les classes ORM et leurs relations.</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22</a:t>
            </a:fld>
            <a:endParaRPr lang="fr-FR"/>
          </a:p>
        </p:txBody>
      </p:sp>
      <p:pic>
        <p:nvPicPr>
          <p:cNvPr id="3" name="Picture 2">
            <a:extLst>
              <a:ext uri="{FF2B5EF4-FFF2-40B4-BE49-F238E27FC236}">
                <a16:creationId xmlns:a16="http://schemas.microsoft.com/office/drawing/2014/main" id="{AE1D7377-0B8D-44F6-899E-E9F64866F450}"/>
              </a:ext>
            </a:extLst>
          </p:cNvPr>
          <p:cNvPicPr>
            <a:picLocks noChangeAspect="1"/>
          </p:cNvPicPr>
          <p:nvPr/>
        </p:nvPicPr>
        <p:blipFill>
          <a:blip r:embed="rId3"/>
          <a:stretch>
            <a:fillRect/>
          </a:stretch>
        </p:blipFill>
        <p:spPr>
          <a:xfrm>
            <a:off x="5434243" y="1211455"/>
            <a:ext cx="5919807" cy="4320000"/>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1132367" y="1009339"/>
            <a:ext cx="3931920" cy="1737360"/>
          </a:xfrm>
        </p:spPr>
        <p:txBody>
          <a:bodyPr/>
          <a:lstStyle/>
          <a:p>
            <a:r>
              <a:rPr lang="fr-FR" sz="3200" dirty="0"/>
              <a:t>Migrations</a:t>
            </a:r>
          </a:p>
        </p:txBody>
      </p:sp>
      <p:sp>
        <p:nvSpPr>
          <p:cNvPr id="4" name="Text Placeholder 3">
            <a:extLst>
              <a:ext uri="{FF2B5EF4-FFF2-40B4-BE49-F238E27FC236}">
                <a16:creationId xmlns:a16="http://schemas.microsoft.com/office/drawing/2014/main" id="{346A3C87-2BEC-4F72-BB95-2A1DC946926A}"/>
              </a:ext>
            </a:extLst>
          </p:cNvPr>
          <p:cNvSpPr>
            <a:spLocks noGrp="1"/>
          </p:cNvSpPr>
          <p:nvPr>
            <p:ph type="body" sz="half" idx="2"/>
          </p:nvPr>
        </p:nvSpPr>
        <p:spPr>
          <a:xfrm>
            <a:off x="1143000" y="2866539"/>
            <a:ext cx="2620926" cy="1545973"/>
          </a:xfrm>
        </p:spPr>
        <p:txBody>
          <a:bodyPr>
            <a:normAutofit/>
          </a:bodyPr>
          <a:lstStyle/>
          <a:p>
            <a:r>
              <a:rPr lang="fr-FR" dirty="0"/>
              <a:t>Dossier migrations/</a:t>
            </a:r>
          </a:p>
          <a:p>
            <a:pPr algn="just"/>
            <a:r>
              <a:rPr lang="fr-FR" dirty="0"/>
              <a:t>Exemples de scripts de modifications de la base de données.</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23</a:t>
            </a:fld>
            <a:endParaRPr lang="fr-FR"/>
          </a:p>
        </p:txBody>
      </p:sp>
      <p:sp>
        <p:nvSpPr>
          <p:cNvPr id="10" name="TextBox 9">
            <a:extLst>
              <a:ext uri="{FF2B5EF4-FFF2-40B4-BE49-F238E27FC236}">
                <a16:creationId xmlns:a16="http://schemas.microsoft.com/office/drawing/2014/main" id="{9DAEBB5B-9244-4D7F-9925-F785F4D45A39}"/>
              </a:ext>
            </a:extLst>
          </p:cNvPr>
          <p:cNvSpPr txBox="1"/>
          <p:nvPr/>
        </p:nvSpPr>
        <p:spPr>
          <a:xfrm>
            <a:off x="5231440" y="3714138"/>
            <a:ext cx="3790951" cy="353943"/>
          </a:xfrm>
          <a:prstGeom prst="rect">
            <a:avLst/>
          </a:prstGeom>
          <a:noFill/>
        </p:spPr>
        <p:txBody>
          <a:bodyPr wrap="square" rtlCol="0">
            <a:spAutoFit/>
          </a:bodyPr>
          <a:lstStyle/>
          <a:p>
            <a:r>
              <a:rPr lang="fr-FR" sz="1600" i="1" dirty="0" err="1">
                <a:solidFill>
                  <a:srgbClr val="4A66AC"/>
                </a:solidFill>
              </a:rPr>
              <a:t>Version</a:t>
            </a:r>
            <a:r>
              <a:rPr lang="fr-FR" sz="1700" i="1" dirty="0" err="1">
                <a:solidFill>
                  <a:srgbClr val="4A66AC"/>
                </a:solidFill>
              </a:rPr>
              <a:t>_date</a:t>
            </a:r>
            <a:r>
              <a:rPr lang="fr-FR" sz="1700" i="1" dirty="0">
                <a:solidFill>
                  <a:srgbClr val="4A66AC"/>
                </a:solidFill>
              </a:rPr>
              <a:t> : </a:t>
            </a:r>
            <a:r>
              <a:rPr lang="fr-FR" sz="1700" i="1" dirty="0" err="1">
                <a:solidFill>
                  <a:srgbClr val="4A66AC"/>
                </a:solidFill>
              </a:rPr>
              <a:t>timezone</a:t>
            </a:r>
            <a:r>
              <a:rPr lang="fr-FR" sz="1700" i="1" dirty="0">
                <a:solidFill>
                  <a:srgbClr val="4A66AC"/>
                </a:solidFill>
              </a:rPr>
              <a:t> = </a:t>
            </a:r>
            <a:r>
              <a:rPr lang="fr-FR" sz="1700" i="1" dirty="0" err="1">
                <a:solidFill>
                  <a:srgbClr val="4A66AC"/>
                </a:solidFill>
              </a:rPr>
              <a:t>True</a:t>
            </a:r>
            <a:endParaRPr lang="fr-FR" sz="1700" i="1" dirty="0">
              <a:solidFill>
                <a:srgbClr val="4A66AC"/>
              </a:solidFill>
            </a:endParaRPr>
          </a:p>
        </p:txBody>
      </p:sp>
      <p:sp>
        <p:nvSpPr>
          <p:cNvPr id="11" name="TextBox 10">
            <a:extLst>
              <a:ext uri="{FF2B5EF4-FFF2-40B4-BE49-F238E27FC236}">
                <a16:creationId xmlns:a16="http://schemas.microsoft.com/office/drawing/2014/main" id="{30C83169-C78F-4502-BF62-2136F6131BAE}"/>
              </a:ext>
            </a:extLst>
          </p:cNvPr>
          <p:cNvSpPr txBox="1"/>
          <p:nvPr/>
        </p:nvSpPr>
        <p:spPr>
          <a:xfrm>
            <a:off x="5238751" y="450999"/>
            <a:ext cx="2705100" cy="353943"/>
          </a:xfrm>
          <a:prstGeom prst="rect">
            <a:avLst/>
          </a:prstGeom>
          <a:noFill/>
        </p:spPr>
        <p:txBody>
          <a:bodyPr wrap="square" rtlCol="0">
            <a:spAutoFit/>
          </a:bodyPr>
          <a:lstStyle/>
          <a:p>
            <a:r>
              <a:rPr lang="fr-FR" sz="1700" i="1" dirty="0">
                <a:solidFill>
                  <a:srgbClr val="4A66AC"/>
                </a:solidFill>
              </a:rPr>
              <a:t>Modifications de noms</a:t>
            </a:r>
          </a:p>
        </p:txBody>
      </p:sp>
      <p:pic>
        <p:nvPicPr>
          <p:cNvPr id="6" name="Picture 5">
            <a:extLst>
              <a:ext uri="{FF2B5EF4-FFF2-40B4-BE49-F238E27FC236}">
                <a16:creationId xmlns:a16="http://schemas.microsoft.com/office/drawing/2014/main" id="{CCF061CD-985B-41DE-AB67-4866FE8A6BEE}"/>
              </a:ext>
            </a:extLst>
          </p:cNvPr>
          <p:cNvPicPr>
            <a:picLocks noChangeAspect="1"/>
          </p:cNvPicPr>
          <p:nvPr/>
        </p:nvPicPr>
        <p:blipFill>
          <a:blip r:embed="rId2"/>
          <a:stretch>
            <a:fillRect/>
          </a:stretch>
        </p:blipFill>
        <p:spPr>
          <a:xfrm>
            <a:off x="5611802" y="798636"/>
            <a:ext cx="5588203" cy="2700000"/>
          </a:xfrm>
          <a:prstGeom prst="rect">
            <a:avLst/>
          </a:prstGeom>
        </p:spPr>
      </p:pic>
      <p:pic>
        <p:nvPicPr>
          <p:cNvPr id="12" name="Picture 11">
            <a:extLst>
              <a:ext uri="{FF2B5EF4-FFF2-40B4-BE49-F238E27FC236}">
                <a16:creationId xmlns:a16="http://schemas.microsoft.com/office/drawing/2014/main" id="{AE3E11B6-807A-4B8F-9ABB-EB0B1BDAB7B7}"/>
              </a:ext>
            </a:extLst>
          </p:cNvPr>
          <p:cNvPicPr>
            <a:picLocks noChangeAspect="1"/>
          </p:cNvPicPr>
          <p:nvPr/>
        </p:nvPicPr>
        <p:blipFill>
          <a:blip r:embed="rId3"/>
          <a:stretch>
            <a:fillRect/>
          </a:stretch>
        </p:blipFill>
        <p:spPr>
          <a:xfrm>
            <a:off x="5677790" y="4070806"/>
            <a:ext cx="3328658" cy="2160000"/>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1143000" y="1097280"/>
            <a:ext cx="3588488" cy="1737360"/>
          </a:xfrm>
        </p:spPr>
        <p:txBody>
          <a:bodyPr/>
          <a:lstStyle/>
          <a:p>
            <a:r>
              <a:rPr lang="fr-FR" sz="3200" dirty="0"/>
              <a:t>Paramètres de connexion de la base de données</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1143000" y="3047336"/>
            <a:ext cx="3588488" cy="2003131"/>
          </a:xfrm>
        </p:spPr>
        <p:txBody>
          <a:bodyPr>
            <a:normAutofit lnSpcReduction="10000"/>
          </a:bodyPr>
          <a:lstStyle/>
          <a:p>
            <a:r>
              <a:rPr lang="fr-FR" dirty="0"/>
              <a:t>Module database.py</a:t>
            </a:r>
          </a:p>
          <a:p>
            <a:pPr algn="just"/>
            <a:r>
              <a:rPr lang="fr-FR" dirty="0" err="1"/>
              <a:t>db</a:t>
            </a:r>
            <a:r>
              <a:rPr lang="fr-FR" dirty="0"/>
              <a:t> et </a:t>
            </a:r>
            <a:r>
              <a:rPr lang="fr-FR" dirty="0" err="1"/>
              <a:t>migrate</a:t>
            </a:r>
            <a:r>
              <a:rPr lang="fr-FR" dirty="0"/>
              <a:t> sont des instances de </a:t>
            </a:r>
            <a:r>
              <a:rPr lang="fr-FR" dirty="0" err="1"/>
              <a:t>SQLAlchemy</a:t>
            </a:r>
            <a:r>
              <a:rPr lang="fr-FR" dirty="0"/>
              <a:t> et </a:t>
            </a:r>
            <a:r>
              <a:rPr lang="fr-FR" dirty="0" err="1"/>
              <a:t>Migrate</a:t>
            </a:r>
            <a:r>
              <a:rPr lang="fr-FR" dirty="0"/>
              <a:t> créées de façon globales.</a:t>
            </a:r>
          </a:p>
          <a:p>
            <a:pPr algn="just"/>
            <a:r>
              <a:rPr lang="fr-FR" dirty="0"/>
              <a:t>Création d’un URI utilisé par l’objet application dans le contrôleur monitor.py</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6" name="Picture 5">
            <a:extLst>
              <a:ext uri="{FF2B5EF4-FFF2-40B4-BE49-F238E27FC236}">
                <a16:creationId xmlns:a16="http://schemas.microsoft.com/office/drawing/2014/main" id="{67D89FAA-F028-43C1-B2FE-BA7239AB78C4}"/>
              </a:ext>
            </a:extLst>
          </p:cNvPr>
          <p:cNvPicPr>
            <a:picLocks noChangeAspect="1"/>
          </p:cNvPicPr>
          <p:nvPr/>
        </p:nvPicPr>
        <p:blipFill>
          <a:blip r:embed="rId2"/>
          <a:stretch>
            <a:fillRect/>
          </a:stretch>
        </p:blipFill>
        <p:spPr>
          <a:xfrm>
            <a:off x="6318668" y="898395"/>
            <a:ext cx="3892750" cy="506121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1085850" y="992505"/>
            <a:ext cx="3539314" cy="1737360"/>
          </a:xfrm>
        </p:spPr>
        <p:txBody>
          <a:bodyPr/>
          <a:lstStyle/>
          <a:p>
            <a:r>
              <a:rPr lang="fr-FR" sz="3200" dirty="0"/>
              <a:t>Création de l’objet </a:t>
            </a:r>
            <a:br>
              <a:rPr lang="fr-FR" sz="3200" dirty="0"/>
            </a:br>
            <a:r>
              <a:rPr lang="fr-FR" sz="3200" dirty="0"/>
              <a:t>application Flask</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1143000" y="2834640"/>
            <a:ext cx="3482163" cy="2003174"/>
          </a:xfrm>
        </p:spPr>
        <p:txBody>
          <a:bodyPr>
            <a:normAutofit lnSpcReduction="10000"/>
          </a:bodyPr>
          <a:lstStyle/>
          <a:p>
            <a:r>
              <a:rPr lang="fr-FR" dirty="0"/>
              <a:t>monitor.py (le contrôleur)</a:t>
            </a:r>
          </a:p>
          <a:p>
            <a:pPr algn="just"/>
            <a:r>
              <a:rPr lang="fr-FR" dirty="0"/>
              <a:t>Création d’un objet application Flask. Il est configuré avec l’URI pour se connecter à la BDD PostgreSQL.</a:t>
            </a:r>
          </a:p>
          <a:p>
            <a:pPr algn="just"/>
            <a:r>
              <a:rPr lang="fr-FR" dirty="0"/>
              <a:t>Initialisation de l’application avec les instances de </a:t>
            </a:r>
            <a:r>
              <a:rPr lang="fr-FR" dirty="0" err="1"/>
              <a:t>SQLAlchemy</a:t>
            </a:r>
            <a:r>
              <a:rPr lang="fr-FR" dirty="0"/>
              <a:t> et </a:t>
            </a:r>
            <a:r>
              <a:rPr lang="fr-FR" dirty="0" err="1"/>
              <a:t>Migrate</a:t>
            </a:r>
            <a:r>
              <a:rPr lang="fr-FR" dirty="0"/>
              <a:t>.</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3" name="Picture 2">
            <a:extLst>
              <a:ext uri="{FF2B5EF4-FFF2-40B4-BE49-F238E27FC236}">
                <a16:creationId xmlns:a16="http://schemas.microsoft.com/office/drawing/2014/main" id="{A3296821-D5E4-438D-A150-9CAFAF4D3411}"/>
              </a:ext>
            </a:extLst>
          </p:cNvPr>
          <p:cNvPicPr>
            <a:picLocks noChangeAspect="1"/>
          </p:cNvPicPr>
          <p:nvPr/>
        </p:nvPicPr>
        <p:blipFill>
          <a:blip r:embed="rId3"/>
          <a:stretch>
            <a:fillRect/>
          </a:stretch>
        </p:blipFill>
        <p:spPr>
          <a:xfrm>
            <a:off x="5737568" y="1385939"/>
            <a:ext cx="5187971" cy="3600000"/>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77AA4F-207B-4045-A452-6C98BA7AB2BD}">
  <ds:schemaRefs>
    <ds:schemaRef ds:uri="025efd7d-4e1d-49ec-b269-b81537660960"/>
    <ds:schemaRef ds:uri="http://schemas.microsoft.com/office/2006/metadata/properties"/>
    <ds:schemaRef ds:uri="http://www.w3.org/XML/1998/namespace"/>
    <ds:schemaRef ds:uri="http://purl.org/dc/dcmitype/"/>
    <ds:schemaRef ds:uri="386f4720-9db4-4950-8ffd-cd1ef4b846d5"/>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2ECFDE-CCCD-4184-981F-FCB1A88E5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TM03457444[[fn=Base]]</Template>
  <TotalTime>21165</TotalTime>
  <Words>2439</Words>
  <Application>Microsoft Office PowerPoint</Application>
  <PresentationFormat>Grand écran</PresentationFormat>
  <Paragraphs>261</Paragraphs>
  <Slides>54</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54</vt:i4>
      </vt:variant>
    </vt:vector>
  </HeadingPairs>
  <TitlesOfParts>
    <vt:vector size="5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Présentation PowerPoint</vt:lpstr>
      <vt:lpstr>apprentissage</vt:lpstr>
      <vt:lpstr>Spring Boot et Angular</vt:lpstr>
      <vt:lpstr>conception</vt:lpstr>
      <vt:lpstr>Architecture</vt:lpstr>
      <vt:lpstr>Présentation PowerPoint</vt:lpstr>
      <vt:lpstr>Schéma de la base de données</vt:lpstr>
      <vt:lpstr>Diagrammes des Classes</vt:lpstr>
      <vt:lpstr>Présentation PowerPoint</vt:lpstr>
      <vt:lpstr>implémentation</vt:lpstr>
      <vt:lpstr>Les Classes ORM</vt:lpstr>
      <vt:lpstr>Migrations</vt:lpstr>
      <vt:lpstr>Paramètres de connexion de la base de données</vt:lpstr>
      <vt:lpstr>Création de l’objet  application Flask</vt:lpstr>
      <vt:lpstr>Cas d’utilisation « Formulaire »</vt:lpstr>
      <vt:lpstr>Présentation PowerPoint</vt:lpstr>
      <vt:lpstr>Contrôleur partie formulaire</vt:lpstr>
      <vt:lpstr>form.html</vt:lpstr>
      <vt:lpstr>Présentation PowerPoint</vt:lpstr>
      <vt:lpstr>Présentation PowerPoint</vt:lpstr>
      <vt:lpstr>Contrôleur page result.html</vt:lpstr>
      <vt:lpstr>Les méthodes de la partie form_result() du contrôleur</vt:lpstr>
      <vt:lpstr>result.html</vt:lpstr>
      <vt:lpstr>Présentation PowerPoint</vt:lpstr>
      <vt:lpstr>Cas d’utilisation page « List »</vt:lpstr>
      <vt:lpstr>Présentation PowerPoint</vt:lpstr>
      <vt:lpstr>Présentation PowerPoint</vt:lpstr>
      <vt:lpstr>Présentation PowerPoint</vt:lpstr>
      <vt:lpstr>Contrôleur index()</vt:lpstr>
      <vt:lpstr>Les méthodes du contrôleur index()</vt:lpstr>
      <vt:lpstr>index.html</vt:lpstr>
      <vt:lpstr>index.html</vt:lpstr>
      <vt:lpstr>Présentation PowerPoint</vt:lpstr>
      <vt:lpstr>Contrôleur index() suite</vt:lpstr>
      <vt:lpstr>Méthodes du index() en cas de filtres</vt:lpstr>
      <vt:lpstr>Pagination</vt:lpstr>
      <vt:lpstr>Présentation PowerPoint</vt:lpstr>
      <vt:lpstr>Présentation PowerPoint</vt:lpstr>
      <vt:lpstr>Contrôleur la partie delete()</vt:lpstr>
      <vt:lpstr>Les de la partie delete() du contrôleur</vt:lpstr>
      <vt:lpstr>Présentation PowerPoint</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cda610</cp:lastModifiedBy>
  <cp:revision>426</cp:revision>
  <cp:lastPrinted>2020-06-10T07:53:15Z</cp:lastPrinted>
  <dcterms:created xsi:type="dcterms:W3CDTF">2020-04-16T13:13:31Z</dcterms:created>
  <dcterms:modified xsi:type="dcterms:W3CDTF">2021-08-31T12:38:57Z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