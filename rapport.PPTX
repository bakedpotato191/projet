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6" r:id="rId4"/>
  </p:sldMasterIdLst>
  <p:notesMasterIdLst>
    <p:notesMasterId r:id="rId53"/>
  </p:notesMasterIdLst>
  <p:handoutMasterIdLst>
    <p:handoutMasterId r:id="rId54"/>
  </p:handoutMasterIdLst>
  <p:sldIdLst>
    <p:sldId id="256" r:id="rId5"/>
    <p:sldId id="257" r:id="rId6"/>
    <p:sldId id="291" r:id="rId7"/>
    <p:sldId id="277" r:id="rId8"/>
    <p:sldId id="272" r:id="rId9"/>
    <p:sldId id="261" r:id="rId10"/>
    <p:sldId id="273" r:id="rId11"/>
    <p:sldId id="274" r:id="rId12"/>
    <p:sldId id="276" r:id="rId13"/>
    <p:sldId id="308" r:id="rId14"/>
    <p:sldId id="307" r:id="rId15"/>
    <p:sldId id="321" r:id="rId16"/>
    <p:sldId id="271" r:id="rId17"/>
    <p:sldId id="282" r:id="rId18"/>
    <p:sldId id="269" r:id="rId19"/>
    <p:sldId id="309" r:id="rId20"/>
    <p:sldId id="374" r:id="rId21"/>
    <p:sldId id="305" r:id="rId22"/>
    <p:sldId id="306" r:id="rId23"/>
    <p:sldId id="373" r:id="rId24"/>
    <p:sldId id="345" r:id="rId25"/>
    <p:sldId id="367" r:id="rId26"/>
    <p:sldId id="346" r:id="rId27"/>
    <p:sldId id="344" r:id="rId28"/>
    <p:sldId id="375" r:id="rId29"/>
    <p:sldId id="352" r:id="rId30"/>
    <p:sldId id="354" r:id="rId31"/>
    <p:sldId id="369" r:id="rId32"/>
    <p:sldId id="311" r:id="rId33"/>
    <p:sldId id="355" r:id="rId34"/>
    <p:sldId id="376" r:id="rId35"/>
    <p:sldId id="377" r:id="rId36"/>
    <p:sldId id="378" r:id="rId37"/>
    <p:sldId id="379" r:id="rId38"/>
    <p:sldId id="380" r:id="rId39"/>
    <p:sldId id="381" r:id="rId40"/>
    <p:sldId id="353" r:id="rId41"/>
    <p:sldId id="382" r:id="rId42"/>
    <p:sldId id="383" r:id="rId43"/>
    <p:sldId id="384" r:id="rId44"/>
    <p:sldId id="385" r:id="rId45"/>
    <p:sldId id="386" r:id="rId46"/>
    <p:sldId id="387" r:id="rId47"/>
    <p:sldId id="388" r:id="rId48"/>
    <p:sldId id="389" r:id="rId49"/>
    <p:sldId id="390" r:id="rId50"/>
    <p:sldId id="347" r:id="rId51"/>
    <p:sldId id="303" r:id="rId52"/>
  </p:sldIdLst>
  <p:sldSz cx="12192000" cy="6858000"/>
  <p:notesSz cx="6858000"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cceuil" id="{0C555041-B77D-4C12-A739-5465EA9A5D51}">
          <p14:sldIdLst>
            <p14:sldId id="256"/>
          </p14:sldIdLst>
        </p14:section>
        <p14:section name="Sommaire" id="{C35363EF-F6DF-4CD5-A2EA-15AE2813B393}">
          <p14:sldIdLst>
            <p14:sldId id="257"/>
          </p14:sldIdLst>
        </p14:section>
        <p14:section name="Avant-propos" id="{F6F71EE5-DB8F-4A32-8B2C-8DA65C10EAA1}">
          <p14:sldIdLst>
            <p14:sldId id="291"/>
          </p14:sldIdLst>
        </p14:section>
        <p14:section name="Introduction" id="{7551384C-AD2E-420E-9E81-E2045511CC03}">
          <p14:sldIdLst>
            <p14:sldId id="277"/>
          </p14:sldIdLst>
        </p14:section>
        <p14:section name="Environnement" id="{CD63B8DC-3141-430F-B080-64E725C2F156}">
          <p14:sldIdLst>
            <p14:sldId id="272"/>
            <p14:sldId id="261"/>
            <p14:sldId id="273"/>
            <p14:sldId id="274"/>
            <p14:sldId id="276"/>
          </p14:sldIdLst>
        </p14:section>
        <p14:section name="Developpement" id="{C7626237-F67E-4355-ABE8-42E8EB39DF35}">
          <p14:sldIdLst>
            <p14:sldId id="308"/>
            <p14:sldId id="307"/>
            <p14:sldId id="321"/>
          </p14:sldIdLst>
        </p14:section>
        <p14:section name="Apprentissage" id="{82BE8D20-65CD-4637-80B0-265FF9302497}">
          <p14:sldIdLst>
            <p14:sldId id="271"/>
            <p14:sldId id="282"/>
          </p14:sldIdLst>
        </p14:section>
        <p14:section name="Conception" id="{24584215-2434-452E-A60D-C9AE7D99D08E}">
          <p14:sldIdLst>
            <p14:sldId id="269"/>
            <p14:sldId id="309"/>
            <p14:sldId id="374"/>
            <p14:sldId id="305"/>
            <p14:sldId id="306"/>
          </p14:sldIdLst>
        </p14:section>
        <p14:section name="Implementation" id="{4F01F8AB-2081-45D5-9329-E02D0662CD36}">
          <p14:sldIdLst>
            <p14:sldId id="373"/>
            <p14:sldId id="345"/>
            <p14:sldId id="367"/>
            <p14:sldId id="346"/>
            <p14:sldId id="344"/>
            <p14:sldId id="375"/>
            <p14:sldId id="352"/>
            <p14:sldId id="354"/>
            <p14:sldId id="369"/>
            <p14:sldId id="311"/>
            <p14:sldId id="355"/>
            <p14:sldId id="376"/>
            <p14:sldId id="377"/>
            <p14:sldId id="378"/>
            <p14:sldId id="379"/>
            <p14:sldId id="380"/>
            <p14:sldId id="381"/>
            <p14:sldId id="353"/>
            <p14:sldId id="382"/>
            <p14:sldId id="383"/>
            <p14:sldId id="384"/>
            <p14:sldId id="385"/>
            <p14:sldId id="386"/>
            <p14:sldId id="387"/>
            <p14:sldId id="388"/>
            <p14:sldId id="389"/>
            <p14:sldId id="390"/>
            <p14:sldId id="347"/>
          </p14:sldIdLst>
        </p14:section>
        <p14:section name="Conclusion" id="{07435913-793C-4D44-B94F-E25FF897E776}">
          <p14:sldIdLst>
            <p14:sldId id="30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halvati, Alireza (external - Partner)" initials="KA(-P" lastIdx="1" clrIdx="0">
    <p:extLst>
      <p:ext uri="{19B8F6BF-5375-455C-9EA6-DF929625EA0E}">
        <p15:presenceInfo xmlns:p15="http://schemas.microsoft.com/office/powerpoint/2012/main" userId="S::alireza.khalvati@sap.com::c8a652c2-39b4-4737-83bd-d1211f76c54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66AC"/>
    <a:srgbClr val="FFFFFF"/>
    <a:srgbClr val="DB52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EC79CB-20F1-42DE-AE13-B556BB3979FB}" v="2" dt="2020-06-07T15:10:04.9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0188" autoAdjust="0"/>
  </p:normalViewPr>
  <p:slideViewPr>
    <p:cSldViewPr snapToGrid="0">
      <p:cViewPr varScale="1">
        <p:scale>
          <a:sx n="116" d="100"/>
          <a:sy n="116" d="100"/>
        </p:scale>
        <p:origin x="390" y="96"/>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1" d="1"/>
        <a:sy n="1" d="1"/>
      </p:scale>
      <p:origin x="0" y="0"/>
    </p:cViewPr>
  </p:notesTextViewPr>
  <p:sorterViewPr>
    <p:cViewPr>
      <p:scale>
        <a:sx n="100" d="100"/>
        <a:sy n="100" d="100"/>
      </p:scale>
      <p:origin x="0" y="-29260"/>
    </p:cViewPr>
  </p:sorterViewPr>
  <p:notesViewPr>
    <p:cSldViewPr snapToGrid="0">
      <p:cViewPr varScale="1">
        <p:scale>
          <a:sx n="51" d="100"/>
          <a:sy n="51" d="100"/>
        </p:scale>
        <p:origin x="2692" y="4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_rels/viewProps.xml.rels><?xml version="1.0" encoding="UTF-8" standalone="yes"?>
<Relationships xmlns="http://schemas.openxmlformats.org/package/2006/relationships"><Relationship Id="rId8" Type="http://schemas.openxmlformats.org/officeDocument/2006/relationships/slide" Target="slides/slide13.xml"/><Relationship Id="rId3" Type="http://schemas.openxmlformats.org/officeDocument/2006/relationships/slide" Target="slides/slide5.xml"/><Relationship Id="rId7" Type="http://schemas.openxmlformats.org/officeDocument/2006/relationships/slide" Target="slides/slide9.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8.xml"/><Relationship Id="rId5" Type="http://schemas.openxmlformats.org/officeDocument/2006/relationships/slide" Target="slides/slide7.xml"/><Relationship Id="rId4" Type="http://schemas.openxmlformats.org/officeDocument/2006/relationships/slide" Target="slides/slide6.xml"/><Relationship Id="rId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1149D8-1357-4F34-BD23-5012756DE050}"/>
              </a:ext>
            </a:extLst>
          </p:cNvPr>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fr-FR"/>
          </a:p>
        </p:txBody>
      </p:sp>
      <p:sp>
        <p:nvSpPr>
          <p:cNvPr id="3" name="Date Placeholder 2">
            <a:extLst>
              <a:ext uri="{FF2B5EF4-FFF2-40B4-BE49-F238E27FC236}">
                <a16:creationId xmlns:a16="http://schemas.microsoft.com/office/drawing/2014/main" id="{EBCF3FD8-589F-430D-ADA7-F43443762AE9}"/>
              </a:ext>
            </a:extLst>
          </p:cNvPr>
          <p:cNvSpPr>
            <a:spLocks noGrp="1"/>
          </p:cNvSpPr>
          <p:nvPr>
            <p:ph type="dt" sz="quarter" idx="1"/>
          </p:nvPr>
        </p:nvSpPr>
        <p:spPr>
          <a:xfrm>
            <a:off x="3884613" y="0"/>
            <a:ext cx="2971800" cy="498056"/>
          </a:xfrm>
          <a:prstGeom prst="rect">
            <a:avLst/>
          </a:prstGeom>
        </p:spPr>
        <p:txBody>
          <a:bodyPr vert="horz" lIns="91440" tIns="45720" rIns="91440" bIns="45720" rtlCol="0"/>
          <a:lstStyle>
            <a:lvl1pPr algn="r">
              <a:defRPr sz="1200"/>
            </a:lvl1pPr>
          </a:lstStyle>
          <a:p>
            <a:fld id="{8E9E7A7A-AB17-487C-9EC3-81C5DE33C772}" type="datetimeFigureOut">
              <a:rPr lang="fr-FR" smtClean="0"/>
              <a:t>09/09/2021</a:t>
            </a:fld>
            <a:endParaRPr lang="fr-FR"/>
          </a:p>
        </p:txBody>
      </p:sp>
      <p:sp>
        <p:nvSpPr>
          <p:cNvPr id="4" name="Footer Placeholder 3">
            <a:extLst>
              <a:ext uri="{FF2B5EF4-FFF2-40B4-BE49-F238E27FC236}">
                <a16:creationId xmlns:a16="http://schemas.microsoft.com/office/drawing/2014/main" id="{2D14F9FB-1F80-4646-9082-3B12ADA687C3}"/>
              </a:ext>
            </a:extLst>
          </p:cNvPr>
          <p:cNvSpPr>
            <a:spLocks noGrp="1"/>
          </p:cNvSpPr>
          <p:nvPr>
            <p:ph type="ftr" sz="quarter" idx="2"/>
          </p:nvPr>
        </p:nvSpPr>
        <p:spPr>
          <a:xfrm>
            <a:off x="0" y="9428584"/>
            <a:ext cx="2971800" cy="498055"/>
          </a:xfrm>
          <a:prstGeom prst="rect">
            <a:avLst/>
          </a:prstGeom>
        </p:spPr>
        <p:txBody>
          <a:bodyPr vert="horz" lIns="91440" tIns="45720" rIns="91440" bIns="45720" rtlCol="0" anchor="b"/>
          <a:lstStyle>
            <a:lvl1pPr algn="l">
              <a:defRPr sz="1200"/>
            </a:lvl1pPr>
          </a:lstStyle>
          <a:p>
            <a:endParaRPr lang="fr-FR"/>
          </a:p>
        </p:txBody>
      </p:sp>
      <p:sp>
        <p:nvSpPr>
          <p:cNvPr id="5" name="Slide Number Placeholder 4">
            <a:extLst>
              <a:ext uri="{FF2B5EF4-FFF2-40B4-BE49-F238E27FC236}">
                <a16:creationId xmlns:a16="http://schemas.microsoft.com/office/drawing/2014/main" id="{54EA337B-B5F3-4615-8FAA-DB970E4E651D}"/>
              </a:ext>
            </a:extLst>
          </p:cNvPr>
          <p:cNvSpPr>
            <a:spLocks noGrp="1"/>
          </p:cNvSpPr>
          <p:nvPr>
            <p:ph type="sldNum" sz="quarter" idx="3"/>
          </p:nvPr>
        </p:nvSpPr>
        <p:spPr>
          <a:xfrm>
            <a:off x="3884613" y="9428584"/>
            <a:ext cx="2971800" cy="498055"/>
          </a:xfrm>
          <a:prstGeom prst="rect">
            <a:avLst/>
          </a:prstGeom>
        </p:spPr>
        <p:txBody>
          <a:bodyPr vert="horz" lIns="91440" tIns="45720" rIns="91440" bIns="45720" rtlCol="0" anchor="b"/>
          <a:lstStyle>
            <a:lvl1pPr algn="r">
              <a:defRPr sz="1200"/>
            </a:lvl1pPr>
          </a:lstStyle>
          <a:p>
            <a:fld id="{71F4787E-EE81-4ACC-921B-63D7167AD32A}" type="slidenum">
              <a:rPr lang="fr-FR" smtClean="0"/>
              <a:t>‹#›</a:t>
            </a:fld>
            <a:endParaRPr lang="fr-FR"/>
          </a:p>
        </p:txBody>
      </p:sp>
    </p:spTree>
    <p:extLst>
      <p:ext uri="{BB962C8B-B14F-4D97-AF65-F5344CB8AC3E}">
        <p14:creationId xmlns:p14="http://schemas.microsoft.com/office/powerpoint/2010/main" val="13837604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98056"/>
          </a:xfrm>
          <a:prstGeom prst="rect">
            <a:avLst/>
          </a:prstGeom>
        </p:spPr>
        <p:txBody>
          <a:bodyPr vert="horz" lIns="91440" tIns="45720" rIns="91440" bIns="45720" rtlCol="0"/>
          <a:lstStyle>
            <a:lvl1pPr algn="r">
              <a:defRPr sz="1200"/>
            </a:lvl1pPr>
          </a:lstStyle>
          <a:p>
            <a:fld id="{4A3D6330-6607-4266-91C5-92E4A45F29CC}" type="datetimeFigureOut">
              <a:rPr lang="fr-FR" smtClean="0"/>
              <a:t>09/09/2021</a:t>
            </a:fld>
            <a:endParaRPr lang="fr-FR"/>
          </a:p>
        </p:txBody>
      </p:sp>
      <p:sp>
        <p:nvSpPr>
          <p:cNvPr id="4" name="Slide Image Placeholder 3"/>
          <p:cNvSpPr>
            <a:spLocks noGrp="1" noRot="1" noChangeAspect="1"/>
          </p:cNvSpPr>
          <p:nvPr>
            <p:ph type="sldImg" idx="2"/>
          </p:nvPr>
        </p:nvSpPr>
        <p:spPr>
          <a:xfrm>
            <a:off x="452438"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777194"/>
            <a:ext cx="548640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9428584"/>
            <a:ext cx="2971800" cy="498055"/>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9428584"/>
            <a:ext cx="2971800" cy="498055"/>
          </a:xfrm>
          <a:prstGeom prst="rect">
            <a:avLst/>
          </a:prstGeom>
        </p:spPr>
        <p:txBody>
          <a:bodyPr vert="horz" lIns="91440" tIns="45720" rIns="91440" bIns="45720" rtlCol="0" anchor="b"/>
          <a:lstStyle>
            <a:lvl1pPr algn="r">
              <a:defRPr sz="1200"/>
            </a:lvl1pPr>
          </a:lstStyle>
          <a:p>
            <a:fld id="{CA344FEA-621B-4B81-A1B3-BC018540DB26}" type="slidenum">
              <a:rPr lang="fr-FR" smtClean="0"/>
              <a:t>‹#›</a:t>
            </a:fld>
            <a:endParaRPr lang="fr-FR"/>
          </a:p>
        </p:txBody>
      </p:sp>
    </p:spTree>
    <p:extLst>
      <p:ext uri="{BB962C8B-B14F-4D97-AF65-F5344CB8AC3E}">
        <p14:creationId xmlns:p14="http://schemas.microsoft.com/office/powerpoint/2010/main" val="173464640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CA344FEA-621B-4B81-A1B3-BC018540DB26}" type="slidenum">
              <a:rPr lang="fr-FR" smtClean="0"/>
              <a:t>1</a:t>
            </a:fld>
            <a:endParaRPr lang="fr-FR"/>
          </a:p>
        </p:txBody>
      </p:sp>
    </p:spTree>
    <p:extLst>
      <p:ext uri="{BB962C8B-B14F-4D97-AF65-F5344CB8AC3E}">
        <p14:creationId xmlns:p14="http://schemas.microsoft.com/office/powerpoint/2010/main" val="1028222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CA344FEA-621B-4B81-A1B3-BC018540DB26}" type="slidenum">
              <a:rPr lang="fr-FR" smtClean="0"/>
              <a:t>2</a:t>
            </a:fld>
            <a:endParaRPr lang="fr-FR"/>
          </a:p>
        </p:txBody>
      </p:sp>
    </p:spTree>
    <p:extLst>
      <p:ext uri="{BB962C8B-B14F-4D97-AF65-F5344CB8AC3E}">
        <p14:creationId xmlns:p14="http://schemas.microsoft.com/office/powerpoint/2010/main" val="13147329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A344FEA-621B-4B81-A1B3-BC018540DB26}" type="slidenum">
              <a:rPr lang="fr-FR" smtClean="0"/>
              <a:t>4</a:t>
            </a:fld>
            <a:endParaRPr lang="fr-FR"/>
          </a:p>
        </p:txBody>
      </p:sp>
    </p:spTree>
    <p:extLst>
      <p:ext uri="{BB962C8B-B14F-4D97-AF65-F5344CB8AC3E}">
        <p14:creationId xmlns:p14="http://schemas.microsoft.com/office/powerpoint/2010/main" val="1235530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A344FEA-621B-4B81-A1B3-BC018540DB26}" type="slidenum">
              <a:rPr lang="fr-FR" smtClean="0"/>
              <a:t>7</a:t>
            </a:fld>
            <a:endParaRPr lang="fr-FR"/>
          </a:p>
        </p:txBody>
      </p:sp>
    </p:spTree>
    <p:extLst>
      <p:ext uri="{BB962C8B-B14F-4D97-AF65-F5344CB8AC3E}">
        <p14:creationId xmlns:p14="http://schemas.microsoft.com/office/powerpoint/2010/main" val="750481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A344FEA-621B-4B81-A1B3-BC018540DB26}" type="slidenum">
              <a:rPr lang="fr-FR" smtClean="0"/>
              <a:t>9</a:t>
            </a:fld>
            <a:endParaRPr lang="fr-FR"/>
          </a:p>
        </p:txBody>
      </p:sp>
    </p:spTree>
    <p:extLst>
      <p:ext uri="{BB962C8B-B14F-4D97-AF65-F5344CB8AC3E}">
        <p14:creationId xmlns:p14="http://schemas.microsoft.com/office/powerpoint/2010/main" val="145927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A344FEA-621B-4B81-A1B3-BC018540DB26}" type="slidenum">
              <a:rPr lang="fr-FR" smtClean="0"/>
              <a:t>14</a:t>
            </a:fld>
            <a:endParaRPr lang="fr-FR"/>
          </a:p>
        </p:txBody>
      </p:sp>
    </p:spTree>
    <p:extLst>
      <p:ext uri="{BB962C8B-B14F-4D97-AF65-F5344CB8AC3E}">
        <p14:creationId xmlns:p14="http://schemas.microsoft.com/office/powerpoint/2010/main" val="3168120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A344FEA-621B-4B81-A1B3-BC018540DB26}" type="slidenum">
              <a:rPr lang="fr-FR" smtClean="0"/>
              <a:t>16</a:t>
            </a:fld>
            <a:endParaRPr lang="fr-FR"/>
          </a:p>
        </p:txBody>
      </p:sp>
    </p:spTree>
    <p:extLst>
      <p:ext uri="{BB962C8B-B14F-4D97-AF65-F5344CB8AC3E}">
        <p14:creationId xmlns:p14="http://schemas.microsoft.com/office/powerpoint/2010/main" val="4100642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A344FEA-621B-4B81-A1B3-BC018540DB26}" type="slidenum">
              <a:rPr lang="fr-FR" smtClean="0"/>
              <a:t>21</a:t>
            </a:fld>
            <a:endParaRPr lang="fr-FR"/>
          </a:p>
        </p:txBody>
      </p:sp>
    </p:spTree>
    <p:extLst>
      <p:ext uri="{BB962C8B-B14F-4D97-AF65-F5344CB8AC3E}">
        <p14:creationId xmlns:p14="http://schemas.microsoft.com/office/powerpoint/2010/main" val="3236089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A344FEA-621B-4B81-A1B3-BC018540DB26}" type="slidenum">
              <a:rPr lang="fr-FR" smtClean="0"/>
              <a:t>24</a:t>
            </a:fld>
            <a:endParaRPr lang="fr-FR"/>
          </a:p>
        </p:txBody>
      </p:sp>
    </p:spTree>
    <p:extLst>
      <p:ext uri="{BB962C8B-B14F-4D97-AF65-F5344CB8AC3E}">
        <p14:creationId xmlns:p14="http://schemas.microsoft.com/office/powerpoint/2010/main" val="2984538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A344FEA-621B-4B81-A1B3-BC018540DB26}" type="slidenum">
              <a:rPr lang="fr-FR" smtClean="0"/>
              <a:t>25</a:t>
            </a:fld>
            <a:endParaRPr lang="fr-FR"/>
          </a:p>
        </p:txBody>
      </p:sp>
    </p:spTree>
    <p:extLst>
      <p:ext uri="{BB962C8B-B14F-4D97-AF65-F5344CB8AC3E}">
        <p14:creationId xmlns:p14="http://schemas.microsoft.com/office/powerpoint/2010/main" val="2349577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fr-FR"/>
              <a:t>Modifiez le style du titre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FF5FEE95-2E83-4D45-987C-F0DA7B5E64B4}" type="datetime1">
              <a:rPr lang="fr-FR" smtClean="0"/>
              <a:t>09/09/2021</a:t>
            </a:fld>
            <a:endParaRPr lang="fr-FR"/>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fr-F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52ED629-2BC0-4D25-969E-9ED78B40D7C7}" type="slidenum">
              <a:rPr lang="fr-FR" smtClean="0"/>
              <a:t>‹#›</a:t>
            </a:fld>
            <a:endParaRPr lang="fr-FR"/>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222367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F5FEE95-2E83-4D45-987C-F0DA7B5E64B4}" type="datetime1">
              <a:rPr lang="fr-FR" smtClean="0"/>
              <a:t>09/09/2021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52ED629-2BC0-4D25-969E-9ED78B40D7C7}" type="slidenum">
              <a:rPr lang="fr-FR" smtClean="0"/>
              <a:t>‹#›</a:t>
            </a:fld>
            <a:endParaRPr lang="fr-FR"/>
          </a:p>
        </p:txBody>
      </p:sp>
    </p:spTree>
    <p:extLst>
      <p:ext uri="{BB962C8B-B14F-4D97-AF65-F5344CB8AC3E}">
        <p14:creationId xmlns:p14="http://schemas.microsoft.com/office/powerpoint/2010/main" val="262853829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fr-FR"/>
              <a:t>Modifiez le style du titre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FF5FEE95-2E83-4D45-987C-F0DA7B5E64B4}" type="datetime1">
              <a:rPr lang="fr-FR" smtClean="0"/>
              <a:t>09/09/2021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52ED629-2BC0-4D25-969E-9ED78B40D7C7}" type="slidenum">
              <a:rPr lang="fr-FR" smtClean="0"/>
              <a:t>‹#›</a:t>
            </a:fld>
            <a:endParaRPr lang="fr-FR"/>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472649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FF5FEE95-2E83-4D45-987C-F0DA7B5E64B4}" type="datetime1">
              <a:rPr lang="fr-FR" smtClean="0"/>
              <a:t>09/09/2021</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52ED629-2BC0-4D25-969E-9ED78B40D7C7}" type="slidenum">
              <a:rPr lang="fr-FR" smtClean="0"/>
              <a:t>‹#›</a:t>
            </a:fld>
            <a:endParaRPr lang="fr-FR"/>
          </a:p>
        </p:txBody>
      </p:sp>
    </p:spTree>
    <p:extLst>
      <p:ext uri="{BB962C8B-B14F-4D97-AF65-F5344CB8AC3E}">
        <p14:creationId xmlns:p14="http://schemas.microsoft.com/office/powerpoint/2010/main" val="248022581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FF5FEE95-2E83-4D45-987C-F0DA7B5E64B4}" type="datetime1">
              <a:rPr lang="fr-FR" smtClean="0"/>
              <a:t>09/09/2021</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C52ED629-2BC0-4D25-969E-9ED78B40D7C7}" type="slidenum">
              <a:rPr lang="fr-FR" smtClean="0"/>
              <a:t>‹#›</a:t>
            </a:fld>
            <a:endParaRPr lang="fr-FR"/>
          </a:p>
        </p:txBody>
      </p:sp>
    </p:spTree>
    <p:extLst>
      <p:ext uri="{BB962C8B-B14F-4D97-AF65-F5344CB8AC3E}">
        <p14:creationId xmlns:p14="http://schemas.microsoft.com/office/powerpoint/2010/main" val="322317878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FF5FEE95-2E83-4D45-987C-F0DA7B5E64B4}" type="datetime1">
              <a:rPr lang="fr-FR" smtClean="0"/>
              <a:t>09/09/2021</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C52ED629-2BC0-4D25-969E-9ED78B40D7C7}" type="slidenum">
              <a:rPr lang="fr-FR" smtClean="0"/>
              <a:t>‹#›</a:t>
            </a:fld>
            <a:endParaRPr lang="fr-FR"/>
          </a:p>
        </p:txBody>
      </p:sp>
    </p:spTree>
    <p:extLst>
      <p:ext uri="{BB962C8B-B14F-4D97-AF65-F5344CB8AC3E}">
        <p14:creationId xmlns:p14="http://schemas.microsoft.com/office/powerpoint/2010/main" val="276702840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5FEE95-2E83-4D45-987C-F0DA7B5E64B4}" type="datetime1">
              <a:rPr lang="fr-FR" smtClean="0"/>
              <a:t>09/09/2021</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C52ED629-2BC0-4D25-969E-9ED78B40D7C7}" type="slidenum">
              <a:rPr lang="fr-FR" smtClean="0"/>
              <a:t>‹#›</a:t>
            </a:fld>
            <a:endParaRPr lang="fr-FR"/>
          </a:p>
        </p:txBody>
      </p:sp>
    </p:spTree>
    <p:extLst>
      <p:ext uri="{BB962C8B-B14F-4D97-AF65-F5344CB8AC3E}">
        <p14:creationId xmlns:p14="http://schemas.microsoft.com/office/powerpoint/2010/main" val="57564492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fr-FR"/>
              <a:t>Modifiez le style du titre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FF5FEE95-2E83-4D45-987C-F0DA7B5E64B4}" type="datetime1">
              <a:rPr lang="fr-FR" smtClean="0"/>
              <a:t>09/09/2021</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52ED629-2BC0-4D25-969E-9ED78B40D7C7}" type="slidenum">
              <a:rPr lang="fr-FR" smtClean="0"/>
              <a:t>‹#›</a:t>
            </a:fld>
            <a:endParaRPr lang="fr-FR"/>
          </a:p>
        </p:txBody>
      </p:sp>
    </p:spTree>
    <p:extLst>
      <p:ext uri="{BB962C8B-B14F-4D97-AF65-F5344CB8AC3E}">
        <p14:creationId xmlns:p14="http://schemas.microsoft.com/office/powerpoint/2010/main" val="372238090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fr-FR"/>
              <a:t>Modifiez le style du titre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FF5FEE95-2E83-4D45-987C-F0DA7B5E64B4}" type="datetime1">
              <a:rPr lang="fr-FR" smtClean="0"/>
              <a:t>09/09/2021</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52ED629-2BC0-4D25-969E-9ED78B40D7C7}" type="slidenum">
              <a:rPr lang="fr-FR" smtClean="0"/>
              <a:t>‹#›</a:t>
            </a:fld>
            <a:endParaRPr lang="fr-FR"/>
          </a:p>
        </p:txBody>
      </p:sp>
    </p:spTree>
    <p:extLst>
      <p:ext uri="{BB962C8B-B14F-4D97-AF65-F5344CB8AC3E}">
        <p14:creationId xmlns:p14="http://schemas.microsoft.com/office/powerpoint/2010/main" val="250978568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F5FEE95-2E83-4D45-987C-F0DA7B5E64B4}" type="datetime1">
              <a:rPr lang="fr-FR" smtClean="0"/>
              <a:t>09/09/2021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52ED629-2BC0-4D25-969E-9ED78B40D7C7}" type="slidenum">
              <a:rPr lang="fr-FR" smtClean="0"/>
              <a:t>‹#›</a:t>
            </a:fld>
            <a:endParaRPr lang="fr-FR"/>
          </a:p>
        </p:txBody>
      </p:sp>
    </p:spTree>
    <p:extLst>
      <p:ext uri="{BB962C8B-B14F-4D97-AF65-F5344CB8AC3E}">
        <p14:creationId xmlns:p14="http://schemas.microsoft.com/office/powerpoint/2010/main" val="72227323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F5FEE95-2E83-4D45-987C-F0DA7B5E64B4}" type="datetime1">
              <a:rPr lang="fr-FR" smtClean="0"/>
              <a:t>09/09/2021</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52ED629-2BC0-4D25-969E-9ED78B40D7C7}" type="slidenum">
              <a:rPr lang="fr-FR" smtClean="0"/>
              <a:t>‹#›</a:t>
            </a:fld>
            <a:endParaRPr lang="fr-FR"/>
          </a:p>
        </p:txBody>
      </p:sp>
    </p:spTree>
    <p:extLst>
      <p:ext uri="{BB962C8B-B14F-4D97-AF65-F5344CB8AC3E}">
        <p14:creationId xmlns:p14="http://schemas.microsoft.com/office/powerpoint/2010/main" val="154769708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FF5FEE95-2E83-4D45-987C-F0DA7B5E64B4}" type="datetime1">
              <a:rPr lang="fr-FR" smtClean="0"/>
              <a:t>09/09/2021</a:t>
            </a:fld>
            <a:endParaRPr lang="fr-FR"/>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fr-FR"/>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C52ED629-2BC0-4D25-969E-9ED78B40D7C7}" type="slidenum">
              <a:rPr lang="fr-FR" smtClean="0"/>
              <a:t>‹#›</a:t>
            </a:fld>
            <a:endParaRPr lang="fr-FR"/>
          </a:p>
        </p:txBody>
      </p:sp>
    </p:spTree>
    <p:extLst>
      <p:ext uri="{BB962C8B-B14F-4D97-AF65-F5344CB8AC3E}">
        <p14:creationId xmlns:p14="http://schemas.microsoft.com/office/powerpoint/2010/main" val="3203732049"/>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8.xml"/><Relationship Id="rId5" Type="http://schemas.openxmlformats.org/officeDocument/2006/relationships/image" Target="../media/image48.png"/><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998D7-6C92-4861-96BC-F7D0801DF55F}"/>
              </a:ext>
            </a:extLst>
          </p:cNvPr>
          <p:cNvSpPr>
            <a:spLocks noGrp="1"/>
          </p:cNvSpPr>
          <p:nvPr>
            <p:ph type="ctrTitle"/>
          </p:nvPr>
        </p:nvSpPr>
        <p:spPr/>
        <p:txBody>
          <a:bodyPr>
            <a:normAutofit/>
          </a:bodyPr>
          <a:lstStyle/>
          <a:p>
            <a:r>
              <a:rPr lang="fr-FR" sz="3200" dirty="0"/>
              <a:t>Rapport de stage</a:t>
            </a:r>
            <a:br>
              <a:rPr lang="fr-FR" sz="3200" dirty="0"/>
            </a:br>
            <a:br>
              <a:rPr lang="fr-FR" sz="3200" dirty="0"/>
            </a:br>
            <a:r>
              <a:rPr lang="fr-FR" sz="3200" dirty="0"/>
              <a:t>Concepteur Développeur d’Applications</a:t>
            </a:r>
            <a:br>
              <a:rPr lang="fr-FR" sz="3200" dirty="0"/>
            </a:br>
            <a:endParaRPr lang="fr-FR" sz="3200" dirty="0"/>
          </a:p>
        </p:txBody>
      </p:sp>
      <p:sp>
        <p:nvSpPr>
          <p:cNvPr id="3" name="Subtitle 2">
            <a:extLst>
              <a:ext uri="{FF2B5EF4-FFF2-40B4-BE49-F238E27FC236}">
                <a16:creationId xmlns:a16="http://schemas.microsoft.com/office/drawing/2014/main" id="{D1CDB67A-DD8C-4B4F-B70E-CAFA8B9FC05F}"/>
              </a:ext>
            </a:extLst>
          </p:cNvPr>
          <p:cNvSpPr>
            <a:spLocks noGrp="1"/>
          </p:cNvSpPr>
          <p:nvPr>
            <p:ph type="subTitle" idx="1"/>
          </p:nvPr>
        </p:nvSpPr>
        <p:spPr/>
        <p:txBody>
          <a:bodyPr>
            <a:normAutofit/>
          </a:bodyPr>
          <a:lstStyle/>
          <a:p>
            <a:r>
              <a:rPr lang="fr-FR" sz="2400" dirty="0"/>
              <a:t>Du 16 </a:t>
            </a:r>
            <a:r>
              <a:rPr lang="fr-FR" sz="2400" dirty="0" err="1"/>
              <a:t>decembre</a:t>
            </a:r>
            <a:r>
              <a:rPr lang="fr-FR" sz="2400" dirty="0"/>
              <a:t> 2020 au 31 aout 2021</a:t>
            </a:r>
            <a:endParaRPr lang="fr-FR" dirty="0"/>
          </a:p>
          <a:p>
            <a:r>
              <a:rPr lang="fr-FR" dirty="0"/>
              <a:t>Vladislav PITENTII</a:t>
            </a:r>
          </a:p>
        </p:txBody>
      </p:sp>
      <p:pic>
        <p:nvPicPr>
          <p:cNvPr id="5" name="Picture 4">
            <a:extLst>
              <a:ext uri="{FF2B5EF4-FFF2-40B4-BE49-F238E27FC236}">
                <a16:creationId xmlns:a16="http://schemas.microsoft.com/office/drawing/2014/main" id="{8417660D-6924-4569-BD01-3285115F9CAA}"/>
              </a:ext>
            </a:extLst>
          </p:cNvPr>
          <p:cNvPicPr>
            <a:picLocks noChangeAspect="1"/>
          </p:cNvPicPr>
          <p:nvPr/>
        </p:nvPicPr>
        <p:blipFill>
          <a:blip r:embed="rId3"/>
          <a:stretch>
            <a:fillRect/>
          </a:stretch>
        </p:blipFill>
        <p:spPr>
          <a:xfrm>
            <a:off x="10477390" y="5764015"/>
            <a:ext cx="1285714" cy="720000"/>
          </a:xfrm>
          <a:prstGeom prst="rect">
            <a:avLst/>
          </a:prstGeom>
        </p:spPr>
      </p:pic>
      <p:sp>
        <p:nvSpPr>
          <p:cNvPr id="4" name="TextBox 3">
            <a:extLst>
              <a:ext uri="{FF2B5EF4-FFF2-40B4-BE49-F238E27FC236}">
                <a16:creationId xmlns:a16="http://schemas.microsoft.com/office/drawing/2014/main" id="{E040B901-4C1F-46A9-BF48-5D21FABC9F6C}"/>
              </a:ext>
            </a:extLst>
          </p:cNvPr>
          <p:cNvSpPr txBox="1"/>
          <p:nvPr/>
        </p:nvSpPr>
        <p:spPr>
          <a:xfrm>
            <a:off x="230816" y="5886896"/>
            <a:ext cx="6991350" cy="523220"/>
          </a:xfrm>
          <a:prstGeom prst="rect">
            <a:avLst/>
          </a:prstGeom>
          <a:noFill/>
        </p:spPr>
        <p:txBody>
          <a:bodyPr wrap="square" rtlCol="0">
            <a:spAutoFit/>
          </a:bodyPr>
          <a:lstStyle/>
          <a:p>
            <a:br>
              <a:rPr lang="fr-FR" sz="1400" dirty="0">
                <a:solidFill>
                  <a:schemeClr val="bg1"/>
                </a:solidFill>
              </a:rPr>
            </a:br>
            <a:r>
              <a:rPr lang="fr-FR" sz="1400" dirty="0">
                <a:solidFill>
                  <a:schemeClr val="bg1"/>
                </a:solidFill>
              </a:rPr>
              <a:t>Centre de formation : AFPA, Paris Politzer 75012</a:t>
            </a:r>
          </a:p>
        </p:txBody>
      </p:sp>
    </p:spTree>
    <p:extLst>
      <p:ext uri="{BB962C8B-B14F-4D97-AF65-F5344CB8AC3E}">
        <p14:creationId xmlns:p14="http://schemas.microsoft.com/office/powerpoint/2010/main" val="3884817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EA0FE-1FC7-4BE1-8831-4B7EE9C56EF1}"/>
              </a:ext>
            </a:extLst>
          </p:cNvPr>
          <p:cNvSpPr>
            <a:spLocks noGrp="1"/>
          </p:cNvSpPr>
          <p:nvPr>
            <p:ph type="title"/>
          </p:nvPr>
        </p:nvSpPr>
        <p:spPr>
          <a:xfrm>
            <a:off x="1143000" y="609600"/>
            <a:ext cx="9875520" cy="598612"/>
          </a:xfrm>
        </p:spPr>
        <p:txBody>
          <a:bodyPr>
            <a:normAutofit fontScale="90000"/>
          </a:bodyPr>
          <a:lstStyle/>
          <a:p>
            <a:r>
              <a:rPr lang="fr-FR" dirty="0"/>
              <a:t>Sommaire</a:t>
            </a:r>
          </a:p>
        </p:txBody>
      </p:sp>
      <p:sp>
        <p:nvSpPr>
          <p:cNvPr id="3" name="Content Placeholder 2">
            <a:extLst>
              <a:ext uri="{FF2B5EF4-FFF2-40B4-BE49-F238E27FC236}">
                <a16:creationId xmlns:a16="http://schemas.microsoft.com/office/drawing/2014/main" id="{6CA24CD1-DBF4-4D95-BEFB-6FCE74885548}"/>
              </a:ext>
            </a:extLst>
          </p:cNvPr>
          <p:cNvSpPr>
            <a:spLocks noGrp="1"/>
          </p:cNvSpPr>
          <p:nvPr>
            <p:ph sz="half" idx="1"/>
          </p:nvPr>
        </p:nvSpPr>
        <p:spPr>
          <a:xfrm>
            <a:off x="1143000" y="1351280"/>
            <a:ext cx="4754880" cy="4872548"/>
          </a:xfrm>
        </p:spPr>
        <p:txBody>
          <a:bodyPr vert="horz" lIns="91440" tIns="45720" rIns="91440" bIns="45720" rtlCol="0" anchor="t">
            <a:normAutofit fontScale="70000" lnSpcReduction="20000"/>
          </a:bodyPr>
          <a:lstStyle/>
          <a:p>
            <a:pPr marL="560070" indent="-514350">
              <a:buFont typeface="+mj-lt"/>
              <a:buAutoNum type="romanUcPeriod"/>
            </a:pPr>
            <a:r>
              <a:rPr lang="fr-FR" sz="2400" dirty="0"/>
              <a:t>Remerciements </a:t>
            </a:r>
            <a:r>
              <a:rPr lang="fr-FR" sz="1600" dirty="0"/>
              <a:t>……………………………....................... .p. 3</a:t>
            </a:r>
            <a:br>
              <a:rPr lang="fr-FR" sz="2400" dirty="0"/>
            </a:br>
            <a:endParaRPr lang="fr-FR" sz="2400" dirty="0"/>
          </a:p>
          <a:p>
            <a:pPr marL="560070" indent="-514350">
              <a:buFont typeface="+mj-lt"/>
              <a:buAutoNum type="romanUcPeriod"/>
            </a:pPr>
            <a:r>
              <a:rPr lang="fr-FR" sz="2400" dirty="0"/>
              <a:t>Introduction</a:t>
            </a:r>
            <a:br>
              <a:rPr lang="fr-FR" dirty="0"/>
            </a:br>
            <a:endParaRPr lang="fr-FR" dirty="0"/>
          </a:p>
          <a:p>
            <a:pPr lvl="2">
              <a:buFont typeface="Wingdings" panose="05000000000000000000" pitchFamily="2" charset="2"/>
              <a:buChar char="§"/>
            </a:pPr>
            <a:r>
              <a:rPr lang="fr-FR" sz="1700" dirty="0"/>
              <a:t>Période préformation</a:t>
            </a:r>
            <a:r>
              <a:rPr lang="fr-FR" sz="1600" dirty="0"/>
              <a:t>………………………………………………..p. 4</a:t>
            </a:r>
          </a:p>
          <a:p>
            <a:pPr lvl="2">
              <a:buFont typeface="Wingdings" panose="05000000000000000000" pitchFamily="2" charset="2"/>
              <a:buChar char="§"/>
            </a:pPr>
            <a:r>
              <a:rPr lang="fr-FR" sz="1700" dirty="0"/>
              <a:t>Période de recherche de stage</a:t>
            </a:r>
            <a:r>
              <a:rPr lang="fr-FR" sz="1600" dirty="0"/>
              <a:t>……………………………………p. 4</a:t>
            </a:r>
            <a:br>
              <a:rPr lang="fr-FR" sz="1600" dirty="0"/>
            </a:br>
            <a:endParaRPr lang="fr-FR" sz="1600" dirty="0"/>
          </a:p>
          <a:p>
            <a:pPr marL="560070" indent="-514350">
              <a:buFont typeface="+mj-lt"/>
              <a:buAutoNum type="romanUcPeriod"/>
            </a:pPr>
            <a:r>
              <a:rPr lang="fr-FR" sz="2400" dirty="0"/>
              <a:t>Environnement de travail</a:t>
            </a:r>
            <a:br>
              <a:rPr lang="fr-FR" dirty="0"/>
            </a:br>
            <a:endParaRPr lang="fr-FR" dirty="0"/>
          </a:p>
          <a:p>
            <a:pPr lvl="2">
              <a:buFont typeface="Wingdings" panose="05000000000000000000" pitchFamily="2" charset="2"/>
              <a:buChar char="§"/>
            </a:pPr>
            <a:r>
              <a:rPr lang="fr-FR" sz="1700" dirty="0"/>
              <a:t>Langages et base de données </a:t>
            </a:r>
            <a:r>
              <a:rPr lang="fr-FR" sz="1600" dirty="0"/>
              <a:t>…………………………….. ……p. 6</a:t>
            </a:r>
          </a:p>
          <a:p>
            <a:pPr lvl="2">
              <a:buFont typeface="Wingdings" panose="05000000000000000000" pitchFamily="2" charset="2"/>
              <a:buChar char="§"/>
            </a:pPr>
            <a:r>
              <a:rPr lang="fr-FR" sz="1700" dirty="0" err="1"/>
              <a:t>Frameworks</a:t>
            </a:r>
            <a:r>
              <a:rPr lang="fr-FR" sz="1700" dirty="0"/>
              <a:t> et bibliothèques</a:t>
            </a:r>
            <a:r>
              <a:rPr lang="fr-FR" sz="1600" dirty="0"/>
              <a:t>………………………</a:t>
            </a:r>
            <a:r>
              <a:rPr lang="en-US" sz="1600" dirty="0"/>
              <a:t>…………….</a:t>
            </a:r>
            <a:r>
              <a:rPr lang="fr-FR" sz="1600" dirty="0"/>
              <a:t>p. 7</a:t>
            </a:r>
          </a:p>
          <a:p>
            <a:pPr lvl="2">
              <a:buFont typeface="Wingdings" panose="05000000000000000000" pitchFamily="2" charset="2"/>
              <a:buChar char="§"/>
            </a:pPr>
            <a:r>
              <a:rPr lang="fr-FR" sz="1700" dirty="0"/>
              <a:t>Git </a:t>
            </a:r>
            <a:r>
              <a:rPr lang="en-US" sz="1700" dirty="0"/>
              <a:t>&amp; </a:t>
            </a:r>
            <a:r>
              <a:rPr lang="en-US" sz="1700" dirty="0" err="1"/>
              <a:t>Github</a:t>
            </a:r>
            <a:r>
              <a:rPr lang="fr-FR" sz="1600" dirty="0"/>
              <a:t>………………………………............................……..p. 8</a:t>
            </a:r>
          </a:p>
          <a:p>
            <a:pPr lvl="2">
              <a:buFont typeface="Wingdings" panose="05000000000000000000" pitchFamily="2" charset="2"/>
              <a:buChar char="§"/>
            </a:pPr>
            <a:r>
              <a:rPr lang="fr-FR" sz="1700" dirty="0"/>
              <a:t>Editeur de </a:t>
            </a:r>
            <a:r>
              <a:rPr lang="fr-FR" sz="1700" dirty="0" err="1"/>
              <a:t>text</a:t>
            </a:r>
            <a:r>
              <a:rPr lang="fr-FR" sz="1700" dirty="0"/>
              <a:t>, IDE et quelques outils</a:t>
            </a:r>
            <a:r>
              <a:rPr lang="fr-FR" sz="1600" dirty="0"/>
              <a:t>……………..............p. 9</a:t>
            </a:r>
          </a:p>
          <a:p>
            <a:pPr marL="560070" indent="-514350">
              <a:buFont typeface="+mj-lt"/>
              <a:buAutoNum type="romanUcPeriod"/>
            </a:pPr>
            <a:r>
              <a:rPr lang="fr-FR" sz="2100" dirty="0"/>
              <a:t>Développement itératif et incrémental</a:t>
            </a:r>
            <a:br>
              <a:rPr lang="fr-FR" sz="2100" dirty="0"/>
            </a:br>
            <a:endParaRPr lang="fr-FR" sz="1900" dirty="0"/>
          </a:p>
          <a:p>
            <a:pPr lvl="2">
              <a:buFont typeface="Wingdings" panose="05000000000000000000" pitchFamily="2" charset="2"/>
              <a:buChar char="§"/>
            </a:pPr>
            <a:r>
              <a:rPr lang="fr-FR" sz="1500" dirty="0"/>
              <a:t>Les versions ………………………………………………………………p. 11</a:t>
            </a:r>
          </a:p>
          <a:p>
            <a:pPr marL="560070" indent="-514350">
              <a:buFont typeface="+mj-lt"/>
              <a:buAutoNum type="romanUcPeriod"/>
            </a:pPr>
            <a:r>
              <a:rPr lang="fr-FR" sz="2100" dirty="0"/>
              <a:t>Apprentissage</a:t>
            </a:r>
            <a:br>
              <a:rPr lang="fr-FR" sz="2100" dirty="0"/>
            </a:br>
            <a:endParaRPr lang="fr-FR" sz="2100" dirty="0"/>
          </a:p>
          <a:p>
            <a:pPr lvl="2">
              <a:buFont typeface="Wingdings" panose="05000000000000000000" pitchFamily="2" charset="2"/>
              <a:buChar char="§"/>
            </a:pPr>
            <a:r>
              <a:rPr lang="fr-FR" sz="1600" dirty="0">
                <a:ea typeface="+mn-lt"/>
                <a:cs typeface="+mn-lt"/>
              </a:rPr>
              <a:t>Spring Boot et </a:t>
            </a:r>
            <a:r>
              <a:rPr lang="fr-FR" sz="1600" dirty="0" err="1">
                <a:ea typeface="+mn-lt"/>
                <a:cs typeface="+mn-lt"/>
              </a:rPr>
              <a:t>Angular</a:t>
            </a:r>
            <a:r>
              <a:rPr lang="fr-FR" sz="1600" dirty="0">
                <a:ea typeface="+mn-lt"/>
                <a:cs typeface="+mn-lt"/>
              </a:rPr>
              <a:t> …………………………………………………p. 14</a:t>
            </a:r>
            <a:endParaRPr lang="fr-FR" sz="1600" dirty="0"/>
          </a:p>
        </p:txBody>
      </p:sp>
      <p:sp>
        <p:nvSpPr>
          <p:cNvPr id="10" name="Content Placeholder 9">
            <a:extLst>
              <a:ext uri="{FF2B5EF4-FFF2-40B4-BE49-F238E27FC236}">
                <a16:creationId xmlns:a16="http://schemas.microsoft.com/office/drawing/2014/main" id="{5EE7C0F3-3B4F-439F-BF0A-B4E471BF2FAD}"/>
              </a:ext>
            </a:extLst>
          </p:cNvPr>
          <p:cNvSpPr>
            <a:spLocks noGrp="1"/>
          </p:cNvSpPr>
          <p:nvPr>
            <p:ph sz="half" idx="2"/>
          </p:nvPr>
        </p:nvSpPr>
        <p:spPr>
          <a:xfrm>
            <a:off x="6267612" y="786808"/>
            <a:ext cx="5056062" cy="5461591"/>
          </a:xfrm>
        </p:spPr>
        <p:txBody>
          <a:bodyPr>
            <a:normAutofit fontScale="70000" lnSpcReduction="20000"/>
          </a:bodyPr>
          <a:lstStyle/>
          <a:p>
            <a:pPr marL="560070" indent="-514350">
              <a:buFont typeface="+mj-lt"/>
              <a:buAutoNum type="romanUcPeriod" startAt="5"/>
            </a:pPr>
            <a:r>
              <a:rPr lang="fr-FR" dirty="0">
                <a:ea typeface="+mn-lt"/>
                <a:cs typeface="+mn-lt"/>
              </a:rPr>
              <a:t>Conception</a:t>
            </a:r>
            <a:br>
              <a:rPr lang="fr-FR" dirty="0">
                <a:ea typeface="+mn-lt"/>
                <a:cs typeface="+mn-lt"/>
              </a:rPr>
            </a:br>
            <a:endParaRPr lang="fr-FR" dirty="0">
              <a:ea typeface="+mn-lt"/>
              <a:cs typeface="+mn-lt"/>
            </a:endParaRPr>
          </a:p>
          <a:p>
            <a:pPr lvl="2">
              <a:buFont typeface="Wingdings" panose="05000000000000000000" pitchFamily="2" charset="2"/>
              <a:buChar char="§"/>
            </a:pPr>
            <a:r>
              <a:rPr lang="fr-FR" sz="1600" dirty="0">
                <a:ea typeface="+mn-lt"/>
                <a:cs typeface="+mn-lt"/>
              </a:rPr>
              <a:t>L’Architecture ………………………………………………………………... p. 16</a:t>
            </a:r>
            <a:endParaRPr lang="en-US" sz="1600" dirty="0">
              <a:ea typeface="+mn-lt"/>
              <a:cs typeface="+mn-lt"/>
            </a:endParaRPr>
          </a:p>
          <a:p>
            <a:pPr lvl="2">
              <a:buFont typeface="Wingdings" panose="05000000000000000000" pitchFamily="2" charset="2"/>
              <a:buChar char="§"/>
            </a:pPr>
            <a:r>
              <a:rPr lang="fr-FR" sz="1600" dirty="0">
                <a:ea typeface="+mn-lt"/>
                <a:cs typeface="+mn-lt"/>
              </a:rPr>
              <a:t>La Structure …………………………………………………………………… p. 17</a:t>
            </a:r>
          </a:p>
          <a:p>
            <a:pPr lvl="2">
              <a:buFont typeface="Wingdings" panose="05000000000000000000" pitchFamily="2" charset="2"/>
              <a:buChar char="§"/>
            </a:pPr>
            <a:r>
              <a:rPr lang="fr-FR" sz="1600" dirty="0">
                <a:ea typeface="+mn-lt"/>
                <a:cs typeface="+mn-lt"/>
              </a:rPr>
              <a:t>Schéma de la base de données  ………………………………………... p. 18</a:t>
            </a:r>
          </a:p>
          <a:p>
            <a:pPr lvl="2">
              <a:buFont typeface="Wingdings" panose="05000000000000000000" pitchFamily="2" charset="2"/>
              <a:buChar char="§"/>
            </a:pPr>
            <a:r>
              <a:rPr lang="fr-FR" sz="1600" dirty="0">
                <a:ea typeface="+mn-lt"/>
                <a:cs typeface="+mn-lt"/>
              </a:rPr>
              <a:t>Diagramme des classes …………………………………………………... p. 19</a:t>
            </a:r>
          </a:p>
          <a:p>
            <a:pPr marL="560070" indent="-514350">
              <a:buFont typeface="+mj-lt"/>
              <a:buAutoNum type="romanUcPeriod" startAt="5"/>
            </a:pPr>
            <a:r>
              <a:rPr lang="fr-FR" dirty="0">
                <a:ea typeface="+mn-lt"/>
                <a:cs typeface="+mn-lt"/>
              </a:rPr>
              <a:t>Implémentation</a:t>
            </a:r>
            <a:br>
              <a:rPr lang="fr-FR" dirty="0">
                <a:ea typeface="+mn-lt"/>
                <a:cs typeface="+mn-lt"/>
              </a:rPr>
            </a:br>
            <a:endParaRPr lang="fr-FR" sz="2000" dirty="0">
              <a:ea typeface="+mn-lt"/>
              <a:cs typeface="+mn-lt"/>
            </a:endParaRPr>
          </a:p>
          <a:p>
            <a:pPr lvl="2">
              <a:buFont typeface="Wingdings" panose="05000000000000000000" pitchFamily="2" charset="2"/>
              <a:buChar char="§"/>
            </a:pPr>
            <a:r>
              <a:rPr lang="fr-FR" sz="1600" dirty="0">
                <a:ea typeface="+mn-lt"/>
                <a:cs typeface="+mn-lt"/>
              </a:rPr>
              <a:t>Les entités</a:t>
            </a:r>
            <a:r>
              <a:rPr lang="en-US" sz="1600" dirty="0">
                <a:ea typeface="+mn-lt"/>
                <a:cs typeface="+mn-lt"/>
              </a:rPr>
              <a:t>…………………………………….</a:t>
            </a:r>
            <a:r>
              <a:rPr lang="fr-FR" sz="1600" dirty="0">
                <a:ea typeface="+mn-lt"/>
                <a:cs typeface="+mn-lt"/>
              </a:rPr>
              <a:t>…………………………...... p. 21</a:t>
            </a:r>
          </a:p>
          <a:p>
            <a:pPr lvl="2">
              <a:buFont typeface="Wingdings" panose="05000000000000000000" pitchFamily="2" charset="2"/>
              <a:buChar char="§"/>
            </a:pPr>
            <a:r>
              <a:rPr lang="fr-FR" sz="1600" dirty="0">
                <a:ea typeface="+mn-lt"/>
                <a:cs typeface="+mn-lt"/>
              </a:rPr>
              <a:t>Repository ……………….……………………………………………………p. 22</a:t>
            </a:r>
          </a:p>
          <a:p>
            <a:pPr lvl="2">
              <a:buFont typeface="Wingdings" panose="05000000000000000000" pitchFamily="2" charset="2"/>
              <a:buChar char="§"/>
            </a:pPr>
            <a:r>
              <a:rPr lang="fr-FR" sz="1600" dirty="0">
                <a:ea typeface="+mn-lt"/>
                <a:cs typeface="+mn-lt"/>
              </a:rPr>
              <a:t>Service………………………………………………………………………….p. 23</a:t>
            </a:r>
          </a:p>
          <a:p>
            <a:pPr lvl="2">
              <a:buFont typeface="Wingdings" panose="05000000000000000000" pitchFamily="2" charset="2"/>
              <a:buChar char="§"/>
            </a:pPr>
            <a:r>
              <a:rPr lang="fr-FR" sz="1600" dirty="0">
                <a:ea typeface="+mn-lt"/>
                <a:cs typeface="+mn-lt"/>
              </a:rPr>
              <a:t>Controlleur REST……………………………………………………………p. 24</a:t>
            </a:r>
          </a:p>
          <a:p>
            <a:pPr lvl="2">
              <a:buFont typeface="Wingdings" panose="05000000000000000000" pitchFamily="2" charset="2"/>
              <a:buChar char="§"/>
            </a:pPr>
            <a:r>
              <a:rPr lang="fr-FR" sz="1600" dirty="0">
                <a:ea typeface="+mn-lt"/>
                <a:cs typeface="+mn-lt"/>
              </a:rPr>
              <a:t>Ecouteur d’</a:t>
            </a:r>
            <a:r>
              <a:rPr lang="fr-FR" sz="1600" dirty="0" err="1">
                <a:ea typeface="+mn-lt"/>
                <a:cs typeface="+mn-lt"/>
              </a:rPr>
              <a:t>evenements</a:t>
            </a:r>
            <a:r>
              <a:rPr lang="fr-FR" sz="1600" dirty="0">
                <a:ea typeface="+mn-lt"/>
                <a:cs typeface="+mn-lt"/>
              </a:rPr>
              <a:t>………………………………………..............p. 25</a:t>
            </a:r>
          </a:p>
          <a:p>
            <a:pPr lvl="2">
              <a:buFont typeface="Wingdings" panose="05000000000000000000" pitchFamily="2" charset="2"/>
              <a:buChar char="§"/>
            </a:pPr>
            <a:r>
              <a:rPr lang="fr-FR" sz="1600" dirty="0">
                <a:ea typeface="+mn-lt"/>
                <a:cs typeface="+mn-lt"/>
              </a:rPr>
              <a:t>Creation de compte………………………………………………………..p. 26</a:t>
            </a:r>
          </a:p>
          <a:p>
            <a:pPr lvl="2">
              <a:buFont typeface="Wingdings" panose="05000000000000000000" pitchFamily="2" charset="2"/>
              <a:buChar char="§"/>
            </a:pPr>
            <a:r>
              <a:rPr lang="fr-FR" sz="1600" dirty="0">
                <a:ea typeface="+mn-lt"/>
                <a:cs typeface="+mn-lt"/>
              </a:rPr>
              <a:t>Cas d’utilisation « Creation de compte » …………………………….p. 27</a:t>
            </a:r>
          </a:p>
          <a:p>
            <a:pPr lvl="2">
              <a:buFont typeface="Wingdings" panose="05000000000000000000" pitchFamily="2" charset="2"/>
              <a:buChar char="§"/>
            </a:pPr>
            <a:r>
              <a:rPr lang="fr-FR" sz="1600" dirty="0">
                <a:ea typeface="+mn-lt"/>
                <a:cs typeface="+mn-lt"/>
              </a:rPr>
              <a:t>Diagrammes de séquences « List  » + code ……………………......p. 54</a:t>
            </a:r>
          </a:p>
          <a:p>
            <a:pPr lvl="2">
              <a:buFont typeface="Wingdings" panose="05000000000000000000" pitchFamily="2" charset="2"/>
              <a:buChar char="§"/>
            </a:pPr>
            <a:r>
              <a:rPr lang="fr-FR" sz="1600" dirty="0">
                <a:ea typeface="+mn-lt"/>
                <a:cs typeface="+mn-lt"/>
              </a:rPr>
              <a:t>Tâche de fonds périodique (scheduler) ………………………………p. 55</a:t>
            </a:r>
          </a:p>
          <a:p>
            <a:pPr lvl="2">
              <a:buFont typeface="Wingdings" panose="05000000000000000000" pitchFamily="2" charset="2"/>
              <a:buChar char="§"/>
            </a:pPr>
            <a:r>
              <a:rPr lang="fr-FR" sz="1600" dirty="0">
                <a:ea typeface="+mn-lt"/>
                <a:cs typeface="+mn-lt"/>
              </a:rPr>
              <a:t>Lancement application + </a:t>
            </a:r>
            <a:r>
              <a:rPr lang="fr-FR" sz="1600" dirty="0" err="1">
                <a:ea typeface="+mn-lt"/>
                <a:cs typeface="+mn-lt"/>
              </a:rPr>
              <a:t>scheduler</a:t>
            </a:r>
            <a:r>
              <a:rPr lang="fr-FR" sz="1600" dirty="0">
                <a:ea typeface="+mn-lt"/>
                <a:cs typeface="+mn-lt"/>
              </a:rPr>
              <a:t> …………………………………..p. 56</a:t>
            </a:r>
          </a:p>
          <a:p>
            <a:pPr lvl="2">
              <a:buFont typeface="Wingdings" panose="05000000000000000000" pitchFamily="2" charset="2"/>
              <a:buChar char="§"/>
            </a:pPr>
            <a:r>
              <a:rPr lang="fr-FR" sz="1600" dirty="0">
                <a:ea typeface="+mn-lt"/>
                <a:cs typeface="+mn-lt"/>
              </a:rPr>
              <a:t>Déploiement dans Cloud </a:t>
            </a:r>
            <a:r>
              <a:rPr lang="fr-FR" sz="1600" dirty="0" err="1">
                <a:ea typeface="+mn-lt"/>
                <a:cs typeface="+mn-lt"/>
              </a:rPr>
              <a:t>Foundry</a:t>
            </a:r>
            <a:r>
              <a:rPr lang="fr-FR" sz="1600" dirty="0">
                <a:ea typeface="+mn-lt"/>
                <a:cs typeface="+mn-lt"/>
              </a:rPr>
              <a:t> …………………………………….p. 57</a:t>
            </a:r>
          </a:p>
          <a:p>
            <a:pPr marL="560070" indent="-514350">
              <a:buFont typeface="+mj-lt"/>
              <a:buAutoNum type="romanUcPeriod" startAt="7"/>
            </a:pPr>
            <a:r>
              <a:rPr lang="fr-FR" sz="2000" dirty="0">
                <a:ea typeface="+mn-lt"/>
                <a:cs typeface="+mn-lt"/>
              </a:rPr>
              <a:t>Tests et Contrôles</a:t>
            </a:r>
            <a:br>
              <a:rPr lang="fr-FR" sz="2000" dirty="0">
                <a:ea typeface="+mn-lt"/>
                <a:cs typeface="+mn-lt"/>
              </a:rPr>
            </a:br>
            <a:endParaRPr lang="fr-FR" sz="2000" dirty="0">
              <a:ea typeface="+mn-lt"/>
              <a:cs typeface="+mn-lt"/>
            </a:endParaRPr>
          </a:p>
          <a:p>
            <a:pPr lvl="2">
              <a:buFont typeface="Wingdings" panose="05000000000000000000" pitchFamily="2" charset="2"/>
              <a:buChar char="§"/>
            </a:pPr>
            <a:r>
              <a:rPr lang="fr-FR" sz="1600" dirty="0">
                <a:ea typeface="+mn-lt"/>
                <a:cs typeface="+mn-lt"/>
              </a:rPr>
              <a:t>Intégration continue – workflow  ……………………………………. p. 60</a:t>
            </a:r>
          </a:p>
          <a:p>
            <a:pPr lvl="2">
              <a:buFont typeface="Wingdings" panose="05000000000000000000" pitchFamily="2" charset="2"/>
              <a:buChar char="§"/>
            </a:pPr>
            <a:r>
              <a:rPr lang="fr-FR" sz="1600" dirty="0">
                <a:ea typeface="+mn-lt"/>
                <a:cs typeface="+mn-lt"/>
              </a:rPr>
              <a:t>Tests unitaires et Coverage – exemples …………………………... p. 62</a:t>
            </a:r>
          </a:p>
          <a:p>
            <a:pPr lvl="2">
              <a:buFont typeface="Wingdings" panose="05000000000000000000" pitchFamily="2" charset="2"/>
              <a:buChar char="§"/>
            </a:pPr>
            <a:r>
              <a:rPr lang="fr-FR" sz="1600" dirty="0">
                <a:ea typeface="+mn-lt"/>
                <a:cs typeface="+mn-lt"/>
              </a:rPr>
              <a:t>Pylint – qualité du code …………………………………………………. p. 65</a:t>
            </a:r>
          </a:p>
          <a:p>
            <a:pPr marL="560070" indent="-514350">
              <a:buFont typeface="+mj-lt"/>
              <a:buAutoNum type="romanUcPeriod" startAt="8"/>
            </a:pPr>
            <a:r>
              <a:rPr lang="fr-FR" dirty="0"/>
              <a:t>Conclusion </a:t>
            </a:r>
            <a:r>
              <a:rPr lang="fr-FR" sz="1600" dirty="0"/>
              <a:t>…………………………………………………………………. p. 66</a:t>
            </a:r>
            <a:endParaRPr lang="en-US" sz="1600" dirty="0"/>
          </a:p>
        </p:txBody>
      </p:sp>
      <p:sp>
        <p:nvSpPr>
          <p:cNvPr id="7" name="Slide Number Placeholder 6">
            <a:extLst>
              <a:ext uri="{FF2B5EF4-FFF2-40B4-BE49-F238E27FC236}">
                <a16:creationId xmlns:a16="http://schemas.microsoft.com/office/drawing/2014/main" id="{15265A5D-B1DD-409D-BCB8-E027B753D3B7}"/>
              </a:ext>
            </a:extLst>
          </p:cNvPr>
          <p:cNvSpPr>
            <a:spLocks noGrp="1"/>
          </p:cNvSpPr>
          <p:nvPr>
            <p:ph type="sldNum" sz="quarter" idx="12"/>
          </p:nvPr>
        </p:nvSpPr>
        <p:spPr/>
        <p:txBody>
          <a:bodyPr/>
          <a:lstStyle/>
          <a:p>
            <a:r>
              <a:rPr lang="fr-FR" dirty="0"/>
              <a:t>2</a:t>
            </a:r>
          </a:p>
        </p:txBody>
      </p:sp>
    </p:spTree>
    <p:extLst>
      <p:ext uri="{BB962C8B-B14F-4D97-AF65-F5344CB8AC3E}">
        <p14:creationId xmlns:p14="http://schemas.microsoft.com/office/powerpoint/2010/main" val="3441163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C2A16-4809-4343-9AD9-FC35EEBC8BD2}"/>
              </a:ext>
            </a:extLst>
          </p:cNvPr>
          <p:cNvSpPr>
            <a:spLocks noGrp="1"/>
          </p:cNvSpPr>
          <p:nvPr>
            <p:ph type="title"/>
          </p:nvPr>
        </p:nvSpPr>
        <p:spPr>
          <a:xfrm>
            <a:off x="1143000" y="609600"/>
            <a:ext cx="9875520" cy="518556"/>
          </a:xfrm>
        </p:spPr>
        <p:txBody>
          <a:bodyPr>
            <a:normAutofit fontScale="90000"/>
          </a:bodyPr>
          <a:lstStyle/>
          <a:p>
            <a:r>
              <a:rPr lang="fr-FR" dirty="0"/>
              <a:t>Remerciements</a:t>
            </a:r>
          </a:p>
        </p:txBody>
      </p:sp>
      <p:sp>
        <p:nvSpPr>
          <p:cNvPr id="3" name="Content Placeholder 2">
            <a:extLst>
              <a:ext uri="{FF2B5EF4-FFF2-40B4-BE49-F238E27FC236}">
                <a16:creationId xmlns:a16="http://schemas.microsoft.com/office/drawing/2014/main" id="{7B1F2629-B480-458C-B055-E0435A58E469}"/>
              </a:ext>
            </a:extLst>
          </p:cNvPr>
          <p:cNvSpPr>
            <a:spLocks noGrp="1"/>
          </p:cNvSpPr>
          <p:nvPr>
            <p:ph idx="1"/>
          </p:nvPr>
        </p:nvSpPr>
        <p:spPr>
          <a:xfrm>
            <a:off x="1143000" y="1254903"/>
            <a:ext cx="9872871" cy="4860966"/>
          </a:xfrm>
        </p:spPr>
        <p:txBody>
          <a:bodyPr>
            <a:normAutofit/>
          </a:bodyPr>
          <a:lstStyle/>
          <a:p>
            <a:r>
              <a:rPr lang="fr-FR" dirty="0"/>
              <a:t>Je tiens à remercier l'AFPA, pour m'avoir donné ma chance en validant ma candidature pour la formation.</a:t>
            </a:r>
          </a:p>
          <a:p>
            <a:r>
              <a:rPr lang="fr-FR" dirty="0"/>
              <a:t>Je remercie également Moussa Camara, mon formateur qui, par la qualité de son enseignement et sa pédagogie, m'a permis d'acquérir des bases solides en m'aidant pendant les cours et en consacrant son temps libre.</a:t>
            </a:r>
          </a:p>
          <a:p>
            <a:r>
              <a:rPr lang="fr-FR" sz="2400" dirty="0"/>
              <a:t>Un mot en particulier sur notre professeur d’anglais </a:t>
            </a:r>
            <a:r>
              <a:rPr lang="fr-FR" sz="2400" dirty="0" err="1"/>
              <a:t>Susannah</a:t>
            </a:r>
            <a:r>
              <a:rPr lang="fr-FR" sz="2400" dirty="0"/>
              <a:t> pour ses cours intelligents et intéressants.</a:t>
            </a:r>
          </a:p>
          <a:p>
            <a:endParaRPr lang="fr-FR" dirty="0"/>
          </a:p>
        </p:txBody>
      </p:sp>
      <p:sp>
        <p:nvSpPr>
          <p:cNvPr id="4" name="Slide Number Placeholder 3">
            <a:extLst>
              <a:ext uri="{FF2B5EF4-FFF2-40B4-BE49-F238E27FC236}">
                <a16:creationId xmlns:a16="http://schemas.microsoft.com/office/drawing/2014/main" id="{8DEA1AC9-502E-4FE3-8191-EB446B5C1922}"/>
              </a:ext>
            </a:extLst>
          </p:cNvPr>
          <p:cNvSpPr>
            <a:spLocks noGrp="1"/>
          </p:cNvSpPr>
          <p:nvPr>
            <p:ph type="sldNum" sz="quarter" idx="12"/>
          </p:nvPr>
        </p:nvSpPr>
        <p:spPr/>
        <p:txBody>
          <a:bodyPr/>
          <a:lstStyle/>
          <a:p>
            <a:fld id="{C52ED629-2BC0-4D25-969E-9ED78B40D7C7}" type="slidenum">
              <a:rPr lang="fr-FR" smtClean="0"/>
              <a:t>3</a:t>
            </a:fld>
            <a:endParaRPr lang="fr-FR"/>
          </a:p>
        </p:txBody>
      </p:sp>
    </p:spTree>
    <p:extLst>
      <p:ext uri="{BB962C8B-B14F-4D97-AF65-F5344CB8AC3E}">
        <p14:creationId xmlns:p14="http://schemas.microsoft.com/office/powerpoint/2010/main" val="2333199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6D5C5-2AC4-4117-8590-264770E3C377}"/>
              </a:ext>
            </a:extLst>
          </p:cNvPr>
          <p:cNvSpPr>
            <a:spLocks noGrp="1"/>
          </p:cNvSpPr>
          <p:nvPr>
            <p:ph type="title"/>
          </p:nvPr>
        </p:nvSpPr>
        <p:spPr>
          <a:xfrm>
            <a:off x="929640" y="609600"/>
            <a:ext cx="9875520" cy="601683"/>
          </a:xfrm>
        </p:spPr>
        <p:txBody>
          <a:bodyPr>
            <a:normAutofit fontScale="90000"/>
          </a:bodyPr>
          <a:lstStyle/>
          <a:p>
            <a:r>
              <a:rPr lang="fr-FR" dirty="0"/>
              <a:t>Introduction</a:t>
            </a:r>
          </a:p>
        </p:txBody>
      </p:sp>
      <p:sp>
        <p:nvSpPr>
          <p:cNvPr id="3" name="Content Placeholder 2">
            <a:extLst>
              <a:ext uri="{FF2B5EF4-FFF2-40B4-BE49-F238E27FC236}">
                <a16:creationId xmlns:a16="http://schemas.microsoft.com/office/drawing/2014/main" id="{BB9EDE2B-5897-4AF5-812D-59D3FD9A2C31}"/>
              </a:ext>
            </a:extLst>
          </p:cNvPr>
          <p:cNvSpPr>
            <a:spLocks noGrp="1"/>
          </p:cNvSpPr>
          <p:nvPr>
            <p:ph idx="1"/>
          </p:nvPr>
        </p:nvSpPr>
        <p:spPr>
          <a:xfrm>
            <a:off x="762000" y="1456659"/>
            <a:ext cx="10753060" cy="4639341"/>
          </a:xfrm>
        </p:spPr>
        <p:txBody>
          <a:bodyPr>
            <a:normAutofit/>
          </a:bodyPr>
          <a:lstStyle/>
          <a:p>
            <a:r>
              <a:rPr lang="fr-FR" sz="2000" b="1" dirty="0"/>
              <a:t>Période pré</a:t>
            </a:r>
            <a:r>
              <a:rPr lang="en-US" sz="2000" b="1" dirty="0"/>
              <a:t>formation</a:t>
            </a:r>
            <a:r>
              <a:rPr lang="fr-FR" sz="2000" b="1" dirty="0"/>
              <a:t>: </a:t>
            </a:r>
            <a:r>
              <a:rPr lang="fr-FR" dirty="0"/>
              <a:t>Ayant déjà les connaissances en informatique j’avais décidé de les approfondir par l'inscription en formation.  Parmi celles que j’ai trouvées, la formation “Concepteur Développeur d’Applications” proposée par l’AFPA m’a semblé être la plus prometteuse, et le centre Paris 12eme était la plus proche de chez moi.</a:t>
            </a:r>
          </a:p>
          <a:p>
            <a:r>
              <a:rPr lang="fr-FR" sz="2000" b="1" dirty="0"/>
              <a:t>Période de recherche de stage</a:t>
            </a:r>
            <a:r>
              <a:rPr lang="en-US" b="1" dirty="0"/>
              <a:t>: </a:t>
            </a:r>
            <a:r>
              <a:rPr lang="fr-FR" dirty="0"/>
              <a:t>Malgré mes recherches, je n’ai pas trouvé d’entreprise d’accueil pour effectuer un stage. J’ai donc dû entreprendre la création d’un projet afin de le présenter le jour de l’examen. Sous les conseils de mon formateur, j’ai décidé de continuer le travail sur mon dernier projet en formation de type réseau sociale. Ce type de projet était tout indiqué pour exposer l’ensemble des capacités que j‘ai acquises pendant la formation.</a:t>
            </a:r>
          </a:p>
          <a:p>
            <a:pPr algn="just"/>
            <a:endParaRPr lang="fr-FR" sz="2000" b="1" dirty="0"/>
          </a:p>
          <a:p>
            <a:pPr algn="just"/>
            <a:endParaRPr lang="fr-FR" sz="2000" b="1" dirty="0"/>
          </a:p>
        </p:txBody>
      </p:sp>
      <p:sp>
        <p:nvSpPr>
          <p:cNvPr id="4" name="Slide Number Placeholder 3">
            <a:extLst>
              <a:ext uri="{FF2B5EF4-FFF2-40B4-BE49-F238E27FC236}">
                <a16:creationId xmlns:a16="http://schemas.microsoft.com/office/drawing/2014/main" id="{7A305ADC-D76A-4E94-98C1-162BCA99ECF7}"/>
              </a:ext>
            </a:extLst>
          </p:cNvPr>
          <p:cNvSpPr>
            <a:spLocks noGrp="1"/>
          </p:cNvSpPr>
          <p:nvPr>
            <p:ph type="sldNum" sz="quarter" idx="12"/>
          </p:nvPr>
        </p:nvSpPr>
        <p:spPr/>
        <p:txBody>
          <a:bodyPr/>
          <a:lstStyle/>
          <a:p>
            <a:fld id="{C52ED629-2BC0-4D25-969E-9ED78B40D7C7}" type="slidenum">
              <a:rPr lang="fr-FR" smtClean="0"/>
              <a:t>4</a:t>
            </a:fld>
            <a:endParaRPr lang="fr-FR"/>
          </a:p>
        </p:txBody>
      </p:sp>
    </p:spTree>
    <p:extLst>
      <p:ext uri="{BB962C8B-B14F-4D97-AF65-F5344CB8AC3E}">
        <p14:creationId xmlns:p14="http://schemas.microsoft.com/office/powerpoint/2010/main" val="2820353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E63AF-EE9A-4457-841C-AFF7F98F0055}"/>
              </a:ext>
            </a:extLst>
          </p:cNvPr>
          <p:cNvSpPr>
            <a:spLocks noGrp="1"/>
          </p:cNvSpPr>
          <p:nvPr>
            <p:ph type="title"/>
          </p:nvPr>
        </p:nvSpPr>
        <p:spPr/>
        <p:txBody>
          <a:bodyPr/>
          <a:lstStyle/>
          <a:p>
            <a:r>
              <a:rPr lang="fr-FR" sz="5400" dirty="0"/>
              <a:t>Environnement</a:t>
            </a:r>
            <a:br>
              <a:rPr lang="fr-FR" sz="5400" dirty="0"/>
            </a:br>
            <a:r>
              <a:rPr lang="fr-FR" sz="5400" dirty="0"/>
              <a:t>de travail</a:t>
            </a:r>
          </a:p>
        </p:txBody>
      </p:sp>
      <p:sp>
        <p:nvSpPr>
          <p:cNvPr id="4" name="Slide Number Placeholder 3">
            <a:extLst>
              <a:ext uri="{FF2B5EF4-FFF2-40B4-BE49-F238E27FC236}">
                <a16:creationId xmlns:a16="http://schemas.microsoft.com/office/drawing/2014/main" id="{686D546D-9B45-459C-BCB5-7716F4007464}"/>
              </a:ext>
            </a:extLst>
          </p:cNvPr>
          <p:cNvSpPr>
            <a:spLocks noGrp="1"/>
          </p:cNvSpPr>
          <p:nvPr>
            <p:ph type="sldNum" sz="quarter" idx="12"/>
          </p:nvPr>
        </p:nvSpPr>
        <p:spPr/>
        <p:txBody>
          <a:bodyPr/>
          <a:lstStyle/>
          <a:p>
            <a:fld id="{C52ED629-2BC0-4D25-969E-9ED78B40D7C7}" type="slidenum">
              <a:rPr lang="fr-FR" smtClean="0"/>
              <a:t>5</a:t>
            </a:fld>
            <a:endParaRPr lang="fr-FR"/>
          </a:p>
        </p:txBody>
      </p:sp>
    </p:spTree>
    <p:extLst>
      <p:ext uri="{BB962C8B-B14F-4D97-AF65-F5344CB8AC3E}">
        <p14:creationId xmlns:p14="http://schemas.microsoft.com/office/powerpoint/2010/main" val="2866829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014833-EAED-4F94-97B5-CE7807DCD355}"/>
              </a:ext>
            </a:extLst>
          </p:cNvPr>
          <p:cNvSpPr>
            <a:spLocks noGrp="1"/>
          </p:cNvSpPr>
          <p:nvPr>
            <p:ph type="title"/>
          </p:nvPr>
        </p:nvSpPr>
        <p:spPr>
          <a:xfrm>
            <a:off x="1143000" y="609600"/>
            <a:ext cx="9875520" cy="590550"/>
          </a:xfrm>
        </p:spPr>
        <p:txBody>
          <a:bodyPr>
            <a:normAutofit fontScale="90000"/>
          </a:bodyPr>
          <a:lstStyle/>
          <a:p>
            <a:r>
              <a:rPr lang="fr-FR" b="1" dirty="0"/>
              <a:t>Langages et base de données</a:t>
            </a:r>
            <a:endParaRPr lang="fr-FR" dirty="0"/>
          </a:p>
        </p:txBody>
      </p:sp>
      <p:sp>
        <p:nvSpPr>
          <p:cNvPr id="4" name="Content Placeholder 3">
            <a:extLst>
              <a:ext uri="{FF2B5EF4-FFF2-40B4-BE49-F238E27FC236}">
                <a16:creationId xmlns:a16="http://schemas.microsoft.com/office/drawing/2014/main" id="{A8E9D2FE-4B6D-45C3-BA83-A1FE5E4E95D8}"/>
              </a:ext>
            </a:extLst>
          </p:cNvPr>
          <p:cNvSpPr>
            <a:spLocks noGrp="1"/>
          </p:cNvSpPr>
          <p:nvPr>
            <p:ph idx="1"/>
          </p:nvPr>
        </p:nvSpPr>
        <p:spPr>
          <a:xfrm>
            <a:off x="1143000" y="1754125"/>
            <a:ext cx="9872871" cy="4052315"/>
          </a:xfrm>
        </p:spPr>
        <p:txBody>
          <a:bodyPr>
            <a:normAutofit/>
          </a:bodyPr>
          <a:lstStyle/>
          <a:p>
            <a:r>
              <a:rPr lang="fr-FR" sz="2000" b="1" dirty="0"/>
              <a:t>Java SE 11: </a:t>
            </a:r>
            <a:r>
              <a:rPr lang="fr-FR" sz="2000" dirty="0"/>
              <a:t>un</a:t>
            </a:r>
            <a:r>
              <a:rPr lang="fr-FR" sz="2000" b="1" dirty="0"/>
              <a:t> </a:t>
            </a:r>
            <a:r>
              <a:rPr lang="fr-FR" sz="2000" dirty="0"/>
              <a:t>langage de programmation orienté objet.</a:t>
            </a:r>
            <a:endParaRPr lang="fr-FR" sz="2000" b="1" dirty="0"/>
          </a:p>
          <a:p>
            <a:r>
              <a:rPr lang="en-US" sz="1800" b="1" dirty="0"/>
              <a:t>Typescript 4: </a:t>
            </a:r>
            <a:r>
              <a:rPr lang="fr-FR" sz="1800" dirty="0"/>
              <a:t>un langage de programmation libre et open source qui a pour but d'améliorer et de sécuriser la production de code JavaScript.</a:t>
            </a:r>
            <a:endParaRPr lang="en-US" sz="1800" b="1" dirty="0"/>
          </a:p>
          <a:p>
            <a:r>
              <a:rPr lang="fr-FR" sz="1800" b="1" dirty="0"/>
              <a:t>HTML5 et CSS3</a:t>
            </a:r>
          </a:p>
          <a:p>
            <a:r>
              <a:rPr lang="en-US" sz="1800" b="1" dirty="0"/>
              <a:t>MySQL 8 - </a:t>
            </a:r>
            <a:r>
              <a:rPr lang="fr-FR" sz="1800" dirty="0"/>
              <a:t>système de gestion de bases de données relationnelles .</a:t>
            </a:r>
          </a:p>
        </p:txBody>
      </p:sp>
      <p:sp>
        <p:nvSpPr>
          <p:cNvPr id="2" name="Slide Number Placeholder 1">
            <a:extLst>
              <a:ext uri="{FF2B5EF4-FFF2-40B4-BE49-F238E27FC236}">
                <a16:creationId xmlns:a16="http://schemas.microsoft.com/office/drawing/2014/main" id="{D83612C9-D660-4358-B2F9-F3A36163A4B7}"/>
              </a:ext>
            </a:extLst>
          </p:cNvPr>
          <p:cNvSpPr>
            <a:spLocks noGrp="1"/>
          </p:cNvSpPr>
          <p:nvPr>
            <p:ph type="sldNum" sz="quarter" idx="12"/>
          </p:nvPr>
        </p:nvSpPr>
        <p:spPr/>
        <p:txBody>
          <a:bodyPr/>
          <a:lstStyle/>
          <a:p>
            <a:fld id="{C52ED629-2BC0-4D25-969E-9ED78B40D7C7}" type="slidenum">
              <a:rPr lang="fr-FR" smtClean="0"/>
              <a:t>6</a:t>
            </a:fld>
            <a:endParaRPr lang="fr-FR" dirty="0"/>
          </a:p>
        </p:txBody>
      </p:sp>
    </p:spTree>
    <p:extLst>
      <p:ext uri="{BB962C8B-B14F-4D97-AF65-F5344CB8AC3E}">
        <p14:creationId xmlns:p14="http://schemas.microsoft.com/office/powerpoint/2010/main" val="4220190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56DC3-A6E2-40AB-8684-36FEA7D1FE7A}"/>
              </a:ext>
            </a:extLst>
          </p:cNvPr>
          <p:cNvSpPr>
            <a:spLocks noGrp="1"/>
          </p:cNvSpPr>
          <p:nvPr>
            <p:ph type="title"/>
          </p:nvPr>
        </p:nvSpPr>
        <p:spPr>
          <a:xfrm>
            <a:off x="1143000" y="609600"/>
            <a:ext cx="9875520" cy="609600"/>
          </a:xfrm>
        </p:spPr>
        <p:txBody>
          <a:bodyPr>
            <a:normAutofit fontScale="90000"/>
          </a:bodyPr>
          <a:lstStyle/>
          <a:p>
            <a:r>
              <a:rPr lang="fr-FR" b="1" dirty="0" err="1"/>
              <a:t>Frameworks</a:t>
            </a:r>
            <a:r>
              <a:rPr lang="fr-FR" b="1" dirty="0"/>
              <a:t> et </a:t>
            </a:r>
            <a:r>
              <a:rPr lang="fr-FR" b="1" dirty="0">
                <a:solidFill>
                  <a:srgbClr val="4A66AC"/>
                </a:solidFill>
              </a:rPr>
              <a:t>bibliothèques</a:t>
            </a:r>
            <a:endParaRPr lang="fr-FR" dirty="0">
              <a:solidFill>
                <a:srgbClr val="4A66AC"/>
              </a:solidFill>
            </a:endParaRPr>
          </a:p>
        </p:txBody>
      </p:sp>
      <p:sp>
        <p:nvSpPr>
          <p:cNvPr id="3" name="Content Placeholder 2">
            <a:extLst>
              <a:ext uri="{FF2B5EF4-FFF2-40B4-BE49-F238E27FC236}">
                <a16:creationId xmlns:a16="http://schemas.microsoft.com/office/drawing/2014/main" id="{C9F31EAD-B0E1-4BB1-AD82-1E167F8369B4}"/>
              </a:ext>
            </a:extLst>
          </p:cNvPr>
          <p:cNvSpPr>
            <a:spLocks noGrp="1"/>
          </p:cNvSpPr>
          <p:nvPr>
            <p:ph idx="1"/>
          </p:nvPr>
        </p:nvSpPr>
        <p:spPr>
          <a:xfrm>
            <a:off x="1143000" y="1424762"/>
            <a:ext cx="10001250" cy="4671237"/>
          </a:xfrm>
        </p:spPr>
        <p:txBody>
          <a:bodyPr>
            <a:normAutofit/>
          </a:bodyPr>
          <a:lstStyle/>
          <a:p>
            <a:r>
              <a:rPr lang="fr-FR" sz="1900" b="1" dirty="0" err="1"/>
              <a:t>Springboot</a:t>
            </a:r>
            <a:r>
              <a:rPr lang="fr-FR" sz="1900" b="1" dirty="0"/>
              <a:t> 2.5.4</a:t>
            </a:r>
            <a:r>
              <a:rPr lang="fr-FR" sz="1900" dirty="0"/>
              <a:t> </a:t>
            </a:r>
            <a:r>
              <a:rPr lang="fr-FR" sz="2000" dirty="0"/>
              <a:t>—</a:t>
            </a:r>
            <a:r>
              <a:rPr lang="fr-FR" sz="1900" dirty="0"/>
              <a:t> Un </a:t>
            </a:r>
            <a:r>
              <a:rPr lang="fr-FR" sz="1900" dirty="0" err="1"/>
              <a:t>framework</a:t>
            </a:r>
            <a:r>
              <a:rPr lang="fr-FR" sz="1900" dirty="0"/>
              <a:t> open source qui prisse en charge la création d’objets et la mise en relation d’objets par l’intermédiaire d’un fichier de configuration.</a:t>
            </a:r>
            <a:endParaRPr lang="fr-FR" sz="2200" dirty="0">
              <a:solidFill>
                <a:srgbClr val="4A66AC"/>
              </a:solidFill>
            </a:endParaRPr>
          </a:p>
          <a:p>
            <a:pPr marL="274320" lvl="1" indent="0">
              <a:buNone/>
            </a:pPr>
            <a:endParaRPr lang="fr-FR" dirty="0">
              <a:solidFill>
                <a:srgbClr val="4A66AC"/>
              </a:solidFill>
            </a:endParaRPr>
          </a:p>
          <a:p>
            <a:pPr marL="274320" lvl="1" indent="0">
              <a:buNone/>
            </a:pPr>
            <a:r>
              <a:rPr lang="fr-FR" dirty="0">
                <a:solidFill>
                  <a:srgbClr val="4A66AC"/>
                </a:solidFill>
              </a:rPr>
              <a:t>Les </a:t>
            </a:r>
            <a:r>
              <a:rPr lang="fr-FR" dirty="0" err="1">
                <a:solidFill>
                  <a:srgbClr val="4A66AC"/>
                </a:solidFill>
              </a:rPr>
              <a:t>libraries</a:t>
            </a:r>
            <a:r>
              <a:rPr lang="fr-FR" dirty="0">
                <a:solidFill>
                  <a:srgbClr val="4A66AC"/>
                </a:solidFill>
              </a:rPr>
              <a:t> utilisées</a:t>
            </a:r>
            <a:r>
              <a:rPr lang="fr-FR" sz="2200" dirty="0">
                <a:solidFill>
                  <a:srgbClr val="4A66AC"/>
                </a:solidFill>
              </a:rPr>
              <a:t>:</a:t>
            </a:r>
          </a:p>
          <a:p>
            <a:pPr lvl="2">
              <a:buFont typeface="Courier New" panose="02070309020205020404" pitchFamily="49" charset="0"/>
              <a:buChar char="o"/>
            </a:pPr>
            <a:r>
              <a:rPr lang="fr-FR" dirty="0"/>
              <a:t>MySQL </a:t>
            </a:r>
            <a:r>
              <a:rPr lang="fr-FR" dirty="0" err="1"/>
              <a:t>Connector</a:t>
            </a:r>
            <a:r>
              <a:rPr lang="fr-FR" dirty="0"/>
              <a:t> — Pilote JDBC qui permet la connexion à la base de données MySQL.</a:t>
            </a:r>
          </a:p>
          <a:p>
            <a:pPr lvl="2">
              <a:buFont typeface="Courier New" panose="02070309020205020404" pitchFamily="49" charset="0"/>
              <a:buChar char="o"/>
            </a:pPr>
            <a:r>
              <a:rPr lang="fr-FR" dirty="0"/>
              <a:t>JJWT (</a:t>
            </a:r>
            <a:r>
              <a:rPr lang="fr-FR" dirty="0" err="1"/>
              <a:t>Json</a:t>
            </a:r>
            <a:r>
              <a:rPr lang="fr-FR" dirty="0"/>
              <a:t> Web </a:t>
            </a:r>
            <a:r>
              <a:rPr lang="fr-FR" dirty="0" err="1"/>
              <a:t>Token</a:t>
            </a:r>
            <a:r>
              <a:rPr lang="fr-FR" dirty="0"/>
              <a:t>) — Bibliothèque la plus facile à utiliser et à comprendre pour créer et vérifier des jetons Web JSON (JWT) sur la JVM. </a:t>
            </a:r>
          </a:p>
          <a:p>
            <a:pPr marL="45720" indent="0">
              <a:buNone/>
            </a:pPr>
            <a:r>
              <a:rPr lang="fr-FR" sz="2000" b="1" dirty="0" err="1">
                <a:solidFill>
                  <a:srgbClr val="4A66AC"/>
                </a:solidFill>
              </a:rPr>
              <a:t>Angular</a:t>
            </a:r>
            <a:r>
              <a:rPr lang="fr-FR" sz="2000" b="1" dirty="0">
                <a:solidFill>
                  <a:srgbClr val="4A66AC"/>
                </a:solidFill>
              </a:rPr>
              <a:t> 12</a:t>
            </a:r>
            <a:r>
              <a:rPr lang="fr-FR" sz="2000" dirty="0">
                <a:solidFill>
                  <a:srgbClr val="4A66AC"/>
                </a:solidFill>
              </a:rPr>
              <a:t> </a:t>
            </a:r>
            <a:r>
              <a:rPr lang="fr-FR" sz="2000" dirty="0"/>
              <a:t>— </a:t>
            </a:r>
            <a:r>
              <a:rPr lang="en-US" sz="2000" dirty="0"/>
              <a:t>framework </a:t>
            </a:r>
            <a:r>
              <a:rPr lang="fr-FR" sz="2000" dirty="0"/>
              <a:t>côté client, open source, qui permet la création d’applications Web et plus particulièrement de ce qu’on appelle des « </a:t>
            </a:r>
            <a:r>
              <a:rPr lang="fr-FR" sz="2000" i="1" dirty="0"/>
              <a:t>Single Page Applications</a:t>
            </a:r>
            <a:r>
              <a:rPr lang="fr-FR" sz="2000" dirty="0"/>
              <a:t> ».</a:t>
            </a:r>
          </a:p>
          <a:p>
            <a:pPr marL="45720" indent="0">
              <a:buNone/>
            </a:pPr>
            <a:r>
              <a:rPr lang="en-US" sz="2000" dirty="0"/>
              <a:t>    Les libraries </a:t>
            </a:r>
            <a:r>
              <a:rPr lang="en-US" sz="2000" dirty="0" err="1"/>
              <a:t>utilis</a:t>
            </a:r>
            <a:r>
              <a:rPr lang="fr-FR" sz="2000" dirty="0" err="1"/>
              <a:t>ées</a:t>
            </a:r>
            <a:r>
              <a:rPr lang="en-US" sz="2000" dirty="0"/>
              <a:t>:</a:t>
            </a:r>
            <a:endParaRPr lang="fr-FR" sz="2000" dirty="0"/>
          </a:p>
          <a:p>
            <a:pPr lvl="2">
              <a:buFont typeface="Courier New" panose="02070309020205020404" pitchFamily="49" charset="0"/>
              <a:buChar char="o"/>
            </a:pPr>
            <a:r>
              <a:rPr lang="en-US" sz="1600" dirty="0"/>
              <a:t>Angular Material </a:t>
            </a:r>
            <a:r>
              <a:rPr lang="fr-FR" sz="1600" dirty="0"/>
              <a:t>— Bibliothèque de composants UI</a:t>
            </a:r>
          </a:p>
          <a:p>
            <a:pPr lvl="2">
              <a:buFont typeface="Courier New" panose="02070309020205020404" pitchFamily="49" charset="0"/>
              <a:buChar char="o"/>
            </a:pPr>
            <a:r>
              <a:rPr lang="en-US" sz="1600" dirty="0"/>
              <a:t>ng-infinite-scroll </a:t>
            </a:r>
            <a:r>
              <a:rPr lang="fr-FR" sz="1600" dirty="0"/>
              <a:t>— Directive "</a:t>
            </a:r>
            <a:r>
              <a:rPr lang="fr-FR" sz="1600" dirty="0" err="1"/>
              <a:t>Infinite</a:t>
            </a:r>
            <a:r>
              <a:rPr lang="fr-FR" sz="1600" dirty="0"/>
              <a:t> Scroll" pour </a:t>
            </a:r>
            <a:r>
              <a:rPr lang="fr-FR" sz="1600" dirty="0" err="1"/>
              <a:t>Angular</a:t>
            </a:r>
            <a:r>
              <a:rPr lang="fr-FR" sz="1600" dirty="0"/>
              <a:t> </a:t>
            </a:r>
          </a:p>
          <a:p>
            <a:pPr lvl="2">
              <a:buFont typeface="Courier New" panose="02070309020205020404" pitchFamily="49" charset="0"/>
              <a:buChar char="o"/>
            </a:pPr>
            <a:r>
              <a:rPr lang="en-US" sz="1600" dirty="0"/>
              <a:t>angular-</a:t>
            </a:r>
            <a:r>
              <a:rPr lang="en-US" sz="1600" dirty="0" err="1"/>
              <a:t>timesince</a:t>
            </a:r>
            <a:r>
              <a:rPr lang="en-US" sz="1600" dirty="0"/>
              <a:t> </a:t>
            </a:r>
            <a:r>
              <a:rPr lang="fr-FR" sz="1600" dirty="0"/>
              <a:t>—  une bibliothèque simple et légère qui rend une date </a:t>
            </a:r>
            <a:r>
              <a:rPr lang="fr-FR" sz="1600" dirty="0" err="1"/>
              <a:t>json</a:t>
            </a:r>
            <a:r>
              <a:rPr lang="fr-FR" sz="1600" dirty="0"/>
              <a:t> lisible par l'homme</a:t>
            </a:r>
            <a:endParaRPr lang="en-US" sz="1600" dirty="0"/>
          </a:p>
        </p:txBody>
      </p:sp>
      <p:sp>
        <p:nvSpPr>
          <p:cNvPr id="4" name="Slide Number Placeholder 3">
            <a:extLst>
              <a:ext uri="{FF2B5EF4-FFF2-40B4-BE49-F238E27FC236}">
                <a16:creationId xmlns:a16="http://schemas.microsoft.com/office/drawing/2014/main" id="{3F4DE33F-9A44-42B6-BA87-BEBDD6058ED1}"/>
              </a:ext>
            </a:extLst>
          </p:cNvPr>
          <p:cNvSpPr>
            <a:spLocks noGrp="1"/>
          </p:cNvSpPr>
          <p:nvPr>
            <p:ph type="sldNum" sz="quarter" idx="12"/>
          </p:nvPr>
        </p:nvSpPr>
        <p:spPr/>
        <p:txBody>
          <a:bodyPr/>
          <a:lstStyle/>
          <a:p>
            <a:fld id="{C52ED629-2BC0-4D25-969E-9ED78B40D7C7}" type="slidenum">
              <a:rPr lang="fr-FR" smtClean="0"/>
              <a:t>7</a:t>
            </a:fld>
            <a:endParaRPr lang="fr-FR"/>
          </a:p>
        </p:txBody>
      </p:sp>
    </p:spTree>
    <p:extLst>
      <p:ext uri="{BB962C8B-B14F-4D97-AF65-F5344CB8AC3E}">
        <p14:creationId xmlns:p14="http://schemas.microsoft.com/office/powerpoint/2010/main" val="2791991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59B6F-5366-4464-8C1F-4386036338E1}"/>
              </a:ext>
            </a:extLst>
          </p:cNvPr>
          <p:cNvSpPr>
            <a:spLocks noGrp="1"/>
          </p:cNvSpPr>
          <p:nvPr>
            <p:ph type="title"/>
          </p:nvPr>
        </p:nvSpPr>
        <p:spPr>
          <a:xfrm>
            <a:off x="1143000" y="609600"/>
            <a:ext cx="9875520" cy="1133475"/>
          </a:xfrm>
        </p:spPr>
        <p:txBody>
          <a:bodyPr/>
          <a:lstStyle/>
          <a:p>
            <a:r>
              <a:rPr lang="fr-FR" b="1" dirty="0"/>
              <a:t>Git &amp; GitHub</a:t>
            </a:r>
            <a:endParaRPr lang="fr-FR" dirty="0"/>
          </a:p>
        </p:txBody>
      </p:sp>
      <p:sp>
        <p:nvSpPr>
          <p:cNvPr id="3" name="Content Placeholder 2">
            <a:extLst>
              <a:ext uri="{FF2B5EF4-FFF2-40B4-BE49-F238E27FC236}">
                <a16:creationId xmlns:a16="http://schemas.microsoft.com/office/drawing/2014/main" id="{01D7A3BE-A211-40CE-80F9-FBA7DFBC6086}"/>
              </a:ext>
            </a:extLst>
          </p:cNvPr>
          <p:cNvSpPr>
            <a:spLocks noGrp="1"/>
          </p:cNvSpPr>
          <p:nvPr>
            <p:ph idx="1"/>
          </p:nvPr>
        </p:nvSpPr>
        <p:spPr>
          <a:xfrm>
            <a:off x="1143000" y="1658679"/>
            <a:ext cx="10210800" cy="4437321"/>
          </a:xfrm>
        </p:spPr>
        <p:txBody>
          <a:bodyPr>
            <a:normAutofit/>
          </a:bodyPr>
          <a:lstStyle/>
          <a:p>
            <a:r>
              <a:rPr lang="fr-FR" sz="1900" b="1" dirty="0"/>
              <a:t>Git</a:t>
            </a:r>
            <a:r>
              <a:rPr lang="fr-FR" sz="1900" dirty="0">
                <a:solidFill>
                  <a:schemeClr val="tx2">
                    <a:lumMod val="60000"/>
                    <a:lumOff val="40000"/>
                  </a:schemeClr>
                </a:solidFill>
              </a:rPr>
              <a:t> </a:t>
            </a:r>
            <a:r>
              <a:rPr lang="fr-FR" sz="1900" b="1" dirty="0">
                <a:solidFill>
                  <a:schemeClr val="tx2">
                    <a:lumMod val="60000"/>
                    <a:lumOff val="40000"/>
                  </a:schemeClr>
                </a:solidFill>
              </a:rPr>
              <a:t>2.33.0</a:t>
            </a:r>
            <a:r>
              <a:rPr lang="fr-FR" sz="1900" dirty="0">
                <a:solidFill>
                  <a:schemeClr val="tx2">
                    <a:lumMod val="60000"/>
                    <a:lumOff val="40000"/>
                  </a:schemeClr>
                </a:solidFill>
              </a:rPr>
              <a:t> : </a:t>
            </a:r>
            <a:r>
              <a:rPr lang="fr-FR" sz="1900" dirty="0"/>
              <a:t>Un logiciel de gestion de versions.</a:t>
            </a:r>
            <a:br>
              <a:rPr lang="fr-FR" sz="1900" dirty="0"/>
            </a:br>
            <a:br>
              <a:rPr lang="fr-FR" sz="1900" dirty="0"/>
            </a:br>
            <a:r>
              <a:rPr lang="fr-FR" sz="1900" dirty="0"/>
              <a:t>Outils complémentaires venant avec Git :</a:t>
            </a:r>
            <a:br>
              <a:rPr lang="fr-FR" sz="1900" dirty="0"/>
            </a:br>
            <a:endParaRPr lang="fr-FR" sz="1900" dirty="0"/>
          </a:p>
          <a:p>
            <a:pPr lvl="1">
              <a:buFont typeface="Courier New" panose="02070309020205020404" pitchFamily="49" charset="0"/>
              <a:buChar char="o"/>
            </a:pPr>
            <a:r>
              <a:rPr lang="fr-FR" sz="1900" b="1" dirty="0"/>
              <a:t>Git Bash</a:t>
            </a:r>
            <a:r>
              <a:rPr lang="fr-FR" sz="1900" dirty="0"/>
              <a:t> : Une variante du BASH d'Unix pour utiliser Git via les lignes de commandes, un "commande-line interpreter » (CLI) ou un « Shell ». Une interface utilisateur via les lignes de commande.</a:t>
            </a:r>
            <a:br>
              <a:rPr lang="fr-FR" sz="1900" dirty="0"/>
            </a:br>
            <a:endParaRPr lang="fr-FR" sz="1900" dirty="0"/>
          </a:p>
          <a:p>
            <a:pPr lvl="1">
              <a:buFont typeface="Courier New" panose="02070309020205020404" pitchFamily="49" charset="0"/>
              <a:buChar char="o"/>
            </a:pPr>
            <a:r>
              <a:rPr lang="fr-FR" sz="1900" b="1" dirty="0"/>
              <a:t>Git Gui</a:t>
            </a:r>
            <a:r>
              <a:rPr lang="fr-FR" sz="1900" dirty="0"/>
              <a:t> : L'équivalent graphique de Git BASH. Un "Graphical User Interface » (GUI).</a:t>
            </a:r>
            <a:br>
              <a:rPr lang="fr-FR" sz="1900" dirty="0"/>
            </a:br>
            <a:endParaRPr lang="fr-FR" sz="1900" dirty="0"/>
          </a:p>
          <a:p>
            <a:pPr lvl="1">
              <a:buFont typeface="Courier New" panose="02070309020205020404" pitchFamily="49" charset="0"/>
              <a:buChar char="o"/>
            </a:pPr>
            <a:r>
              <a:rPr lang="fr-FR" sz="1900" b="1" dirty="0"/>
              <a:t>Gitk</a:t>
            </a:r>
            <a:r>
              <a:rPr lang="fr-FR" sz="1900" dirty="0"/>
              <a:t> : L’outil de visualisation graphique de l’historique d’un projet. Il permet de voir l’arbre historique de notre </a:t>
            </a:r>
            <a:r>
              <a:rPr lang="fr-FR" sz="1900" dirty="0" err="1"/>
              <a:t>depot</a:t>
            </a:r>
            <a:r>
              <a:rPr lang="fr-FR" sz="1900" dirty="0"/>
              <a:t>, les informations d’un commit (Id (SHA-1), auteur, le message, la liste de tags), les fichiers d’un commit, la différence d’un fichier entre deux </a:t>
            </a:r>
            <a:r>
              <a:rPr lang="fr-FR" sz="1900" dirty="0" err="1"/>
              <a:t>commits</a:t>
            </a:r>
            <a:r>
              <a:rPr lang="fr-FR" sz="1900" dirty="0"/>
              <a:t>, etc.</a:t>
            </a:r>
          </a:p>
          <a:p>
            <a:pPr lvl="0"/>
            <a:r>
              <a:rPr lang="fr-FR" sz="1900" b="1" dirty="0"/>
              <a:t>GitHub</a:t>
            </a:r>
            <a:r>
              <a:rPr lang="fr-FR" sz="1900" dirty="0"/>
              <a:t> : La plateforme pour stocker, partager ou collaborer sur des projets.</a:t>
            </a:r>
          </a:p>
          <a:p>
            <a:endParaRPr lang="fr-FR" dirty="0"/>
          </a:p>
        </p:txBody>
      </p:sp>
      <p:sp>
        <p:nvSpPr>
          <p:cNvPr id="4" name="Slide Number Placeholder 3">
            <a:extLst>
              <a:ext uri="{FF2B5EF4-FFF2-40B4-BE49-F238E27FC236}">
                <a16:creationId xmlns:a16="http://schemas.microsoft.com/office/drawing/2014/main" id="{1D24D361-3AAB-484B-8A2F-E5C37AB5EB8E}"/>
              </a:ext>
            </a:extLst>
          </p:cNvPr>
          <p:cNvSpPr>
            <a:spLocks noGrp="1"/>
          </p:cNvSpPr>
          <p:nvPr>
            <p:ph type="sldNum" sz="quarter" idx="12"/>
          </p:nvPr>
        </p:nvSpPr>
        <p:spPr/>
        <p:txBody>
          <a:bodyPr/>
          <a:lstStyle/>
          <a:p>
            <a:fld id="{C52ED629-2BC0-4D25-969E-9ED78B40D7C7}" type="slidenum">
              <a:rPr lang="fr-FR" smtClean="0"/>
              <a:t>8</a:t>
            </a:fld>
            <a:endParaRPr lang="fr-FR"/>
          </a:p>
        </p:txBody>
      </p:sp>
    </p:spTree>
    <p:extLst>
      <p:ext uri="{BB962C8B-B14F-4D97-AF65-F5344CB8AC3E}">
        <p14:creationId xmlns:p14="http://schemas.microsoft.com/office/powerpoint/2010/main" val="3281351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FCECB-C13E-4AE3-9CB9-330D1FD37B09}"/>
              </a:ext>
            </a:extLst>
          </p:cNvPr>
          <p:cNvSpPr>
            <a:spLocks noGrp="1"/>
          </p:cNvSpPr>
          <p:nvPr>
            <p:ph type="title"/>
          </p:nvPr>
        </p:nvSpPr>
        <p:spPr/>
        <p:txBody>
          <a:bodyPr/>
          <a:lstStyle/>
          <a:p>
            <a:r>
              <a:rPr lang="fr-FR" b="1" dirty="0"/>
              <a:t>Les </a:t>
            </a:r>
            <a:r>
              <a:rPr lang="fr-FR" b="1" dirty="0" err="1"/>
              <a:t>editeurs</a:t>
            </a:r>
            <a:r>
              <a:rPr lang="fr-FR" b="1" dirty="0"/>
              <a:t> de </a:t>
            </a:r>
            <a:r>
              <a:rPr lang="fr-FR" b="1" dirty="0" err="1"/>
              <a:t>text</a:t>
            </a:r>
            <a:r>
              <a:rPr lang="fr-FR" b="1" dirty="0"/>
              <a:t>, outils et IDE</a:t>
            </a:r>
            <a:endParaRPr lang="fr-FR" dirty="0"/>
          </a:p>
        </p:txBody>
      </p:sp>
      <p:sp>
        <p:nvSpPr>
          <p:cNvPr id="3" name="Content Placeholder 2">
            <a:extLst>
              <a:ext uri="{FF2B5EF4-FFF2-40B4-BE49-F238E27FC236}">
                <a16:creationId xmlns:a16="http://schemas.microsoft.com/office/drawing/2014/main" id="{8CD728F4-BF17-4852-B32D-2EA640C93AE6}"/>
              </a:ext>
            </a:extLst>
          </p:cNvPr>
          <p:cNvSpPr>
            <a:spLocks noGrp="1"/>
          </p:cNvSpPr>
          <p:nvPr>
            <p:ph idx="1"/>
          </p:nvPr>
        </p:nvSpPr>
        <p:spPr>
          <a:xfrm>
            <a:off x="1203960" y="2057400"/>
            <a:ext cx="9872871" cy="4038600"/>
          </a:xfrm>
        </p:spPr>
        <p:txBody>
          <a:bodyPr/>
          <a:lstStyle/>
          <a:p>
            <a:pPr algn="just"/>
            <a:r>
              <a:rPr lang="en-US" sz="2000" b="1" dirty="0"/>
              <a:t>Eclipse IDE </a:t>
            </a:r>
            <a:r>
              <a:rPr lang="fr-FR" sz="2000" dirty="0"/>
              <a:t>— pour </a:t>
            </a:r>
            <a:r>
              <a:rPr lang="fr-FR" sz="2000" dirty="0" err="1"/>
              <a:t>gerer</a:t>
            </a:r>
            <a:r>
              <a:rPr lang="fr-FR" sz="2000" dirty="0"/>
              <a:t> la partie back-end en Java.</a:t>
            </a:r>
          </a:p>
          <a:p>
            <a:pPr algn="just"/>
            <a:r>
              <a:rPr lang="en-US" sz="2000" b="1" dirty="0" err="1"/>
              <a:t>VSCodium</a:t>
            </a:r>
            <a:r>
              <a:rPr lang="en-US" sz="2000" b="1" dirty="0"/>
              <a:t> </a:t>
            </a:r>
            <a:r>
              <a:rPr lang="fr-FR" sz="2000" dirty="0"/>
              <a:t>— un </a:t>
            </a:r>
            <a:r>
              <a:rPr lang="fr-FR" sz="2000" dirty="0" err="1"/>
              <a:t>editeur</a:t>
            </a:r>
            <a:r>
              <a:rPr lang="fr-FR" sz="2000" dirty="0"/>
              <a:t> </a:t>
            </a:r>
            <a:r>
              <a:rPr lang="fr-FR" sz="2000" dirty="0" err="1"/>
              <a:t>text</a:t>
            </a:r>
            <a:r>
              <a:rPr lang="fr-FR" sz="2000" dirty="0"/>
              <a:t>, qui permet de </a:t>
            </a:r>
            <a:r>
              <a:rPr lang="fr-FR" sz="2000" dirty="0" err="1"/>
              <a:t>gerer</a:t>
            </a:r>
            <a:r>
              <a:rPr lang="fr-FR" sz="2000" dirty="0"/>
              <a:t> tout types de fichiers, il vient avec le support </a:t>
            </a:r>
            <a:r>
              <a:rPr lang="fr-FR" sz="2000" dirty="0" err="1"/>
              <a:t>integré</a:t>
            </a:r>
            <a:r>
              <a:rPr lang="fr-FR" sz="2000" dirty="0"/>
              <a:t> d</a:t>
            </a:r>
            <a:r>
              <a:rPr lang="en-US" sz="2000" dirty="0"/>
              <a:t>’un terminal et </a:t>
            </a:r>
            <a:r>
              <a:rPr lang="en-US" sz="2000" dirty="0" err="1"/>
              <a:t>git</a:t>
            </a:r>
            <a:r>
              <a:rPr lang="en-US" sz="2000" dirty="0"/>
              <a:t>. </a:t>
            </a:r>
            <a:r>
              <a:rPr lang="fr-FR" sz="2000" dirty="0"/>
              <a:t>Je l’avais utilisé pour </a:t>
            </a:r>
            <a:r>
              <a:rPr lang="fr-FR" sz="2000" dirty="0" err="1"/>
              <a:t>developpeur</a:t>
            </a:r>
            <a:r>
              <a:rPr lang="fr-FR" sz="2000" dirty="0"/>
              <a:t> l</a:t>
            </a:r>
            <a:r>
              <a:rPr lang="en-US" sz="2000" dirty="0"/>
              <a:t>a </a:t>
            </a:r>
            <a:r>
              <a:rPr lang="en-US" sz="2000" dirty="0" err="1"/>
              <a:t>partie</a:t>
            </a:r>
            <a:r>
              <a:rPr lang="en-US" sz="2000" dirty="0"/>
              <a:t> front-end de mon </a:t>
            </a:r>
            <a:r>
              <a:rPr lang="en-US" sz="2000" dirty="0" err="1"/>
              <a:t>projet</a:t>
            </a:r>
            <a:r>
              <a:rPr lang="en-US" sz="2000" dirty="0"/>
              <a:t> (html/</a:t>
            </a:r>
            <a:r>
              <a:rPr lang="en-US" sz="2000" dirty="0" err="1"/>
              <a:t>css</a:t>
            </a:r>
            <a:r>
              <a:rPr lang="en-US" sz="2000" dirty="0"/>
              <a:t>/typescript).</a:t>
            </a:r>
            <a:endParaRPr lang="fr-FR" sz="2000" b="1" dirty="0"/>
          </a:p>
        </p:txBody>
      </p:sp>
      <p:sp>
        <p:nvSpPr>
          <p:cNvPr id="4" name="Slide Number Placeholder 3">
            <a:extLst>
              <a:ext uri="{FF2B5EF4-FFF2-40B4-BE49-F238E27FC236}">
                <a16:creationId xmlns:a16="http://schemas.microsoft.com/office/drawing/2014/main" id="{001B16C0-1416-4473-B0E9-8246756D35EB}"/>
              </a:ext>
            </a:extLst>
          </p:cNvPr>
          <p:cNvSpPr>
            <a:spLocks noGrp="1"/>
          </p:cNvSpPr>
          <p:nvPr>
            <p:ph type="sldNum" sz="quarter" idx="12"/>
          </p:nvPr>
        </p:nvSpPr>
        <p:spPr/>
        <p:txBody>
          <a:bodyPr/>
          <a:lstStyle/>
          <a:p>
            <a:fld id="{C52ED629-2BC0-4D25-969E-9ED78B40D7C7}" type="slidenum">
              <a:rPr lang="fr-FR" smtClean="0"/>
              <a:t>9</a:t>
            </a:fld>
            <a:endParaRPr lang="fr-FR"/>
          </a:p>
        </p:txBody>
      </p:sp>
    </p:spTree>
    <p:extLst>
      <p:ext uri="{BB962C8B-B14F-4D97-AF65-F5344CB8AC3E}">
        <p14:creationId xmlns:p14="http://schemas.microsoft.com/office/powerpoint/2010/main" val="1378096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5DEFF-0561-493F-BA7D-3517A06F09E7}"/>
              </a:ext>
            </a:extLst>
          </p:cNvPr>
          <p:cNvSpPr>
            <a:spLocks noGrp="1"/>
          </p:cNvSpPr>
          <p:nvPr>
            <p:ph type="title"/>
          </p:nvPr>
        </p:nvSpPr>
        <p:spPr/>
        <p:txBody>
          <a:bodyPr/>
          <a:lstStyle/>
          <a:p>
            <a:r>
              <a:rPr lang="fr-FR" sz="5400" dirty="0"/>
              <a:t>Développement incrémental et itératif</a:t>
            </a:r>
          </a:p>
        </p:txBody>
      </p:sp>
      <p:sp>
        <p:nvSpPr>
          <p:cNvPr id="4" name="Slide Number Placeholder 3">
            <a:extLst>
              <a:ext uri="{FF2B5EF4-FFF2-40B4-BE49-F238E27FC236}">
                <a16:creationId xmlns:a16="http://schemas.microsoft.com/office/drawing/2014/main" id="{086F5EFD-C8B9-4BE3-B76E-BDF4DD9553B2}"/>
              </a:ext>
            </a:extLst>
          </p:cNvPr>
          <p:cNvSpPr>
            <a:spLocks noGrp="1"/>
          </p:cNvSpPr>
          <p:nvPr>
            <p:ph type="sldNum" sz="quarter" idx="12"/>
          </p:nvPr>
        </p:nvSpPr>
        <p:spPr/>
        <p:txBody>
          <a:bodyPr/>
          <a:lstStyle/>
          <a:p>
            <a:fld id="{C52ED629-2BC0-4D25-969E-9ED78B40D7C7}" type="slidenum">
              <a:rPr lang="fr-FR" smtClean="0"/>
              <a:t>10</a:t>
            </a:fld>
            <a:endParaRPr lang="fr-FR"/>
          </a:p>
        </p:txBody>
      </p:sp>
    </p:spTree>
    <p:extLst>
      <p:ext uri="{BB962C8B-B14F-4D97-AF65-F5344CB8AC3E}">
        <p14:creationId xmlns:p14="http://schemas.microsoft.com/office/powerpoint/2010/main" val="3706977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1FE9B-7245-486A-87D3-5D6EBC210D54}"/>
              </a:ext>
            </a:extLst>
          </p:cNvPr>
          <p:cNvSpPr>
            <a:spLocks noGrp="1"/>
          </p:cNvSpPr>
          <p:nvPr>
            <p:ph type="title"/>
          </p:nvPr>
        </p:nvSpPr>
        <p:spPr>
          <a:xfrm>
            <a:off x="1143000" y="609600"/>
            <a:ext cx="9875520" cy="365125"/>
          </a:xfrm>
        </p:spPr>
        <p:txBody>
          <a:bodyPr>
            <a:normAutofit fontScale="90000"/>
          </a:bodyPr>
          <a:lstStyle/>
          <a:p>
            <a:r>
              <a:rPr lang="fr-FR" dirty="0"/>
              <a:t>Plusieurs versions</a:t>
            </a:r>
          </a:p>
        </p:txBody>
      </p:sp>
      <p:sp>
        <p:nvSpPr>
          <p:cNvPr id="3" name="Content Placeholder 2">
            <a:extLst>
              <a:ext uri="{FF2B5EF4-FFF2-40B4-BE49-F238E27FC236}">
                <a16:creationId xmlns:a16="http://schemas.microsoft.com/office/drawing/2014/main" id="{BBDCB16B-E8C3-4199-87AF-8AE734E49359}"/>
              </a:ext>
            </a:extLst>
          </p:cNvPr>
          <p:cNvSpPr>
            <a:spLocks noGrp="1"/>
          </p:cNvSpPr>
          <p:nvPr>
            <p:ph idx="1"/>
          </p:nvPr>
        </p:nvSpPr>
        <p:spPr>
          <a:xfrm>
            <a:off x="1143000" y="1209674"/>
            <a:ext cx="9872871" cy="5038725"/>
          </a:xfrm>
        </p:spPr>
        <p:txBody>
          <a:bodyPr>
            <a:normAutofit fontScale="70000" lnSpcReduction="20000"/>
          </a:bodyPr>
          <a:lstStyle/>
          <a:p>
            <a:pPr marL="45720" indent="0" algn="just">
              <a:buNone/>
            </a:pPr>
            <a:r>
              <a:rPr lang="fr-FR" dirty="0"/>
              <a:t>Le développement s’est fait en plusieurs étapes (capture d’écran du dépôt GitHub à la page suivante). Une première version avec la structure minimale mise en ligne, une fois stable, de nouveaux composants ont été ajoutés, d'abord dans leurs propres branches, et une fois confirmés fonctionnels, fusionnés dans la branche </a:t>
            </a:r>
            <a:r>
              <a:rPr lang="fr-FR" dirty="0" err="1"/>
              <a:t>principale.Les</a:t>
            </a:r>
            <a:r>
              <a:rPr lang="fr-FR" dirty="0"/>
              <a:t> versions :</a:t>
            </a:r>
            <a:br>
              <a:rPr lang="fr-FR" dirty="0"/>
            </a:br>
            <a:endParaRPr lang="fr-FR" dirty="0"/>
          </a:p>
          <a:p>
            <a:pPr lvl="1">
              <a:buFont typeface="Wingdings" panose="05000000000000000000" pitchFamily="2" charset="2"/>
              <a:buChar char="§"/>
            </a:pPr>
            <a:r>
              <a:rPr lang="fr-FR" dirty="0"/>
              <a:t>Squelette de base du projet. Interfaces requises, composants pour la page de connexion, la page d'inscription, la page d'accueil et la page de profil. Services pour les composants qui doivent communiquer avec le </a:t>
            </a:r>
            <a:r>
              <a:rPr lang="fr-FR" dirty="0" err="1"/>
              <a:t>backend</a:t>
            </a:r>
            <a:r>
              <a:rPr lang="fr-FR" dirty="0"/>
              <a:t>.</a:t>
            </a:r>
            <a:br>
              <a:rPr lang="fr-FR" dirty="0"/>
            </a:br>
            <a:endParaRPr lang="fr-FR" dirty="0"/>
          </a:p>
          <a:p>
            <a:pPr lvl="1">
              <a:buFont typeface="Wingdings" panose="05000000000000000000" pitchFamily="2" charset="2"/>
              <a:buChar char="§"/>
            </a:pPr>
            <a:r>
              <a:rPr lang="fr-FR" dirty="0"/>
              <a:t>Ajout de la possibilité de se connecter. </a:t>
            </a:r>
            <a:r>
              <a:rPr lang="fr-FR" dirty="0" err="1"/>
              <a:t>Frontend</a:t>
            </a:r>
            <a:r>
              <a:rPr lang="fr-FR" dirty="0"/>
              <a:t> : ajout d'un intercepteur de requêtes http pour ajouter des en-têtes d'authentification à chaque requête, et sur le </a:t>
            </a:r>
            <a:r>
              <a:rPr lang="fr-FR" dirty="0" err="1"/>
              <a:t>backend</a:t>
            </a:r>
            <a:r>
              <a:rPr lang="fr-FR" dirty="0"/>
              <a:t> : filtres et points d'entrée, pour générer, valider et envoyer des jetons d'authentification au </a:t>
            </a:r>
            <a:r>
              <a:rPr lang="fr-FR" dirty="0" err="1"/>
              <a:t>client.Ajout</a:t>
            </a:r>
            <a:r>
              <a:rPr lang="fr-FR" dirty="0"/>
              <a:t> d’une tâche de fonds périodique (</a:t>
            </a:r>
            <a:r>
              <a:rPr lang="fr-FR" b="1" dirty="0"/>
              <a:t>scheduler</a:t>
            </a:r>
            <a:r>
              <a:rPr lang="fr-FR" dirty="0"/>
              <a:t>) et mise en ligne.</a:t>
            </a:r>
            <a:br>
              <a:rPr lang="fr-FR" dirty="0"/>
            </a:br>
            <a:endParaRPr lang="fr-FR" dirty="0"/>
          </a:p>
          <a:p>
            <a:pPr lvl="1">
              <a:buFont typeface="Wingdings" panose="05000000000000000000" pitchFamily="2" charset="2"/>
              <a:buChar char="§"/>
            </a:pPr>
            <a:r>
              <a:rPr lang="fr-FR" dirty="0"/>
              <a:t>Ajout d'un gestionnaire d'exception pour gérer les exceptions qui sont lancées par l'application pendant le traitement des demandes, ce qui permet au client de recevoir des erreurs d'api lisibles par l'homme.</a:t>
            </a:r>
            <a:br>
              <a:rPr lang="fr-FR" dirty="0"/>
            </a:br>
            <a:endParaRPr lang="fr-FR" dirty="0"/>
          </a:p>
          <a:p>
            <a:pPr lvl="1">
              <a:buFont typeface="Wingdings" panose="05000000000000000000" pitchFamily="2" charset="2"/>
              <a:buChar char="§"/>
            </a:pPr>
            <a:r>
              <a:rPr lang="fr-FR" dirty="0"/>
              <a:t>Ajouter la possibilité de télécharger des photos, d'aimer les photos et de laisser des commentaires.</a:t>
            </a:r>
            <a:br>
              <a:rPr lang="fr-FR" dirty="0"/>
            </a:br>
            <a:endParaRPr lang="fr-FR" dirty="0"/>
          </a:p>
          <a:p>
            <a:pPr lvl="1">
              <a:buFont typeface="Wingdings" panose="05000000000000000000" pitchFamily="2" charset="2"/>
              <a:buChar char="§"/>
            </a:pPr>
            <a:r>
              <a:rPr lang="fr-FR" dirty="0"/>
              <a:t>Ajout de la possibilité de supprimer les photos, de s'abonner et de se désabonner, ainsi que de visualiser les photos aimées et les informations de base de l'utilisateur. Ainsi changer le photo de profil.</a:t>
            </a:r>
            <a:br>
              <a:rPr lang="fr-FR" dirty="0"/>
            </a:br>
            <a:endParaRPr lang="fr-FR" dirty="0"/>
          </a:p>
          <a:p>
            <a:pPr lvl="1">
              <a:buFont typeface="Wingdings" panose="05000000000000000000" pitchFamily="2" charset="2"/>
              <a:buChar char="§"/>
            </a:pPr>
            <a:r>
              <a:rPr lang="fr-FR" dirty="0"/>
              <a:t>Ajout de la pagination.</a:t>
            </a:r>
          </a:p>
          <a:p>
            <a:pPr lvl="1">
              <a:buFont typeface="Wingdings" panose="05000000000000000000" pitchFamily="2" charset="2"/>
              <a:buChar char="§"/>
            </a:pPr>
            <a:endParaRPr lang="fr-FR" dirty="0"/>
          </a:p>
          <a:p>
            <a:pPr lvl="1">
              <a:buFont typeface="Wingdings" panose="05000000000000000000" pitchFamily="2" charset="2"/>
              <a:buChar char="§"/>
            </a:pPr>
            <a:r>
              <a:rPr lang="fr-FR" dirty="0"/>
              <a:t>Ajouter des tâches pour s'occuper des publications ou les photos de profil supprimées.</a:t>
            </a:r>
          </a:p>
          <a:p>
            <a:pPr marL="45720" indent="0">
              <a:buNone/>
            </a:pPr>
            <a:br>
              <a:rPr lang="fr-FR" dirty="0"/>
            </a:br>
            <a:r>
              <a:rPr lang="fr-FR" dirty="0"/>
              <a:t>La version utilisée pour le rapport du stage est avec MySQL.</a:t>
            </a:r>
          </a:p>
          <a:p>
            <a:pPr>
              <a:buFont typeface="Wingdings" panose="05000000000000000000" pitchFamily="2" charset="2"/>
              <a:buChar char="§"/>
            </a:pPr>
            <a:endParaRPr lang="fr-FR" dirty="0"/>
          </a:p>
          <a:p>
            <a:pPr>
              <a:buFont typeface="Wingdings" panose="05000000000000000000" pitchFamily="2" charset="2"/>
              <a:buChar char="§"/>
            </a:pPr>
            <a:endParaRPr lang="fr-FR" dirty="0"/>
          </a:p>
        </p:txBody>
      </p:sp>
      <p:sp>
        <p:nvSpPr>
          <p:cNvPr id="4" name="Slide Number Placeholder 3">
            <a:extLst>
              <a:ext uri="{FF2B5EF4-FFF2-40B4-BE49-F238E27FC236}">
                <a16:creationId xmlns:a16="http://schemas.microsoft.com/office/drawing/2014/main" id="{5D7A6A0C-2735-4C02-9464-FDAB22D93FC1}"/>
              </a:ext>
            </a:extLst>
          </p:cNvPr>
          <p:cNvSpPr>
            <a:spLocks noGrp="1"/>
          </p:cNvSpPr>
          <p:nvPr>
            <p:ph type="sldNum" sz="quarter" idx="12"/>
          </p:nvPr>
        </p:nvSpPr>
        <p:spPr/>
        <p:txBody>
          <a:bodyPr/>
          <a:lstStyle/>
          <a:p>
            <a:fld id="{C52ED629-2BC0-4D25-969E-9ED78B40D7C7}" type="slidenum">
              <a:rPr lang="fr-FR" smtClean="0"/>
              <a:t>11</a:t>
            </a:fld>
            <a:endParaRPr lang="fr-FR"/>
          </a:p>
        </p:txBody>
      </p:sp>
    </p:spTree>
    <p:extLst>
      <p:ext uri="{BB962C8B-B14F-4D97-AF65-F5344CB8AC3E}">
        <p14:creationId xmlns:p14="http://schemas.microsoft.com/office/powerpoint/2010/main" val="1084513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915B9B-5A66-4E4C-8C87-8521891BBFF8}"/>
              </a:ext>
            </a:extLst>
          </p:cNvPr>
          <p:cNvSpPr>
            <a:spLocks noGrp="1"/>
          </p:cNvSpPr>
          <p:nvPr>
            <p:ph type="sldNum" sz="quarter" idx="12"/>
          </p:nvPr>
        </p:nvSpPr>
        <p:spPr/>
        <p:txBody>
          <a:bodyPr/>
          <a:lstStyle/>
          <a:p>
            <a:fld id="{C52ED629-2BC0-4D25-969E-9ED78B40D7C7}" type="slidenum">
              <a:rPr lang="fr-FR" smtClean="0"/>
              <a:t>12</a:t>
            </a:fld>
            <a:endParaRPr lang="fr-FR"/>
          </a:p>
        </p:txBody>
      </p:sp>
      <p:sp>
        <p:nvSpPr>
          <p:cNvPr id="2" name="TextBox 1">
            <a:extLst>
              <a:ext uri="{FF2B5EF4-FFF2-40B4-BE49-F238E27FC236}">
                <a16:creationId xmlns:a16="http://schemas.microsoft.com/office/drawing/2014/main" id="{8281BB1B-E923-4466-B72C-A6EB7A8FC4AF}"/>
              </a:ext>
            </a:extLst>
          </p:cNvPr>
          <p:cNvSpPr txBox="1"/>
          <p:nvPr/>
        </p:nvSpPr>
        <p:spPr>
          <a:xfrm>
            <a:off x="3990321" y="6169059"/>
            <a:ext cx="4211358" cy="307777"/>
          </a:xfrm>
          <a:prstGeom prst="rect">
            <a:avLst/>
          </a:prstGeom>
          <a:noFill/>
        </p:spPr>
        <p:txBody>
          <a:bodyPr wrap="square" rtlCol="0">
            <a:spAutoFit/>
          </a:bodyPr>
          <a:lstStyle/>
          <a:p>
            <a:r>
              <a:rPr lang="fr-FR" sz="1400" i="1" dirty="0">
                <a:solidFill>
                  <a:srgbClr val="4A66AC"/>
                </a:solidFill>
              </a:rPr>
              <a:t>Dépôt GitHub avec la version principale de l’application</a:t>
            </a:r>
          </a:p>
        </p:txBody>
      </p:sp>
      <p:pic>
        <p:nvPicPr>
          <p:cNvPr id="3" name="Image 2"/>
          <p:cNvPicPr>
            <a:picLocks noChangeAspect="1"/>
          </p:cNvPicPr>
          <p:nvPr/>
        </p:nvPicPr>
        <p:blipFill>
          <a:blip r:embed="rId2"/>
          <a:stretch>
            <a:fillRect/>
          </a:stretch>
        </p:blipFill>
        <p:spPr>
          <a:xfrm>
            <a:off x="329514" y="1309550"/>
            <a:ext cx="11409981" cy="3810532"/>
          </a:xfrm>
          <a:prstGeom prst="rect">
            <a:avLst/>
          </a:prstGeom>
        </p:spPr>
      </p:pic>
    </p:spTree>
    <p:extLst>
      <p:ext uri="{BB962C8B-B14F-4D97-AF65-F5344CB8AC3E}">
        <p14:creationId xmlns:p14="http://schemas.microsoft.com/office/powerpoint/2010/main" val="1052336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24CB8-D3CB-48A3-A7D2-8AB8E812496C}"/>
              </a:ext>
            </a:extLst>
          </p:cNvPr>
          <p:cNvSpPr>
            <a:spLocks noGrp="1"/>
          </p:cNvSpPr>
          <p:nvPr>
            <p:ph type="title"/>
          </p:nvPr>
        </p:nvSpPr>
        <p:spPr/>
        <p:txBody>
          <a:bodyPr/>
          <a:lstStyle/>
          <a:p>
            <a:r>
              <a:rPr lang="fr-FR" dirty="0"/>
              <a:t>apprentissage</a:t>
            </a:r>
          </a:p>
        </p:txBody>
      </p:sp>
      <p:sp>
        <p:nvSpPr>
          <p:cNvPr id="4" name="Slide Number Placeholder 3">
            <a:extLst>
              <a:ext uri="{FF2B5EF4-FFF2-40B4-BE49-F238E27FC236}">
                <a16:creationId xmlns:a16="http://schemas.microsoft.com/office/drawing/2014/main" id="{B029867E-37D7-4A56-AEB0-A4CB9067AFB6}"/>
              </a:ext>
            </a:extLst>
          </p:cNvPr>
          <p:cNvSpPr>
            <a:spLocks noGrp="1"/>
          </p:cNvSpPr>
          <p:nvPr>
            <p:ph type="sldNum" sz="quarter" idx="12"/>
          </p:nvPr>
        </p:nvSpPr>
        <p:spPr/>
        <p:txBody>
          <a:bodyPr/>
          <a:lstStyle/>
          <a:p>
            <a:fld id="{C52ED629-2BC0-4D25-969E-9ED78B40D7C7}" type="slidenum">
              <a:rPr lang="fr-FR" smtClean="0"/>
              <a:t>13</a:t>
            </a:fld>
            <a:endParaRPr lang="fr-FR"/>
          </a:p>
        </p:txBody>
      </p:sp>
    </p:spTree>
    <p:extLst>
      <p:ext uri="{BB962C8B-B14F-4D97-AF65-F5344CB8AC3E}">
        <p14:creationId xmlns:p14="http://schemas.microsoft.com/office/powerpoint/2010/main" val="1634684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C9263-670C-4D20-991E-E33F630D0FB9}"/>
              </a:ext>
            </a:extLst>
          </p:cNvPr>
          <p:cNvSpPr>
            <a:spLocks noGrp="1"/>
          </p:cNvSpPr>
          <p:nvPr>
            <p:ph type="title"/>
          </p:nvPr>
        </p:nvSpPr>
        <p:spPr/>
        <p:txBody>
          <a:bodyPr/>
          <a:lstStyle/>
          <a:p>
            <a:r>
              <a:rPr lang="fr-FR" dirty="0" err="1"/>
              <a:t>Spring</a:t>
            </a:r>
            <a:r>
              <a:rPr lang="fr-FR" dirty="0"/>
              <a:t> Boot et </a:t>
            </a:r>
            <a:r>
              <a:rPr lang="fr-FR" dirty="0" err="1"/>
              <a:t>Angular</a:t>
            </a:r>
            <a:endParaRPr lang="fr-FR" dirty="0"/>
          </a:p>
        </p:txBody>
      </p:sp>
      <p:sp>
        <p:nvSpPr>
          <p:cNvPr id="3" name="Content Placeholder 2">
            <a:extLst>
              <a:ext uri="{FF2B5EF4-FFF2-40B4-BE49-F238E27FC236}">
                <a16:creationId xmlns:a16="http://schemas.microsoft.com/office/drawing/2014/main" id="{49BD936F-7CD7-416F-B4C6-63BF41F4D114}"/>
              </a:ext>
            </a:extLst>
          </p:cNvPr>
          <p:cNvSpPr>
            <a:spLocks noGrp="1"/>
          </p:cNvSpPr>
          <p:nvPr>
            <p:ph idx="1"/>
          </p:nvPr>
        </p:nvSpPr>
        <p:spPr>
          <a:xfrm>
            <a:off x="1143000" y="1871330"/>
            <a:ext cx="9791700" cy="4234830"/>
          </a:xfrm>
        </p:spPr>
        <p:txBody>
          <a:bodyPr>
            <a:normAutofit/>
          </a:bodyPr>
          <a:lstStyle/>
          <a:p>
            <a:pPr marL="45720" indent="0" algn="just">
              <a:buNone/>
            </a:pPr>
            <a:r>
              <a:rPr lang="fr-FR" dirty="0"/>
              <a:t>J'ai passé les trois premières semaines à me familiariser avec </a:t>
            </a:r>
            <a:r>
              <a:rPr lang="fr-FR" dirty="0" err="1"/>
              <a:t>springboot</a:t>
            </a:r>
            <a:r>
              <a:rPr lang="fr-FR" dirty="0"/>
              <a:t> et le </a:t>
            </a:r>
            <a:r>
              <a:rPr lang="fr-FR" dirty="0" err="1"/>
              <a:t>framework</a:t>
            </a:r>
            <a:r>
              <a:rPr lang="fr-FR" dirty="0"/>
              <a:t> </a:t>
            </a:r>
            <a:r>
              <a:rPr lang="fr-FR" dirty="0" err="1"/>
              <a:t>Angular</a:t>
            </a:r>
            <a:r>
              <a:rPr lang="fr-FR" dirty="0"/>
              <a:t>. J'ai lu beaucoup de documentation pour comprendre comment chacun d'eux fonctionne indépendamment et comment les faire fonctionner ensemble. La documentation facile à comprendre, les exemples et les guides disponibles sur le web m'ont beaucoup aidé à créer ce projet. </a:t>
            </a:r>
          </a:p>
          <a:p>
            <a:r>
              <a:rPr lang="fr-FR" dirty="0"/>
              <a:t>la meilleure façon de mapper les entités</a:t>
            </a:r>
          </a:p>
          <a:p>
            <a:r>
              <a:rPr lang="fr-FR" dirty="0"/>
              <a:t>transfert de la logique aux services</a:t>
            </a:r>
          </a:p>
          <a:p>
            <a:r>
              <a:rPr lang="fr-FR" dirty="0"/>
              <a:t>traitement des exceptions et des réponses api</a:t>
            </a:r>
          </a:p>
          <a:p>
            <a:r>
              <a:rPr lang="fr-FR" dirty="0"/>
              <a:t>observables </a:t>
            </a:r>
            <a:r>
              <a:rPr lang="fr-FR" dirty="0" err="1"/>
              <a:t>rxjs</a:t>
            </a:r>
            <a:endParaRPr lang="fr-FR" dirty="0"/>
          </a:p>
        </p:txBody>
      </p:sp>
      <p:sp>
        <p:nvSpPr>
          <p:cNvPr id="4" name="Slide Number Placeholder 3">
            <a:extLst>
              <a:ext uri="{FF2B5EF4-FFF2-40B4-BE49-F238E27FC236}">
                <a16:creationId xmlns:a16="http://schemas.microsoft.com/office/drawing/2014/main" id="{49A30F42-1817-4B40-AFA9-9A7A2B63CAD0}"/>
              </a:ext>
            </a:extLst>
          </p:cNvPr>
          <p:cNvSpPr>
            <a:spLocks noGrp="1"/>
          </p:cNvSpPr>
          <p:nvPr>
            <p:ph type="sldNum" sz="quarter" idx="12"/>
          </p:nvPr>
        </p:nvSpPr>
        <p:spPr/>
        <p:txBody>
          <a:bodyPr/>
          <a:lstStyle/>
          <a:p>
            <a:fld id="{C52ED629-2BC0-4D25-969E-9ED78B40D7C7}" type="slidenum">
              <a:rPr lang="fr-FR" smtClean="0"/>
              <a:t>14</a:t>
            </a:fld>
            <a:endParaRPr lang="fr-FR"/>
          </a:p>
        </p:txBody>
      </p:sp>
    </p:spTree>
    <p:extLst>
      <p:ext uri="{BB962C8B-B14F-4D97-AF65-F5344CB8AC3E}">
        <p14:creationId xmlns:p14="http://schemas.microsoft.com/office/powerpoint/2010/main" val="3451861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92C0F-125E-416C-9194-F5E3E981F89A}"/>
              </a:ext>
            </a:extLst>
          </p:cNvPr>
          <p:cNvSpPr>
            <a:spLocks noGrp="1"/>
          </p:cNvSpPr>
          <p:nvPr>
            <p:ph type="title"/>
          </p:nvPr>
        </p:nvSpPr>
        <p:spPr/>
        <p:txBody>
          <a:bodyPr/>
          <a:lstStyle/>
          <a:p>
            <a:r>
              <a:rPr lang="fr-FR" dirty="0"/>
              <a:t>conception</a:t>
            </a:r>
          </a:p>
        </p:txBody>
      </p:sp>
      <p:sp>
        <p:nvSpPr>
          <p:cNvPr id="4" name="Slide Number Placeholder 3">
            <a:extLst>
              <a:ext uri="{FF2B5EF4-FFF2-40B4-BE49-F238E27FC236}">
                <a16:creationId xmlns:a16="http://schemas.microsoft.com/office/drawing/2014/main" id="{873FF4AA-EF9F-4BDD-97AA-6AED43896DDA}"/>
              </a:ext>
            </a:extLst>
          </p:cNvPr>
          <p:cNvSpPr>
            <a:spLocks noGrp="1"/>
          </p:cNvSpPr>
          <p:nvPr>
            <p:ph type="sldNum" sz="quarter" idx="12"/>
          </p:nvPr>
        </p:nvSpPr>
        <p:spPr/>
        <p:txBody>
          <a:bodyPr/>
          <a:lstStyle/>
          <a:p>
            <a:fld id="{C52ED629-2BC0-4D25-969E-9ED78B40D7C7}" type="slidenum">
              <a:rPr lang="fr-FR" smtClean="0"/>
              <a:t>15</a:t>
            </a:fld>
            <a:endParaRPr lang="fr-FR"/>
          </a:p>
        </p:txBody>
      </p:sp>
    </p:spTree>
    <p:extLst>
      <p:ext uri="{BB962C8B-B14F-4D97-AF65-F5344CB8AC3E}">
        <p14:creationId xmlns:p14="http://schemas.microsoft.com/office/powerpoint/2010/main" val="3407670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CDD8B-FEB2-4BEA-ABB1-B01F1837C3C4}"/>
              </a:ext>
            </a:extLst>
          </p:cNvPr>
          <p:cNvSpPr>
            <a:spLocks noGrp="1"/>
          </p:cNvSpPr>
          <p:nvPr>
            <p:ph type="title"/>
          </p:nvPr>
        </p:nvSpPr>
        <p:spPr>
          <a:xfrm>
            <a:off x="695744" y="470380"/>
            <a:ext cx="10322776" cy="398789"/>
          </a:xfrm>
        </p:spPr>
        <p:txBody>
          <a:bodyPr>
            <a:normAutofit fontScale="90000"/>
          </a:bodyPr>
          <a:lstStyle/>
          <a:p>
            <a:r>
              <a:rPr lang="fr-FR" dirty="0"/>
              <a:t>Architecture</a:t>
            </a:r>
          </a:p>
        </p:txBody>
      </p:sp>
      <p:sp>
        <p:nvSpPr>
          <p:cNvPr id="3" name="Content Placeholder 2">
            <a:extLst>
              <a:ext uri="{FF2B5EF4-FFF2-40B4-BE49-F238E27FC236}">
                <a16:creationId xmlns:a16="http://schemas.microsoft.com/office/drawing/2014/main" id="{79BDEE36-A0ED-4FF3-B511-F9E648FF8B4A}"/>
              </a:ext>
            </a:extLst>
          </p:cNvPr>
          <p:cNvSpPr>
            <a:spLocks noGrp="1"/>
          </p:cNvSpPr>
          <p:nvPr>
            <p:ph idx="1"/>
          </p:nvPr>
        </p:nvSpPr>
        <p:spPr>
          <a:xfrm>
            <a:off x="563664" y="1074474"/>
            <a:ext cx="11023034" cy="4993818"/>
          </a:xfrm>
        </p:spPr>
        <p:txBody>
          <a:bodyPr/>
          <a:lstStyle/>
          <a:p>
            <a:pPr marL="45720" indent="0">
              <a:buNone/>
            </a:pPr>
            <a:endParaRPr lang="fr-FR" dirty="0"/>
          </a:p>
        </p:txBody>
      </p:sp>
      <p:sp>
        <p:nvSpPr>
          <p:cNvPr id="4" name="Slide Number Placeholder 3">
            <a:extLst>
              <a:ext uri="{FF2B5EF4-FFF2-40B4-BE49-F238E27FC236}">
                <a16:creationId xmlns:a16="http://schemas.microsoft.com/office/drawing/2014/main" id="{49F4B51B-EDA4-47C9-99AE-8B4B349EBE9D}"/>
              </a:ext>
            </a:extLst>
          </p:cNvPr>
          <p:cNvSpPr>
            <a:spLocks noGrp="1"/>
          </p:cNvSpPr>
          <p:nvPr>
            <p:ph type="sldNum" sz="quarter" idx="12"/>
          </p:nvPr>
        </p:nvSpPr>
        <p:spPr/>
        <p:txBody>
          <a:bodyPr/>
          <a:lstStyle/>
          <a:p>
            <a:fld id="{C52ED629-2BC0-4D25-969E-9ED78B40D7C7}" type="slidenum">
              <a:rPr lang="fr-FR" smtClean="0"/>
              <a:t>16</a:t>
            </a:fld>
            <a:endParaRPr lang="fr-FR"/>
          </a:p>
        </p:txBody>
      </p:sp>
      <p:sp>
        <p:nvSpPr>
          <p:cNvPr id="5" name="Rectangle 4">
            <a:extLst>
              <a:ext uri="{FF2B5EF4-FFF2-40B4-BE49-F238E27FC236}">
                <a16:creationId xmlns:a16="http://schemas.microsoft.com/office/drawing/2014/main" id="{1EDE560B-2C26-4C30-9BF2-C88A0FDA509A}"/>
              </a:ext>
            </a:extLst>
          </p:cNvPr>
          <p:cNvSpPr/>
          <p:nvPr/>
        </p:nvSpPr>
        <p:spPr>
          <a:xfrm>
            <a:off x="7236926" y="1004227"/>
            <a:ext cx="4440555" cy="52196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dirty="0"/>
          </a:p>
        </p:txBody>
      </p:sp>
      <p:pic>
        <p:nvPicPr>
          <p:cNvPr id="21" name="Content Placeholder 8" descr="Database">
            <a:extLst>
              <a:ext uri="{FF2B5EF4-FFF2-40B4-BE49-F238E27FC236}">
                <a16:creationId xmlns:a16="http://schemas.microsoft.com/office/drawing/2014/main" id="{DCB89EA9-CDFD-461D-8AFE-589B97D346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4332" y="5629512"/>
            <a:ext cx="426575" cy="365778"/>
          </a:xfrm>
          <a:prstGeom prst="rect">
            <a:avLst/>
          </a:prstGeom>
        </p:spPr>
      </p:pic>
      <p:sp>
        <p:nvSpPr>
          <p:cNvPr id="24" name="Rectangle: Rounded Corners 23">
            <a:extLst>
              <a:ext uri="{FF2B5EF4-FFF2-40B4-BE49-F238E27FC236}">
                <a16:creationId xmlns:a16="http://schemas.microsoft.com/office/drawing/2014/main" id="{D8E5A6F8-CC44-48CB-AE9F-B11804FDF7DD}"/>
              </a:ext>
            </a:extLst>
          </p:cNvPr>
          <p:cNvSpPr/>
          <p:nvPr/>
        </p:nvSpPr>
        <p:spPr>
          <a:xfrm>
            <a:off x="8071404" y="2067455"/>
            <a:ext cx="1080000" cy="182827"/>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contrôleur</a:t>
            </a:r>
          </a:p>
        </p:txBody>
      </p:sp>
      <p:sp>
        <p:nvSpPr>
          <p:cNvPr id="25" name="Rectangle: Rounded Corners 24">
            <a:extLst>
              <a:ext uri="{FF2B5EF4-FFF2-40B4-BE49-F238E27FC236}">
                <a16:creationId xmlns:a16="http://schemas.microsoft.com/office/drawing/2014/main" id="{B642F7D8-B369-4105-9619-9816ACCCE7C5}"/>
              </a:ext>
            </a:extLst>
          </p:cNvPr>
          <p:cNvSpPr/>
          <p:nvPr/>
        </p:nvSpPr>
        <p:spPr>
          <a:xfrm>
            <a:off x="9033391" y="4770574"/>
            <a:ext cx="1080000" cy="191663"/>
          </a:xfrm>
          <a:prstGeom prst="roundRect">
            <a:avLst/>
          </a:prstGeom>
          <a:solidFill>
            <a:srgbClr val="DB521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entités</a:t>
            </a:r>
          </a:p>
        </p:txBody>
      </p:sp>
      <p:sp>
        <p:nvSpPr>
          <p:cNvPr id="26" name="Rectangle: Rounded Corners 25">
            <a:extLst>
              <a:ext uri="{FF2B5EF4-FFF2-40B4-BE49-F238E27FC236}">
                <a16:creationId xmlns:a16="http://schemas.microsoft.com/office/drawing/2014/main" id="{57875CFC-A968-4D8C-BDB8-7AC522A4723E}"/>
              </a:ext>
            </a:extLst>
          </p:cNvPr>
          <p:cNvSpPr/>
          <p:nvPr/>
        </p:nvSpPr>
        <p:spPr>
          <a:xfrm>
            <a:off x="8841897" y="2966551"/>
            <a:ext cx="1080000" cy="191662"/>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service</a:t>
            </a:r>
          </a:p>
        </p:txBody>
      </p:sp>
      <p:sp>
        <p:nvSpPr>
          <p:cNvPr id="27" name="TextBox 26">
            <a:extLst>
              <a:ext uri="{FF2B5EF4-FFF2-40B4-BE49-F238E27FC236}">
                <a16:creationId xmlns:a16="http://schemas.microsoft.com/office/drawing/2014/main" id="{71391783-9FEF-4E91-B554-AB698BB7AECD}"/>
              </a:ext>
            </a:extLst>
          </p:cNvPr>
          <p:cNvSpPr txBox="1"/>
          <p:nvPr/>
        </p:nvSpPr>
        <p:spPr>
          <a:xfrm>
            <a:off x="9557043" y="5728785"/>
            <a:ext cx="567506" cy="246221"/>
          </a:xfrm>
          <a:prstGeom prst="rect">
            <a:avLst/>
          </a:prstGeom>
          <a:noFill/>
        </p:spPr>
        <p:txBody>
          <a:bodyPr wrap="square" rtlCol="0">
            <a:spAutoFit/>
          </a:bodyPr>
          <a:lstStyle/>
          <a:p>
            <a:r>
              <a:rPr lang="fr-FR" sz="1000" b="1" dirty="0"/>
              <a:t>BDD</a:t>
            </a:r>
          </a:p>
        </p:txBody>
      </p:sp>
      <p:cxnSp>
        <p:nvCxnSpPr>
          <p:cNvPr id="43" name="Straight Arrow Connector 42">
            <a:extLst>
              <a:ext uri="{FF2B5EF4-FFF2-40B4-BE49-F238E27FC236}">
                <a16:creationId xmlns:a16="http://schemas.microsoft.com/office/drawing/2014/main" id="{E91BC24B-29DE-4C52-8C6B-0DA480344470}"/>
              </a:ext>
            </a:extLst>
          </p:cNvPr>
          <p:cNvCxnSpPr/>
          <p:nvPr/>
        </p:nvCxnSpPr>
        <p:spPr>
          <a:xfrm>
            <a:off x="9527674" y="5051511"/>
            <a:ext cx="0" cy="477502"/>
          </a:xfrm>
          <a:prstGeom prst="straightConnector1">
            <a:avLst/>
          </a:prstGeom>
          <a:ln w="19050">
            <a:headEnd w="lg" len="med"/>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7E9EC8A-0914-462A-BB77-DCC47836F5A8}"/>
              </a:ext>
            </a:extLst>
          </p:cNvPr>
          <p:cNvCxnSpPr>
            <a:cxnSpLocks/>
          </p:cNvCxnSpPr>
          <p:nvPr/>
        </p:nvCxnSpPr>
        <p:spPr>
          <a:xfrm flipV="1">
            <a:off x="9722134" y="5051511"/>
            <a:ext cx="0" cy="48766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D6CE13B-F633-41D3-BA55-B9995637C3F5}"/>
              </a:ext>
            </a:extLst>
          </p:cNvPr>
          <p:cNvCxnSpPr/>
          <p:nvPr/>
        </p:nvCxnSpPr>
        <p:spPr>
          <a:xfrm>
            <a:off x="9488696" y="4165262"/>
            <a:ext cx="22021" cy="55324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0C3B9B2-C914-4E22-BC92-3B0097E51B7B}"/>
              </a:ext>
            </a:extLst>
          </p:cNvPr>
          <p:cNvCxnSpPr>
            <a:cxnSpLocks/>
          </p:cNvCxnSpPr>
          <p:nvPr/>
        </p:nvCxnSpPr>
        <p:spPr>
          <a:xfrm flipH="1" flipV="1">
            <a:off x="9636297" y="4177917"/>
            <a:ext cx="24992" cy="56752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BF92659B-57E9-40E5-8A42-67AF2CCAAB8D}"/>
              </a:ext>
            </a:extLst>
          </p:cNvPr>
          <p:cNvSpPr txBox="1"/>
          <p:nvPr/>
        </p:nvSpPr>
        <p:spPr>
          <a:xfrm>
            <a:off x="8726438" y="1124106"/>
            <a:ext cx="1984120" cy="369332"/>
          </a:xfrm>
          <a:prstGeom prst="rect">
            <a:avLst/>
          </a:prstGeom>
          <a:noFill/>
        </p:spPr>
        <p:txBody>
          <a:bodyPr wrap="square" rtlCol="0">
            <a:spAutoFit/>
          </a:bodyPr>
          <a:lstStyle/>
          <a:p>
            <a:r>
              <a:rPr lang="fr-FR" i="1" dirty="0">
                <a:solidFill>
                  <a:schemeClr val="tx2">
                    <a:lumMod val="60000"/>
                    <a:lumOff val="40000"/>
                  </a:schemeClr>
                </a:solidFill>
              </a:rPr>
              <a:t>« REST API »</a:t>
            </a:r>
          </a:p>
        </p:txBody>
      </p:sp>
      <p:sp>
        <p:nvSpPr>
          <p:cNvPr id="56" name="Rectangle: Rounded Corners 24">
            <a:extLst>
              <a:ext uri="{FF2B5EF4-FFF2-40B4-BE49-F238E27FC236}">
                <a16:creationId xmlns:a16="http://schemas.microsoft.com/office/drawing/2014/main" id="{B642F7D8-B369-4105-9619-9816ACCCE7C5}"/>
              </a:ext>
            </a:extLst>
          </p:cNvPr>
          <p:cNvSpPr/>
          <p:nvPr/>
        </p:nvSpPr>
        <p:spPr>
          <a:xfrm>
            <a:off x="9044549" y="3911636"/>
            <a:ext cx="1080000" cy="191663"/>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repository</a:t>
            </a:r>
          </a:p>
        </p:txBody>
      </p:sp>
      <p:cxnSp>
        <p:nvCxnSpPr>
          <p:cNvPr id="57" name="Straight Arrow Connector 53">
            <a:extLst>
              <a:ext uri="{FF2B5EF4-FFF2-40B4-BE49-F238E27FC236}">
                <a16:creationId xmlns:a16="http://schemas.microsoft.com/office/drawing/2014/main" id="{80C3B9B2-C914-4E22-BC92-3B0097E51B7B}"/>
              </a:ext>
            </a:extLst>
          </p:cNvPr>
          <p:cNvCxnSpPr>
            <a:cxnSpLocks/>
          </p:cNvCxnSpPr>
          <p:nvPr/>
        </p:nvCxnSpPr>
        <p:spPr>
          <a:xfrm flipH="1" flipV="1">
            <a:off x="9527674" y="3283386"/>
            <a:ext cx="228671" cy="53652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1">
            <a:extLst>
              <a:ext uri="{FF2B5EF4-FFF2-40B4-BE49-F238E27FC236}">
                <a16:creationId xmlns:a16="http://schemas.microsoft.com/office/drawing/2014/main" id="{FD6CE13B-F633-41D3-BA55-B9995637C3F5}"/>
              </a:ext>
            </a:extLst>
          </p:cNvPr>
          <p:cNvCxnSpPr/>
          <p:nvPr/>
        </p:nvCxnSpPr>
        <p:spPr>
          <a:xfrm>
            <a:off x="9357259" y="3283386"/>
            <a:ext cx="223233" cy="56405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7" name="Rectangle à coins arrondis 36"/>
          <p:cNvSpPr/>
          <p:nvPr/>
        </p:nvSpPr>
        <p:spPr>
          <a:xfrm>
            <a:off x="840259" y="1983537"/>
            <a:ext cx="1318055" cy="739649"/>
          </a:xfrm>
          <a:prstGeom prst="round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ZoneTexte 37"/>
          <p:cNvSpPr txBox="1"/>
          <p:nvPr/>
        </p:nvSpPr>
        <p:spPr>
          <a:xfrm>
            <a:off x="878847" y="2169189"/>
            <a:ext cx="1335828" cy="369332"/>
          </a:xfrm>
          <a:prstGeom prst="rect">
            <a:avLst/>
          </a:prstGeom>
          <a:noFill/>
        </p:spPr>
        <p:txBody>
          <a:bodyPr wrap="square" rtlCol="0">
            <a:spAutoFit/>
          </a:bodyPr>
          <a:lstStyle/>
          <a:p>
            <a:r>
              <a:rPr lang="en-US" dirty="0" err="1"/>
              <a:t>Navigateur</a:t>
            </a:r>
            <a:endParaRPr lang="fr-FR" dirty="0"/>
          </a:p>
        </p:txBody>
      </p:sp>
      <p:sp>
        <p:nvSpPr>
          <p:cNvPr id="40" name="Rectangle à coins arrondis 39"/>
          <p:cNvSpPr/>
          <p:nvPr/>
        </p:nvSpPr>
        <p:spPr>
          <a:xfrm>
            <a:off x="840259" y="3494537"/>
            <a:ext cx="1386862" cy="1376241"/>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ZoneTexte 40"/>
          <p:cNvSpPr txBox="1"/>
          <p:nvPr/>
        </p:nvSpPr>
        <p:spPr>
          <a:xfrm>
            <a:off x="973013" y="3815830"/>
            <a:ext cx="1165318" cy="646331"/>
          </a:xfrm>
          <a:prstGeom prst="rect">
            <a:avLst/>
          </a:prstGeom>
          <a:noFill/>
        </p:spPr>
        <p:txBody>
          <a:bodyPr wrap="square" rtlCol="0">
            <a:spAutoFit/>
          </a:bodyPr>
          <a:lstStyle/>
          <a:p>
            <a:pPr algn="ctr"/>
            <a:r>
              <a:rPr lang="en-US" dirty="0"/>
              <a:t>HTML</a:t>
            </a:r>
          </a:p>
          <a:p>
            <a:pPr algn="ctr"/>
            <a:r>
              <a:rPr lang="en-US" dirty="0"/>
              <a:t>Template</a:t>
            </a:r>
            <a:endParaRPr lang="fr-FR" dirty="0"/>
          </a:p>
        </p:txBody>
      </p:sp>
      <p:sp>
        <p:nvSpPr>
          <p:cNvPr id="42" name="Rectangle à coins arrondis 41"/>
          <p:cNvSpPr/>
          <p:nvPr/>
        </p:nvSpPr>
        <p:spPr>
          <a:xfrm>
            <a:off x="2494892" y="3493770"/>
            <a:ext cx="1256068" cy="570858"/>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ZoneTexte 43"/>
          <p:cNvSpPr txBox="1"/>
          <p:nvPr/>
        </p:nvSpPr>
        <p:spPr>
          <a:xfrm>
            <a:off x="2469958" y="3585475"/>
            <a:ext cx="1365107" cy="369332"/>
          </a:xfrm>
          <a:prstGeom prst="rect">
            <a:avLst/>
          </a:prstGeom>
          <a:noFill/>
        </p:spPr>
        <p:txBody>
          <a:bodyPr wrap="square" rtlCol="0">
            <a:spAutoFit/>
          </a:bodyPr>
          <a:lstStyle/>
          <a:p>
            <a:r>
              <a:rPr lang="en-US" dirty="0"/>
              <a:t>Component</a:t>
            </a:r>
            <a:endParaRPr lang="fr-FR" dirty="0"/>
          </a:p>
        </p:txBody>
      </p:sp>
      <p:sp>
        <p:nvSpPr>
          <p:cNvPr id="48" name="Rectangle à coins arrondis 47"/>
          <p:cNvSpPr/>
          <p:nvPr/>
        </p:nvSpPr>
        <p:spPr>
          <a:xfrm>
            <a:off x="4061024" y="3493770"/>
            <a:ext cx="923928" cy="1422395"/>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ZoneTexte 49"/>
          <p:cNvSpPr txBox="1"/>
          <p:nvPr/>
        </p:nvSpPr>
        <p:spPr>
          <a:xfrm>
            <a:off x="4104635" y="3992399"/>
            <a:ext cx="882375" cy="369332"/>
          </a:xfrm>
          <a:prstGeom prst="rect">
            <a:avLst/>
          </a:prstGeom>
          <a:noFill/>
        </p:spPr>
        <p:txBody>
          <a:bodyPr wrap="square" rtlCol="0">
            <a:spAutoFit/>
          </a:bodyPr>
          <a:lstStyle/>
          <a:p>
            <a:r>
              <a:rPr lang="en-US" dirty="0"/>
              <a:t>Service</a:t>
            </a:r>
            <a:endParaRPr lang="fr-FR" dirty="0"/>
          </a:p>
        </p:txBody>
      </p:sp>
      <p:sp>
        <p:nvSpPr>
          <p:cNvPr id="51" name="Rectangle à coins arrondis 50"/>
          <p:cNvSpPr/>
          <p:nvPr/>
        </p:nvSpPr>
        <p:spPr>
          <a:xfrm>
            <a:off x="2479140" y="4344050"/>
            <a:ext cx="1256068" cy="526533"/>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Interface</a:t>
            </a:r>
            <a:endParaRPr lang="fr-FR" dirty="0">
              <a:solidFill>
                <a:schemeClr val="tx1"/>
              </a:solidFill>
            </a:endParaRPr>
          </a:p>
        </p:txBody>
      </p:sp>
      <p:sp>
        <p:nvSpPr>
          <p:cNvPr id="73" name="Rectangle à coins arrondis 72"/>
          <p:cNvSpPr/>
          <p:nvPr/>
        </p:nvSpPr>
        <p:spPr>
          <a:xfrm>
            <a:off x="5238049" y="3516846"/>
            <a:ext cx="1386862" cy="1376241"/>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Interceptor</a:t>
            </a:r>
            <a:endParaRPr lang="fr-FR" dirty="0">
              <a:solidFill>
                <a:schemeClr val="tx1"/>
              </a:solidFill>
            </a:endParaRPr>
          </a:p>
        </p:txBody>
      </p:sp>
      <p:sp>
        <p:nvSpPr>
          <p:cNvPr id="59" name="Rectangle à coins arrondis 58"/>
          <p:cNvSpPr/>
          <p:nvPr/>
        </p:nvSpPr>
        <p:spPr>
          <a:xfrm>
            <a:off x="681911" y="3109525"/>
            <a:ext cx="6186039" cy="2146263"/>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2" name="Connecteur droit avec flèche 61"/>
          <p:cNvCxnSpPr>
            <a:endCxn id="44" idx="1"/>
          </p:cNvCxnSpPr>
          <p:nvPr/>
        </p:nvCxnSpPr>
        <p:spPr>
          <a:xfrm>
            <a:off x="2227121" y="3770141"/>
            <a:ext cx="2428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Connecteur droit avec flèche 74"/>
          <p:cNvCxnSpPr>
            <a:stCxn id="42" idx="2"/>
            <a:endCxn id="51" idx="0"/>
          </p:cNvCxnSpPr>
          <p:nvPr/>
        </p:nvCxnSpPr>
        <p:spPr>
          <a:xfrm flipH="1">
            <a:off x="3107174" y="4064628"/>
            <a:ext cx="15752" cy="27942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Connecteur droit avec flèche 80"/>
          <p:cNvCxnSpPr/>
          <p:nvPr/>
        </p:nvCxnSpPr>
        <p:spPr>
          <a:xfrm>
            <a:off x="3744636" y="3698850"/>
            <a:ext cx="327761" cy="9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necteur droit avec flèche 90"/>
          <p:cNvCxnSpPr>
            <a:stCxn id="50" idx="3"/>
          </p:cNvCxnSpPr>
          <p:nvPr/>
        </p:nvCxnSpPr>
        <p:spPr>
          <a:xfrm>
            <a:off x="4987010" y="4177065"/>
            <a:ext cx="3669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eur droit avec flèche 95"/>
          <p:cNvCxnSpPr/>
          <p:nvPr/>
        </p:nvCxnSpPr>
        <p:spPr>
          <a:xfrm>
            <a:off x="1499286" y="2723186"/>
            <a:ext cx="0" cy="890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Connecteur droit avec flèche 100"/>
          <p:cNvCxnSpPr>
            <a:stCxn id="73" idx="3"/>
            <a:endCxn id="24" idx="1"/>
          </p:cNvCxnSpPr>
          <p:nvPr/>
        </p:nvCxnSpPr>
        <p:spPr>
          <a:xfrm flipV="1">
            <a:off x="6624911" y="2158869"/>
            <a:ext cx="1446493" cy="20460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Connecteur droit avec flèche 104"/>
          <p:cNvCxnSpPr/>
          <p:nvPr/>
        </p:nvCxnSpPr>
        <p:spPr>
          <a:xfrm flipH="1">
            <a:off x="6624912" y="2250282"/>
            <a:ext cx="1559213" cy="20937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6" name="Rectangle à coins arrondis 105"/>
          <p:cNvSpPr/>
          <p:nvPr/>
        </p:nvSpPr>
        <p:spPr>
          <a:xfrm>
            <a:off x="7937856" y="1511458"/>
            <a:ext cx="3018468" cy="4712370"/>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3" name="Straight Arrow Connector 53">
            <a:extLst>
              <a:ext uri="{FF2B5EF4-FFF2-40B4-BE49-F238E27FC236}">
                <a16:creationId xmlns:a16="http://schemas.microsoft.com/office/drawing/2014/main" id="{80C3B9B2-C914-4E22-BC92-3B0097E51B7B}"/>
              </a:ext>
            </a:extLst>
          </p:cNvPr>
          <p:cNvCxnSpPr>
            <a:cxnSpLocks/>
          </p:cNvCxnSpPr>
          <p:nvPr/>
        </p:nvCxnSpPr>
        <p:spPr>
          <a:xfrm flipH="1" flipV="1">
            <a:off x="9215194" y="2368804"/>
            <a:ext cx="228671" cy="53652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51">
            <a:extLst>
              <a:ext uri="{FF2B5EF4-FFF2-40B4-BE49-F238E27FC236}">
                <a16:creationId xmlns:a16="http://schemas.microsoft.com/office/drawing/2014/main" id="{FD6CE13B-F633-41D3-BA55-B9995637C3F5}"/>
              </a:ext>
            </a:extLst>
          </p:cNvPr>
          <p:cNvCxnSpPr/>
          <p:nvPr/>
        </p:nvCxnSpPr>
        <p:spPr>
          <a:xfrm>
            <a:off x="9033391" y="2341272"/>
            <a:ext cx="223233" cy="56405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5194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2"/>
          </p:nvPr>
        </p:nvSpPr>
        <p:spPr/>
        <p:txBody>
          <a:bodyPr/>
          <a:lstStyle/>
          <a:p>
            <a:fld id="{C52ED629-2BC0-4D25-969E-9ED78B40D7C7}" type="slidenum">
              <a:rPr lang="fr-FR" smtClean="0"/>
              <a:t>17</a:t>
            </a:fld>
            <a:endParaRPr lang="fr-FR"/>
          </a:p>
        </p:txBody>
      </p:sp>
      <p:sp>
        <p:nvSpPr>
          <p:cNvPr id="7" name="Title 4">
            <a:extLst>
              <a:ext uri="{FF2B5EF4-FFF2-40B4-BE49-F238E27FC236}">
                <a16:creationId xmlns:a16="http://schemas.microsoft.com/office/drawing/2014/main" id="{A4B4D787-12B7-43E2-B14C-F3027937EB2D}"/>
              </a:ext>
            </a:extLst>
          </p:cNvPr>
          <p:cNvSpPr txBox="1">
            <a:spLocks/>
          </p:cNvSpPr>
          <p:nvPr/>
        </p:nvSpPr>
        <p:spPr>
          <a:xfrm>
            <a:off x="337751" y="409483"/>
            <a:ext cx="11524735" cy="4530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endParaRPr lang="fr-FR" sz="3200" dirty="0"/>
          </a:p>
          <a:p>
            <a:pPr algn="ctr"/>
            <a:r>
              <a:rPr lang="fr-FR" sz="3200" dirty="0"/>
              <a:t>Structure de Back-End</a:t>
            </a:r>
          </a:p>
          <a:p>
            <a:endParaRPr lang="fr-FR" sz="3200" dirty="0"/>
          </a:p>
        </p:txBody>
      </p:sp>
      <p:sp>
        <p:nvSpPr>
          <p:cNvPr id="8" name="Title 4">
            <a:extLst>
              <a:ext uri="{FF2B5EF4-FFF2-40B4-BE49-F238E27FC236}">
                <a16:creationId xmlns:a16="http://schemas.microsoft.com/office/drawing/2014/main" id="{A4B4D787-12B7-43E2-B14C-F3027937EB2D}"/>
              </a:ext>
            </a:extLst>
          </p:cNvPr>
          <p:cNvSpPr txBox="1">
            <a:spLocks/>
          </p:cNvSpPr>
          <p:nvPr/>
        </p:nvSpPr>
        <p:spPr>
          <a:xfrm>
            <a:off x="4611882" y="1134174"/>
            <a:ext cx="2489135" cy="5272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endParaRPr lang="fr-FR" sz="3200" dirty="0"/>
          </a:p>
          <a:p>
            <a:endParaRPr lang="fr-FR" sz="3200" dirty="0"/>
          </a:p>
        </p:txBody>
      </p:sp>
      <p:pic>
        <p:nvPicPr>
          <p:cNvPr id="2" name="Image 1"/>
          <p:cNvPicPr>
            <a:picLocks noChangeAspect="1"/>
          </p:cNvPicPr>
          <p:nvPr/>
        </p:nvPicPr>
        <p:blipFill>
          <a:blip r:embed="rId2"/>
          <a:stretch>
            <a:fillRect/>
          </a:stretch>
        </p:blipFill>
        <p:spPr>
          <a:xfrm>
            <a:off x="4222407" y="1462029"/>
            <a:ext cx="3467100" cy="4362450"/>
          </a:xfrm>
          <a:prstGeom prst="rect">
            <a:avLst/>
          </a:prstGeom>
        </p:spPr>
      </p:pic>
      <p:cxnSp>
        <p:nvCxnSpPr>
          <p:cNvPr id="6" name="Connecteur droit avec flèche 5"/>
          <p:cNvCxnSpPr>
            <a:cxnSpLocks/>
          </p:cNvCxnSpPr>
          <p:nvPr/>
        </p:nvCxnSpPr>
        <p:spPr>
          <a:xfrm flipH="1" flipV="1">
            <a:off x="3370362" y="1559746"/>
            <a:ext cx="1877143" cy="557380"/>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1" name="ZoneTexte 10"/>
          <p:cNvSpPr txBox="1"/>
          <p:nvPr/>
        </p:nvSpPr>
        <p:spPr>
          <a:xfrm>
            <a:off x="460933" y="1417420"/>
            <a:ext cx="3288699" cy="461665"/>
          </a:xfrm>
          <a:prstGeom prst="rect">
            <a:avLst/>
          </a:prstGeom>
          <a:noFill/>
        </p:spPr>
        <p:txBody>
          <a:bodyPr wrap="square" rtlCol="0">
            <a:spAutoFit/>
          </a:bodyPr>
          <a:lstStyle/>
          <a:p>
            <a:r>
              <a:rPr lang="fr-FR" sz="1200" dirty="0">
                <a:solidFill>
                  <a:schemeClr val="accent1">
                    <a:lumMod val="75000"/>
                  </a:schemeClr>
                </a:solidFill>
              </a:rPr>
              <a:t>contient des écouteurs d'événements et des événements</a:t>
            </a:r>
            <a:endParaRPr lang="fr-FR" sz="1200" b="1" dirty="0">
              <a:solidFill>
                <a:schemeClr val="accent1">
                  <a:lumMod val="75000"/>
                </a:schemeClr>
              </a:solidFill>
            </a:endParaRPr>
          </a:p>
        </p:txBody>
      </p:sp>
      <p:sp>
        <p:nvSpPr>
          <p:cNvPr id="16" name="ZoneTexte 15"/>
          <p:cNvSpPr txBox="1"/>
          <p:nvPr/>
        </p:nvSpPr>
        <p:spPr>
          <a:xfrm>
            <a:off x="460933" y="1979779"/>
            <a:ext cx="3379316" cy="1015663"/>
          </a:xfrm>
          <a:prstGeom prst="rect">
            <a:avLst/>
          </a:prstGeom>
          <a:noFill/>
        </p:spPr>
        <p:txBody>
          <a:bodyPr wrap="square" rtlCol="0">
            <a:spAutoFit/>
          </a:bodyPr>
          <a:lstStyle/>
          <a:p>
            <a:r>
              <a:rPr lang="fr-FR" sz="1200" dirty="0">
                <a:solidFill>
                  <a:schemeClr val="accent1">
                    <a:lumMod val="75000"/>
                  </a:schemeClr>
                </a:solidFill>
              </a:rPr>
              <a:t>contient des filtres de requête, des points d'entrée d'authentification, un objet de réponse </a:t>
            </a:r>
            <a:r>
              <a:rPr lang="fr-FR" sz="1200" dirty="0" err="1">
                <a:solidFill>
                  <a:schemeClr val="accent1">
                    <a:lumMod val="75000"/>
                  </a:schemeClr>
                </a:solidFill>
              </a:rPr>
              <a:t>jwt</a:t>
            </a:r>
            <a:r>
              <a:rPr lang="fr-FR" sz="1200" dirty="0">
                <a:solidFill>
                  <a:schemeClr val="accent1">
                    <a:lumMod val="75000"/>
                  </a:schemeClr>
                </a:solidFill>
              </a:rPr>
              <a:t> et des utilitaires pour générer des jetons d'authentification </a:t>
            </a:r>
            <a:r>
              <a:rPr lang="fr-FR" sz="1200" dirty="0" err="1">
                <a:solidFill>
                  <a:schemeClr val="accent1">
                    <a:lumMod val="75000"/>
                  </a:schemeClr>
                </a:solidFill>
              </a:rPr>
              <a:t>jwt</a:t>
            </a:r>
            <a:r>
              <a:rPr lang="fr-FR" sz="1200" dirty="0">
                <a:solidFill>
                  <a:schemeClr val="accent1">
                    <a:lumMod val="75000"/>
                  </a:schemeClr>
                </a:solidFill>
              </a:rPr>
              <a:t>, les envoyer à l'utilisateur, et lire et valider à partir des en-têtes de requête</a:t>
            </a:r>
          </a:p>
        </p:txBody>
      </p:sp>
      <p:cxnSp>
        <p:nvCxnSpPr>
          <p:cNvPr id="18" name="Connecteur droit avec flèche 17"/>
          <p:cNvCxnSpPr>
            <a:cxnSpLocks/>
          </p:cNvCxnSpPr>
          <p:nvPr/>
        </p:nvCxnSpPr>
        <p:spPr>
          <a:xfrm flipH="1">
            <a:off x="3601418" y="2271976"/>
            <a:ext cx="2016789" cy="245779"/>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19" name="ZoneTexte 18"/>
          <p:cNvSpPr txBox="1"/>
          <p:nvPr/>
        </p:nvSpPr>
        <p:spPr>
          <a:xfrm>
            <a:off x="477795" y="3126029"/>
            <a:ext cx="2850292" cy="1200329"/>
          </a:xfrm>
          <a:prstGeom prst="rect">
            <a:avLst/>
          </a:prstGeom>
          <a:noFill/>
        </p:spPr>
        <p:txBody>
          <a:bodyPr wrap="square" rtlCol="0">
            <a:spAutoFit/>
          </a:bodyPr>
          <a:lstStyle/>
          <a:p>
            <a:r>
              <a:rPr lang="fr-FR" sz="1200" dirty="0">
                <a:solidFill>
                  <a:schemeClr val="accent1">
                    <a:lumMod val="75000"/>
                  </a:schemeClr>
                </a:solidFill>
              </a:rPr>
              <a:t>contient les entités (les données qui peuvent être persistées dans la base de données) et les repositories (mécanisme d'encapsulation du stockage, de la récupération et de la recherche qui émule une collection d'objets)</a:t>
            </a:r>
          </a:p>
        </p:txBody>
      </p:sp>
      <p:cxnSp>
        <p:nvCxnSpPr>
          <p:cNvPr id="21" name="Connecteur droit avec flèche 20"/>
          <p:cNvCxnSpPr>
            <a:cxnSpLocks/>
          </p:cNvCxnSpPr>
          <p:nvPr/>
        </p:nvCxnSpPr>
        <p:spPr>
          <a:xfrm flipH="1">
            <a:off x="3098909" y="2876462"/>
            <a:ext cx="2482742" cy="893820"/>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4" name="ZoneTexte 23"/>
          <p:cNvSpPr txBox="1"/>
          <p:nvPr/>
        </p:nvSpPr>
        <p:spPr>
          <a:xfrm>
            <a:off x="457007" y="4454485"/>
            <a:ext cx="2817341" cy="646331"/>
          </a:xfrm>
          <a:prstGeom prst="rect">
            <a:avLst/>
          </a:prstGeom>
          <a:noFill/>
        </p:spPr>
        <p:txBody>
          <a:bodyPr wrap="square" rtlCol="0">
            <a:spAutoFit/>
          </a:bodyPr>
          <a:lstStyle/>
          <a:p>
            <a:r>
              <a:rPr lang="fr-FR" sz="1200" dirty="0">
                <a:solidFill>
                  <a:schemeClr val="accent1">
                    <a:lumMod val="75000"/>
                  </a:schemeClr>
                </a:solidFill>
              </a:rPr>
              <a:t>contient les services qui sont utilisés pour écrire la logique dans une couche différente, séparée des contrôleurs REST</a:t>
            </a:r>
          </a:p>
        </p:txBody>
      </p:sp>
      <p:cxnSp>
        <p:nvCxnSpPr>
          <p:cNvPr id="26" name="Connecteur droit avec flèche 25"/>
          <p:cNvCxnSpPr>
            <a:cxnSpLocks/>
          </p:cNvCxnSpPr>
          <p:nvPr/>
        </p:nvCxnSpPr>
        <p:spPr>
          <a:xfrm flipH="1">
            <a:off x="3042726" y="3497222"/>
            <a:ext cx="2538925" cy="1280428"/>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7" name="ZoneTexte 26"/>
          <p:cNvSpPr txBox="1"/>
          <p:nvPr/>
        </p:nvSpPr>
        <p:spPr>
          <a:xfrm>
            <a:off x="460933" y="5228943"/>
            <a:ext cx="2840940" cy="830997"/>
          </a:xfrm>
          <a:prstGeom prst="rect">
            <a:avLst/>
          </a:prstGeom>
          <a:noFill/>
        </p:spPr>
        <p:txBody>
          <a:bodyPr wrap="square" rtlCol="0">
            <a:spAutoFit/>
          </a:bodyPr>
          <a:lstStyle/>
          <a:p>
            <a:r>
              <a:rPr lang="fr-FR" sz="1200" dirty="0">
                <a:solidFill>
                  <a:schemeClr val="accent1">
                    <a:lumMod val="75000"/>
                  </a:schemeClr>
                </a:solidFill>
              </a:rPr>
              <a:t>contient la configurations de Spring. Configuration Web, configuration des tâches, et la configuration d'événements asynchrones</a:t>
            </a:r>
          </a:p>
        </p:txBody>
      </p:sp>
      <p:cxnSp>
        <p:nvCxnSpPr>
          <p:cNvPr id="29" name="Connecteur droit avec flèche 28"/>
          <p:cNvCxnSpPr>
            <a:cxnSpLocks/>
          </p:cNvCxnSpPr>
          <p:nvPr/>
        </p:nvCxnSpPr>
        <p:spPr>
          <a:xfrm flipH="1">
            <a:off x="3037560" y="3880022"/>
            <a:ext cx="2580646" cy="1662959"/>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1" name="ZoneTexte 30"/>
          <p:cNvSpPr txBox="1"/>
          <p:nvPr/>
        </p:nvSpPr>
        <p:spPr>
          <a:xfrm>
            <a:off x="8277805" y="1192105"/>
            <a:ext cx="3303373" cy="646331"/>
          </a:xfrm>
          <a:prstGeom prst="rect">
            <a:avLst/>
          </a:prstGeom>
          <a:noFill/>
        </p:spPr>
        <p:txBody>
          <a:bodyPr wrap="square" rtlCol="0">
            <a:spAutoFit/>
          </a:bodyPr>
          <a:lstStyle/>
          <a:p>
            <a:r>
              <a:rPr lang="fr-FR" sz="1200" dirty="0">
                <a:solidFill>
                  <a:schemeClr val="accent1">
                    <a:lumMod val="75000"/>
                  </a:schemeClr>
                </a:solidFill>
              </a:rPr>
              <a:t>contient les tâches de planification qui prennent en charge la suppression des fichiers, qui ne sont plus référencés dans la base de données</a:t>
            </a:r>
          </a:p>
        </p:txBody>
      </p:sp>
      <p:cxnSp>
        <p:nvCxnSpPr>
          <p:cNvPr id="33" name="Connecteur droit avec flèche 32"/>
          <p:cNvCxnSpPr>
            <a:cxnSpLocks/>
          </p:cNvCxnSpPr>
          <p:nvPr/>
        </p:nvCxnSpPr>
        <p:spPr>
          <a:xfrm flipV="1">
            <a:off x="6109754" y="1648252"/>
            <a:ext cx="2115548" cy="2380051"/>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 name="ZoneTexte 33"/>
          <p:cNvSpPr txBox="1"/>
          <p:nvPr/>
        </p:nvSpPr>
        <p:spPr>
          <a:xfrm>
            <a:off x="8256003" y="2114824"/>
            <a:ext cx="3171568" cy="461665"/>
          </a:xfrm>
          <a:prstGeom prst="rect">
            <a:avLst/>
          </a:prstGeom>
          <a:noFill/>
        </p:spPr>
        <p:txBody>
          <a:bodyPr wrap="square" rtlCol="0">
            <a:spAutoFit/>
          </a:bodyPr>
          <a:lstStyle/>
          <a:p>
            <a:r>
              <a:rPr lang="fr-FR" sz="1200" dirty="0">
                <a:solidFill>
                  <a:schemeClr val="accent1">
                    <a:lumMod val="75000"/>
                  </a:schemeClr>
                </a:solidFill>
              </a:rPr>
              <a:t>contient les validateurs de contraintes pour valider </a:t>
            </a:r>
            <a:r>
              <a:rPr lang="fr-FR" sz="1200" dirty="0" err="1">
                <a:solidFill>
                  <a:schemeClr val="accent1">
                    <a:lumMod val="75000"/>
                  </a:schemeClr>
                </a:solidFill>
              </a:rPr>
              <a:t>differents</a:t>
            </a:r>
            <a:r>
              <a:rPr lang="fr-FR" sz="1200" dirty="0">
                <a:solidFill>
                  <a:schemeClr val="accent1">
                    <a:lumMod val="75000"/>
                  </a:schemeClr>
                </a:solidFill>
              </a:rPr>
              <a:t> types de requête</a:t>
            </a:r>
          </a:p>
        </p:txBody>
      </p:sp>
      <p:cxnSp>
        <p:nvCxnSpPr>
          <p:cNvPr id="36" name="Connecteur droit avec flèche 35"/>
          <p:cNvCxnSpPr>
            <a:cxnSpLocks/>
          </p:cNvCxnSpPr>
          <p:nvPr/>
        </p:nvCxnSpPr>
        <p:spPr>
          <a:xfrm flipV="1">
            <a:off x="6532605" y="2460203"/>
            <a:ext cx="1745200" cy="1755640"/>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7" name="ZoneTexte 36"/>
          <p:cNvSpPr txBox="1"/>
          <p:nvPr/>
        </p:nvSpPr>
        <p:spPr>
          <a:xfrm>
            <a:off x="8302438" y="2823016"/>
            <a:ext cx="3100499" cy="646331"/>
          </a:xfrm>
          <a:prstGeom prst="rect">
            <a:avLst/>
          </a:prstGeom>
          <a:noFill/>
        </p:spPr>
        <p:txBody>
          <a:bodyPr wrap="square" rtlCol="0">
            <a:spAutoFit/>
          </a:bodyPr>
          <a:lstStyle/>
          <a:p>
            <a:r>
              <a:rPr lang="fr-FR" sz="1200" dirty="0">
                <a:solidFill>
                  <a:schemeClr val="accent1">
                    <a:lumMod val="75000"/>
                  </a:schemeClr>
                </a:solidFill>
              </a:rPr>
              <a:t>contient les objets d'erreur d'api et d'erreur de validation utilisés par le gestionnaire d'exception</a:t>
            </a:r>
          </a:p>
        </p:txBody>
      </p:sp>
      <p:cxnSp>
        <p:nvCxnSpPr>
          <p:cNvPr id="39" name="Connecteur droit avec flèche 38"/>
          <p:cNvCxnSpPr>
            <a:cxnSpLocks/>
            <a:endCxn id="37" idx="1"/>
          </p:cNvCxnSpPr>
          <p:nvPr/>
        </p:nvCxnSpPr>
        <p:spPr>
          <a:xfrm flipV="1">
            <a:off x="6672649" y="3146182"/>
            <a:ext cx="1629789" cy="1486918"/>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0" name="ZoneTexte 39"/>
          <p:cNvSpPr txBox="1"/>
          <p:nvPr/>
        </p:nvSpPr>
        <p:spPr>
          <a:xfrm>
            <a:off x="8351865" y="3668226"/>
            <a:ext cx="3001644" cy="276999"/>
          </a:xfrm>
          <a:prstGeom prst="rect">
            <a:avLst/>
          </a:prstGeom>
          <a:noFill/>
        </p:spPr>
        <p:txBody>
          <a:bodyPr wrap="square" rtlCol="0">
            <a:spAutoFit/>
          </a:bodyPr>
          <a:lstStyle/>
          <a:p>
            <a:r>
              <a:rPr lang="en-US" sz="1200" dirty="0" err="1">
                <a:solidFill>
                  <a:schemeClr val="accent1">
                    <a:lumMod val="75000"/>
                  </a:schemeClr>
                </a:solidFill>
              </a:rPr>
              <a:t>contient</a:t>
            </a:r>
            <a:r>
              <a:rPr lang="en-US" sz="1200" dirty="0">
                <a:solidFill>
                  <a:schemeClr val="accent1">
                    <a:lumMod val="75000"/>
                  </a:schemeClr>
                </a:solidFill>
              </a:rPr>
              <a:t> les </a:t>
            </a:r>
            <a:r>
              <a:rPr lang="en-US" sz="1200" dirty="0" err="1">
                <a:solidFill>
                  <a:schemeClr val="accent1">
                    <a:lumMod val="75000"/>
                  </a:schemeClr>
                </a:solidFill>
              </a:rPr>
              <a:t>contrôleurs</a:t>
            </a:r>
            <a:r>
              <a:rPr lang="en-US" sz="1200" dirty="0">
                <a:solidFill>
                  <a:schemeClr val="accent1">
                    <a:lumMod val="75000"/>
                  </a:schemeClr>
                </a:solidFill>
              </a:rPr>
              <a:t> REST</a:t>
            </a:r>
            <a:endParaRPr lang="fr-FR" sz="1200" dirty="0">
              <a:solidFill>
                <a:schemeClr val="accent1">
                  <a:lumMod val="75000"/>
                </a:schemeClr>
              </a:solidFill>
            </a:endParaRPr>
          </a:p>
        </p:txBody>
      </p:sp>
      <p:cxnSp>
        <p:nvCxnSpPr>
          <p:cNvPr id="42" name="Connecteur droit avec flèche 41"/>
          <p:cNvCxnSpPr>
            <a:cxnSpLocks/>
            <a:endCxn id="40" idx="1"/>
          </p:cNvCxnSpPr>
          <p:nvPr/>
        </p:nvCxnSpPr>
        <p:spPr>
          <a:xfrm flipV="1">
            <a:off x="6870357" y="3806726"/>
            <a:ext cx="1481508" cy="1014132"/>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3" name="ZoneTexte 42"/>
          <p:cNvSpPr txBox="1"/>
          <p:nvPr/>
        </p:nvSpPr>
        <p:spPr>
          <a:xfrm>
            <a:off x="8310496" y="4162396"/>
            <a:ext cx="2734963" cy="1015663"/>
          </a:xfrm>
          <a:prstGeom prst="rect">
            <a:avLst/>
          </a:prstGeom>
          <a:noFill/>
        </p:spPr>
        <p:txBody>
          <a:bodyPr wrap="square" rtlCol="0">
            <a:spAutoFit/>
          </a:bodyPr>
          <a:lstStyle/>
          <a:p>
            <a:r>
              <a:rPr lang="fr-FR" sz="1200" dirty="0">
                <a:solidFill>
                  <a:schemeClr val="accent1">
                    <a:lumMod val="75000"/>
                  </a:schemeClr>
                </a:solidFill>
              </a:rPr>
              <a:t>des objets de transfert de données qui ne contiennent pas de logique mais des mécanismes de sérialisation et de </a:t>
            </a:r>
            <a:r>
              <a:rPr lang="fr-FR" sz="1200" dirty="0" err="1">
                <a:solidFill>
                  <a:schemeClr val="accent1">
                    <a:lumMod val="75000"/>
                  </a:schemeClr>
                </a:solidFill>
              </a:rPr>
              <a:t>désérialisation</a:t>
            </a:r>
            <a:r>
              <a:rPr lang="fr-FR" sz="1200" dirty="0">
                <a:solidFill>
                  <a:schemeClr val="accent1">
                    <a:lumMod val="75000"/>
                  </a:schemeClr>
                </a:solidFill>
              </a:rPr>
              <a:t> pour le transfert de données.</a:t>
            </a:r>
          </a:p>
        </p:txBody>
      </p:sp>
      <p:cxnSp>
        <p:nvCxnSpPr>
          <p:cNvPr id="45" name="Connecteur droit avec flèche 44"/>
          <p:cNvCxnSpPr/>
          <p:nvPr/>
        </p:nvCxnSpPr>
        <p:spPr>
          <a:xfrm flipV="1">
            <a:off x="6450227" y="4934465"/>
            <a:ext cx="1804086" cy="21799"/>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6" name="ZoneTexte 45"/>
          <p:cNvSpPr txBox="1"/>
          <p:nvPr/>
        </p:nvSpPr>
        <p:spPr>
          <a:xfrm>
            <a:off x="8411026" y="5481810"/>
            <a:ext cx="2674342" cy="461665"/>
          </a:xfrm>
          <a:prstGeom prst="rect">
            <a:avLst/>
          </a:prstGeom>
          <a:noFill/>
        </p:spPr>
        <p:txBody>
          <a:bodyPr wrap="square" rtlCol="0">
            <a:spAutoFit/>
          </a:bodyPr>
          <a:lstStyle/>
          <a:p>
            <a:r>
              <a:rPr lang="fr-FR" sz="1200" dirty="0">
                <a:solidFill>
                  <a:schemeClr val="accent1">
                    <a:lumMod val="75000"/>
                  </a:schemeClr>
                </a:solidFill>
              </a:rPr>
              <a:t>contient les exceptions personnalisées, et un gestionnaire d'exception</a:t>
            </a:r>
          </a:p>
        </p:txBody>
      </p:sp>
      <p:cxnSp>
        <p:nvCxnSpPr>
          <p:cNvPr id="48" name="Connecteur droit avec flèche 47"/>
          <p:cNvCxnSpPr>
            <a:cxnSpLocks/>
            <a:endCxn id="46" idx="1"/>
          </p:cNvCxnSpPr>
          <p:nvPr/>
        </p:nvCxnSpPr>
        <p:spPr>
          <a:xfrm>
            <a:off x="6763265" y="5552303"/>
            <a:ext cx="1647761" cy="160340"/>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9" name="ZoneTexte 48"/>
          <p:cNvSpPr txBox="1"/>
          <p:nvPr/>
        </p:nvSpPr>
        <p:spPr>
          <a:xfrm>
            <a:off x="4303579" y="6194047"/>
            <a:ext cx="3417667" cy="276999"/>
          </a:xfrm>
          <a:prstGeom prst="rect">
            <a:avLst/>
          </a:prstGeom>
          <a:noFill/>
        </p:spPr>
        <p:txBody>
          <a:bodyPr wrap="square" rtlCol="0">
            <a:spAutoFit/>
          </a:bodyPr>
          <a:lstStyle/>
          <a:p>
            <a:pPr algn="ctr"/>
            <a:r>
              <a:rPr lang="fr-FR" sz="1200" dirty="0">
                <a:solidFill>
                  <a:schemeClr val="accent1">
                    <a:lumMod val="75000"/>
                  </a:schemeClr>
                </a:solidFill>
              </a:rPr>
              <a:t>contient les propriétés de l'application</a:t>
            </a:r>
          </a:p>
        </p:txBody>
      </p:sp>
      <p:cxnSp>
        <p:nvCxnSpPr>
          <p:cNvPr id="51" name="Connecteur droit avec flèche 50"/>
          <p:cNvCxnSpPr>
            <a:cxnSpLocks/>
          </p:cNvCxnSpPr>
          <p:nvPr/>
        </p:nvCxnSpPr>
        <p:spPr>
          <a:xfrm>
            <a:off x="5367528" y="5754993"/>
            <a:ext cx="488921" cy="492518"/>
          </a:xfrm>
          <a:prstGeom prst="straightConnector1">
            <a:avLst/>
          </a:prstGeom>
          <a:ln>
            <a:solidFill>
              <a:srgbClr val="C00000"/>
            </a:solidFill>
            <a:tailEnd type="triangle"/>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806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F52EC-C20E-4E3C-91D3-167F89E25C90}"/>
              </a:ext>
            </a:extLst>
          </p:cNvPr>
          <p:cNvSpPr>
            <a:spLocks noGrp="1"/>
          </p:cNvSpPr>
          <p:nvPr>
            <p:ph type="title"/>
          </p:nvPr>
        </p:nvSpPr>
        <p:spPr>
          <a:xfrm>
            <a:off x="1143000" y="609600"/>
            <a:ext cx="9875520" cy="506681"/>
          </a:xfrm>
        </p:spPr>
        <p:txBody>
          <a:bodyPr>
            <a:normAutofit fontScale="90000"/>
          </a:bodyPr>
          <a:lstStyle/>
          <a:p>
            <a:r>
              <a:rPr lang="fr-FR" dirty="0"/>
              <a:t>Schéma de la base de données</a:t>
            </a:r>
          </a:p>
        </p:txBody>
      </p:sp>
      <p:sp>
        <p:nvSpPr>
          <p:cNvPr id="4" name="Slide Number Placeholder 3">
            <a:extLst>
              <a:ext uri="{FF2B5EF4-FFF2-40B4-BE49-F238E27FC236}">
                <a16:creationId xmlns:a16="http://schemas.microsoft.com/office/drawing/2014/main" id="{40E66638-12E8-4994-A405-492C611D8059}"/>
              </a:ext>
            </a:extLst>
          </p:cNvPr>
          <p:cNvSpPr>
            <a:spLocks noGrp="1"/>
          </p:cNvSpPr>
          <p:nvPr>
            <p:ph type="sldNum" sz="quarter" idx="12"/>
          </p:nvPr>
        </p:nvSpPr>
        <p:spPr/>
        <p:txBody>
          <a:bodyPr/>
          <a:lstStyle/>
          <a:p>
            <a:fld id="{C52ED629-2BC0-4D25-969E-9ED78B40D7C7}" type="slidenum">
              <a:rPr lang="fr-FR" smtClean="0"/>
              <a:t>18</a:t>
            </a:fld>
            <a:endParaRPr lang="fr-FR"/>
          </a:p>
        </p:txBody>
      </p:sp>
      <p:sp>
        <p:nvSpPr>
          <p:cNvPr id="7" name="TextBox 6">
            <a:extLst>
              <a:ext uri="{FF2B5EF4-FFF2-40B4-BE49-F238E27FC236}">
                <a16:creationId xmlns:a16="http://schemas.microsoft.com/office/drawing/2014/main" id="{B3A1DF8E-2464-45B3-91A5-093C69B6084C}"/>
              </a:ext>
            </a:extLst>
          </p:cNvPr>
          <p:cNvSpPr txBox="1"/>
          <p:nvPr/>
        </p:nvSpPr>
        <p:spPr>
          <a:xfrm>
            <a:off x="6757637" y="5723854"/>
            <a:ext cx="4504318" cy="369332"/>
          </a:xfrm>
          <a:prstGeom prst="rect">
            <a:avLst/>
          </a:prstGeom>
          <a:noFill/>
        </p:spPr>
        <p:txBody>
          <a:bodyPr wrap="square" rtlCol="0">
            <a:spAutoFit/>
          </a:bodyPr>
          <a:lstStyle/>
          <a:p>
            <a:r>
              <a:rPr lang="fr-FR" i="1" dirty="0">
                <a:solidFill>
                  <a:schemeClr val="tx2">
                    <a:lumMod val="60000"/>
                    <a:lumOff val="40000"/>
                  </a:schemeClr>
                </a:solidFill>
              </a:rPr>
              <a:t>Modèle Conceptuel de Données « MCD »</a:t>
            </a:r>
          </a:p>
        </p:txBody>
      </p:sp>
      <p:pic>
        <p:nvPicPr>
          <p:cNvPr id="8" name="Espace réservé du contenu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6829" y="1274806"/>
            <a:ext cx="8884919" cy="4038600"/>
          </a:xfrm>
        </p:spPr>
      </p:pic>
    </p:spTree>
    <p:extLst>
      <p:ext uri="{BB962C8B-B14F-4D97-AF65-F5344CB8AC3E}">
        <p14:creationId xmlns:p14="http://schemas.microsoft.com/office/powerpoint/2010/main" val="602028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D39DE-DC97-4226-82AF-47857CD035AC}"/>
              </a:ext>
            </a:extLst>
          </p:cNvPr>
          <p:cNvSpPr>
            <a:spLocks noGrp="1"/>
          </p:cNvSpPr>
          <p:nvPr>
            <p:ph type="title"/>
          </p:nvPr>
        </p:nvSpPr>
        <p:spPr>
          <a:xfrm>
            <a:off x="1143000" y="609600"/>
            <a:ext cx="9875520" cy="772160"/>
          </a:xfrm>
        </p:spPr>
        <p:txBody>
          <a:bodyPr/>
          <a:lstStyle/>
          <a:p>
            <a:r>
              <a:rPr lang="fr-FR" dirty="0"/>
              <a:t>Diagrammes des Classes</a:t>
            </a:r>
          </a:p>
        </p:txBody>
      </p:sp>
      <p:sp>
        <p:nvSpPr>
          <p:cNvPr id="4" name="Slide Number Placeholder 3">
            <a:extLst>
              <a:ext uri="{FF2B5EF4-FFF2-40B4-BE49-F238E27FC236}">
                <a16:creationId xmlns:a16="http://schemas.microsoft.com/office/drawing/2014/main" id="{F28D95E7-7B92-440D-BBB2-C042C7C55031}"/>
              </a:ext>
            </a:extLst>
          </p:cNvPr>
          <p:cNvSpPr>
            <a:spLocks noGrp="1"/>
          </p:cNvSpPr>
          <p:nvPr>
            <p:ph type="sldNum" sz="quarter" idx="12"/>
          </p:nvPr>
        </p:nvSpPr>
        <p:spPr/>
        <p:txBody>
          <a:bodyPr/>
          <a:lstStyle/>
          <a:p>
            <a:fld id="{C52ED629-2BC0-4D25-969E-9ED78B40D7C7}" type="slidenum">
              <a:rPr lang="fr-FR" smtClean="0"/>
              <a:t>19</a:t>
            </a:fld>
            <a:endParaRPr lang="fr-FR"/>
          </a:p>
        </p:txBody>
      </p:sp>
      <p:sp>
        <p:nvSpPr>
          <p:cNvPr id="13" name="TextBox 12">
            <a:extLst>
              <a:ext uri="{FF2B5EF4-FFF2-40B4-BE49-F238E27FC236}">
                <a16:creationId xmlns:a16="http://schemas.microsoft.com/office/drawing/2014/main" id="{7481DFEA-0967-46E8-96F9-CA8464D6F3AD}"/>
              </a:ext>
            </a:extLst>
          </p:cNvPr>
          <p:cNvSpPr txBox="1"/>
          <p:nvPr/>
        </p:nvSpPr>
        <p:spPr>
          <a:xfrm>
            <a:off x="7006069" y="6223828"/>
            <a:ext cx="3863967" cy="369332"/>
          </a:xfrm>
          <a:prstGeom prst="rect">
            <a:avLst/>
          </a:prstGeom>
          <a:noFill/>
        </p:spPr>
        <p:txBody>
          <a:bodyPr wrap="square" rtlCol="0">
            <a:spAutoFit/>
          </a:bodyPr>
          <a:lstStyle/>
          <a:p>
            <a:r>
              <a:rPr lang="fr-FR" i="1" dirty="0">
                <a:solidFill>
                  <a:srgbClr val="4A66AC"/>
                </a:solidFill>
              </a:rPr>
              <a:t>Classes Mapping Objet-Relationnel</a:t>
            </a:r>
          </a:p>
        </p:txBody>
      </p:sp>
      <p:pic>
        <p:nvPicPr>
          <p:cNvPr id="11" name="Imag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3902" y="1406258"/>
            <a:ext cx="8192736" cy="4793072"/>
          </a:xfrm>
          <a:prstGeom prst="rect">
            <a:avLst/>
          </a:prstGeom>
        </p:spPr>
      </p:pic>
    </p:spTree>
    <p:extLst>
      <p:ext uri="{BB962C8B-B14F-4D97-AF65-F5344CB8AC3E}">
        <p14:creationId xmlns:p14="http://schemas.microsoft.com/office/powerpoint/2010/main" val="1802499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E580A3E-6CEB-4116-9FE2-20FA30465974}"/>
              </a:ext>
            </a:extLst>
          </p:cNvPr>
          <p:cNvSpPr>
            <a:spLocks noGrp="1"/>
          </p:cNvSpPr>
          <p:nvPr>
            <p:ph type="title"/>
          </p:nvPr>
        </p:nvSpPr>
        <p:spPr/>
        <p:txBody>
          <a:bodyPr/>
          <a:lstStyle/>
          <a:p>
            <a:r>
              <a:rPr lang="fr-FR" dirty="0"/>
              <a:t>Implémentation</a:t>
            </a:r>
          </a:p>
        </p:txBody>
      </p:sp>
      <p:sp>
        <p:nvSpPr>
          <p:cNvPr id="5" name="Slide Number Placeholder 4">
            <a:extLst>
              <a:ext uri="{FF2B5EF4-FFF2-40B4-BE49-F238E27FC236}">
                <a16:creationId xmlns:a16="http://schemas.microsoft.com/office/drawing/2014/main" id="{D114C4F2-23AE-4BE4-BCF3-BCDE63E4887D}"/>
              </a:ext>
            </a:extLst>
          </p:cNvPr>
          <p:cNvSpPr>
            <a:spLocks noGrp="1"/>
          </p:cNvSpPr>
          <p:nvPr>
            <p:ph type="sldNum" sz="quarter" idx="12"/>
          </p:nvPr>
        </p:nvSpPr>
        <p:spPr/>
        <p:txBody>
          <a:bodyPr/>
          <a:lstStyle/>
          <a:p>
            <a:fld id="{C52ED629-2BC0-4D25-969E-9ED78B40D7C7}" type="slidenum">
              <a:rPr lang="fr-FR" smtClean="0"/>
              <a:t>20</a:t>
            </a:fld>
            <a:endParaRPr lang="fr-FR"/>
          </a:p>
        </p:txBody>
      </p:sp>
    </p:spTree>
    <p:extLst>
      <p:ext uri="{BB962C8B-B14F-4D97-AF65-F5344CB8AC3E}">
        <p14:creationId xmlns:p14="http://schemas.microsoft.com/office/powerpoint/2010/main" val="282304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DF0B49-DFFF-4F07-A69C-15C9675C177D}"/>
              </a:ext>
            </a:extLst>
          </p:cNvPr>
          <p:cNvSpPr>
            <a:spLocks noGrp="1"/>
          </p:cNvSpPr>
          <p:nvPr>
            <p:ph type="title"/>
          </p:nvPr>
        </p:nvSpPr>
        <p:spPr>
          <a:xfrm>
            <a:off x="894823" y="2267082"/>
            <a:ext cx="4048125" cy="497491"/>
          </a:xfrm>
        </p:spPr>
        <p:txBody>
          <a:bodyPr/>
          <a:lstStyle/>
          <a:p>
            <a:r>
              <a:rPr lang="fr-FR" sz="3200" dirty="0"/>
              <a:t>Entité</a:t>
            </a:r>
          </a:p>
        </p:txBody>
      </p:sp>
      <p:sp>
        <p:nvSpPr>
          <p:cNvPr id="7" name="Text Placeholder 6">
            <a:extLst>
              <a:ext uri="{FF2B5EF4-FFF2-40B4-BE49-F238E27FC236}">
                <a16:creationId xmlns:a16="http://schemas.microsoft.com/office/drawing/2014/main" id="{9D7F3D95-B628-49D2-A8CC-AA330A076C71}"/>
              </a:ext>
            </a:extLst>
          </p:cNvPr>
          <p:cNvSpPr>
            <a:spLocks noGrp="1"/>
          </p:cNvSpPr>
          <p:nvPr>
            <p:ph type="body" sz="half" idx="2"/>
          </p:nvPr>
        </p:nvSpPr>
        <p:spPr>
          <a:xfrm>
            <a:off x="894823" y="2904820"/>
            <a:ext cx="4048124" cy="2428475"/>
          </a:xfrm>
        </p:spPr>
        <p:txBody>
          <a:bodyPr/>
          <a:lstStyle/>
          <a:p>
            <a:r>
              <a:rPr lang="fr-FR" dirty="0"/>
              <a:t>package </a:t>
            </a:r>
            <a:r>
              <a:rPr lang="fr-FR" dirty="0" err="1"/>
              <a:t>rest.model</a:t>
            </a:r>
            <a:endParaRPr lang="fr-FR" dirty="0">
              <a:highlight>
                <a:srgbClr val="FFFF00"/>
              </a:highlight>
            </a:endParaRPr>
          </a:p>
          <a:p>
            <a:r>
              <a:rPr lang="fr-FR" dirty="0"/>
              <a:t>Les POJO (plain </a:t>
            </a:r>
            <a:r>
              <a:rPr lang="fr-FR" dirty="0" err="1"/>
              <a:t>old</a:t>
            </a:r>
            <a:r>
              <a:rPr lang="fr-FR" dirty="0"/>
              <a:t> Java </a:t>
            </a:r>
            <a:r>
              <a:rPr lang="fr-FR" dirty="0" err="1"/>
              <a:t>object</a:t>
            </a:r>
            <a:r>
              <a:rPr lang="fr-FR" dirty="0"/>
              <a:t>) représentant des données qui peuvent être persistées dans la base de données. Une entité représente une table stockée dans une base de données. Chaque instance d'une entité représente une ligne dans la table.</a:t>
            </a:r>
          </a:p>
        </p:txBody>
      </p:sp>
      <p:sp>
        <p:nvSpPr>
          <p:cNvPr id="4" name="Slide Number Placeholder 3">
            <a:extLst>
              <a:ext uri="{FF2B5EF4-FFF2-40B4-BE49-F238E27FC236}">
                <a16:creationId xmlns:a16="http://schemas.microsoft.com/office/drawing/2014/main" id="{679FED70-8373-4B7B-9939-9D42BBF449F0}"/>
              </a:ext>
            </a:extLst>
          </p:cNvPr>
          <p:cNvSpPr>
            <a:spLocks noGrp="1"/>
          </p:cNvSpPr>
          <p:nvPr>
            <p:ph type="sldNum" sz="quarter" idx="12"/>
          </p:nvPr>
        </p:nvSpPr>
        <p:spPr/>
        <p:txBody>
          <a:bodyPr/>
          <a:lstStyle/>
          <a:p>
            <a:fld id="{C52ED629-2BC0-4D25-969E-9ED78B40D7C7}" type="slidenum">
              <a:rPr lang="fr-FR" smtClean="0"/>
              <a:t>21</a:t>
            </a:fld>
            <a:endParaRPr lang="fr-FR"/>
          </a:p>
        </p:txBody>
      </p:sp>
      <p:pic>
        <p:nvPicPr>
          <p:cNvPr id="6" name="Picture 5">
            <a:extLst>
              <a:ext uri="{FF2B5EF4-FFF2-40B4-BE49-F238E27FC236}">
                <a16:creationId xmlns:a16="http://schemas.microsoft.com/office/drawing/2014/main" id="{D79338FC-3A3B-4E20-ACBE-FB60F04CC03D}"/>
              </a:ext>
            </a:extLst>
          </p:cNvPr>
          <p:cNvPicPr>
            <a:picLocks noChangeAspect="1"/>
          </p:cNvPicPr>
          <p:nvPr/>
        </p:nvPicPr>
        <p:blipFill>
          <a:blip r:embed="rId3"/>
          <a:stretch>
            <a:fillRect/>
          </a:stretch>
        </p:blipFill>
        <p:spPr>
          <a:xfrm>
            <a:off x="4794220" y="886968"/>
            <a:ext cx="7091796" cy="5094732"/>
          </a:xfrm>
          <a:prstGeom prst="rect">
            <a:avLst/>
          </a:prstGeom>
        </p:spPr>
      </p:pic>
    </p:spTree>
    <p:extLst>
      <p:ext uri="{BB962C8B-B14F-4D97-AF65-F5344CB8AC3E}">
        <p14:creationId xmlns:p14="http://schemas.microsoft.com/office/powerpoint/2010/main" val="18609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515A5-C6F5-497C-94E5-39E954224069}"/>
              </a:ext>
            </a:extLst>
          </p:cNvPr>
          <p:cNvSpPr>
            <a:spLocks noGrp="1"/>
          </p:cNvSpPr>
          <p:nvPr>
            <p:ph type="title"/>
          </p:nvPr>
        </p:nvSpPr>
        <p:spPr>
          <a:xfrm>
            <a:off x="484667" y="2366343"/>
            <a:ext cx="3990022" cy="530721"/>
          </a:xfrm>
        </p:spPr>
        <p:txBody>
          <a:bodyPr/>
          <a:lstStyle/>
          <a:p>
            <a:r>
              <a:rPr lang="fr-FR" sz="3200" dirty="0"/>
              <a:t>Repository</a:t>
            </a:r>
          </a:p>
        </p:txBody>
      </p:sp>
      <p:sp>
        <p:nvSpPr>
          <p:cNvPr id="5" name="Slide Number Placeholder 4">
            <a:extLst>
              <a:ext uri="{FF2B5EF4-FFF2-40B4-BE49-F238E27FC236}">
                <a16:creationId xmlns:a16="http://schemas.microsoft.com/office/drawing/2014/main" id="{8A03AB9E-C1EF-4514-8365-049366EC9E89}"/>
              </a:ext>
            </a:extLst>
          </p:cNvPr>
          <p:cNvSpPr>
            <a:spLocks noGrp="1"/>
          </p:cNvSpPr>
          <p:nvPr>
            <p:ph type="sldNum" sz="quarter" idx="12"/>
          </p:nvPr>
        </p:nvSpPr>
        <p:spPr/>
        <p:txBody>
          <a:bodyPr/>
          <a:lstStyle/>
          <a:p>
            <a:fld id="{C52ED629-2BC0-4D25-969E-9ED78B40D7C7}" type="slidenum">
              <a:rPr lang="fr-FR" smtClean="0"/>
              <a:t>22</a:t>
            </a:fld>
            <a:endParaRPr lang="fr-FR"/>
          </a:p>
        </p:txBody>
      </p:sp>
      <p:sp>
        <p:nvSpPr>
          <p:cNvPr id="9" name="Text Placeholder 6">
            <a:extLst>
              <a:ext uri="{FF2B5EF4-FFF2-40B4-BE49-F238E27FC236}">
                <a16:creationId xmlns:a16="http://schemas.microsoft.com/office/drawing/2014/main" id="{5E829D45-B73C-4DB2-9FF2-C18C11D66A63}"/>
              </a:ext>
            </a:extLst>
          </p:cNvPr>
          <p:cNvSpPr txBox="1">
            <a:spLocks/>
          </p:cNvSpPr>
          <p:nvPr/>
        </p:nvSpPr>
        <p:spPr>
          <a:xfrm>
            <a:off x="484667" y="2974728"/>
            <a:ext cx="4048124" cy="242847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Clr>
                <a:schemeClr val="accent1"/>
              </a:buClr>
              <a:buSzPct val="80000"/>
              <a:buFont typeface="Corbel" pitchFamily="34" charset="0"/>
              <a:buNone/>
              <a:defRPr sz="1700" kern="1200">
                <a:solidFill>
                  <a:schemeClr val="accent1"/>
                </a:solidFill>
                <a:latin typeface="+mn-lt"/>
                <a:ea typeface="+mn-ea"/>
                <a:cs typeface="+mn-cs"/>
              </a:defRPr>
            </a:lvl1pPr>
            <a:lvl2pPr marL="457200" indent="0" algn="l" defTabSz="914400" rtl="0" eaLnBrk="1" latinLnBrk="0" hangingPunct="1">
              <a:lnSpc>
                <a:spcPct val="90000"/>
              </a:lnSpc>
              <a:spcBef>
                <a:spcPts val="200"/>
              </a:spcBef>
              <a:spcAft>
                <a:spcPts val="400"/>
              </a:spcAft>
              <a:buClr>
                <a:schemeClr val="accent1"/>
              </a:buClr>
              <a:buSzPct val="80000"/>
              <a:buFont typeface="Corbel" pitchFamily="34" charset="0"/>
              <a:buNone/>
              <a:defRPr sz="1200" kern="1200">
                <a:solidFill>
                  <a:schemeClr val="accent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SzPct val="80000"/>
              <a:buFont typeface="Corbel" pitchFamily="34" charset="0"/>
              <a:buNone/>
              <a:defRPr sz="1000" kern="1200">
                <a:solidFill>
                  <a:schemeClr val="accent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SzPct val="80000"/>
              <a:buFont typeface="Corbel" pitchFamily="34" charset="0"/>
              <a:buNone/>
              <a:defRPr sz="900" kern="1200">
                <a:solidFill>
                  <a:schemeClr val="accent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SzPct val="80000"/>
              <a:buFont typeface="Corbel" pitchFamily="34" charset="0"/>
              <a:buNone/>
              <a:defRPr sz="900" kern="1200">
                <a:solidFill>
                  <a:schemeClr val="accent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SzPct val="80000"/>
              <a:buFont typeface="Corbel" pitchFamily="34" charset="0"/>
              <a:buNone/>
              <a:defRPr sz="900" kern="1200">
                <a:solidFill>
                  <a:schemeClr val="accent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SzPct val="80000"/>
              <a:buFont typeface="Corbel" pitchFamily="34" charset="0"/>
              <a:buNone/>
              <a:defRPr sz="900" kern="1200">
                <a:solidFill>
                  <a:schemeClr val="accent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SzPct val="80000"/>
              <a:buFont typeface="Corbel" pitchFamily="34" charset="0"/>
              <a:buNone/>
              <a:defRPr sz="900" kern="1200">
                <a:solidFill>
                  <a:schemeClr val="accent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SzPct val="80000"/>
              <a:buFont typeface="Corbel" pitchFamily="34" charset="0"/>
              <a:buNone/>
              <a:defRPr sz="900" kern="1200">
                <a:solidFill>
                  <a:schemeClr val="accent1"/>
                </a:solidFill>
                <a:latin typeface="+mn-lt"/>
                <a:ea typeface="+mn-ea"/>
                <a:cs typeface="+mn-cs"/>
              </a:defRPr>
            </a:lvl9pPr>
          </a:lstStyle>
          <a:p>
            <a:r>
              <a:rPr lang="fr-FR" dirty="0"/>
              <a:t>Package </a:t>
            </a:r>
            <a:r>
              <a:rPr lang="fr-FR" dirty="0" err="1"/>
              <a:t>rest.dao</a:t>
            </a:r>
            <a:endParaRPr lang="fr-FR" dirty="0">
              <a:highlight>
                <a:srgbClr val="FFFF00"/>
              </a:highlight>
            </a:endParaRPr>
          </a:p>
          <a:p>
            <a:r>
              <a:rPr lang="fr-FR" dirty="0"/>
              <a:t>Mécanisme d'encapsulation du stockage, de la récupération et de la recherche qui émule une collection d'objets</a:t>
            </a:r>
          </a:p>
        </p:txBody>
      </p:sp>
      <p:pic>
        <p:nvPicPr>
          <p:cNvPr id="15" name="Picture 14">
            <a:extLst>
              <a:ext uri="{FF2B5EF4-FFF2-40B4-BE49-F238E27FC236}">
                <a16:creationId xmlns:a16="http://schemas.microsoft.com/office/drawing/2014/main" id="{4D794A99-8C93-4B81-AB1D-7752AF866298}"/>
              </a:ext>
            </a:extLst>
          </p:cNvPr>
          <p:cNvPicPr>
            <a:picLocks noChangeAspect="1"/>
          </p:cNvPicPr>
          <p:nvPr/>
        </p:nvPicPr>
        <p:blipFill>
          <a:blip r:embed="rId2"/>
          <a:stretch>
            <a:fillRect/>
          </a:stretch>
        </p:blipFill>
        <p:spPr>
          <a:xfrm>
            <a:off x="4885038" y="1682826"/>
            <a:ext cx="6339016" cy="3440584"/>
          </a:xfrm>
          <a:prstGeom prst="rect">
            <a:avLst/>
          </a:prstGeom>
        </p:spPr>
      </p:pic>
    </p:spTree>
    <p:extLst>
      <p:ext uri="{BB962C8B-B14F-4D97-AF65-F5344CB8AC3E}">
        <p14:creationId xmlns:p14="http://schemas.microsoft.com/office/powerpoint/2010/main" val="1446959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90172-22ED-45C0-9E05-7AE26E27DAD1}"/>
              </a:ext>
            </a:extLst>
          </p:cNvPr>
          <p:cNvSpPr>
            <a:spLocks noGrp="1"/>
          </p:cNvSpPr>
          <p:nvPr>
            <p:ph type="title"/>
          </p:nvPr>
        </p:nvSpPr>
        <p:spPr>
          <a:xfrm>
            <a:off x="561975" y="2305050"/>
            <a:ext cx="3588488" cy="529590"/>
          </a:xfrm>
        </p:spPr>
        <p:txBody>
          <a:bodyPr/>
          <a:lstStyle/>
          <a:p>
            <a:r>
              <a:rPr lang="fr-FR" sz="3200" dirty="0"/>
              <a:t>Service</a:t>
            </a:r>
          </a:p>
        </p:txBody>
      </p:sp>
      <p:sp>
        <p:nvSpPr>
          <p:cNvPr id="4" name="Text Placeholder 3">
            <a:extLst>
              <a:ext uri="{FF2B5EF4-FFF2-40B4-BE49-F238E27FC236}">
                <a16:creationId xmlns:a16="http://schemas.microsoft.com/office/drawing/2014/main" id="{C8F2384B-06FE-45A1-858F-D93DD9A1BB08}"/>
              </a:ext>
            </a:extLst>
          </p:cNvPr>
          <p:cNvSpPr>
            <a:spLocks noGrp="1"/>
          </p:cNvSpPr>
          <p:nvPr>
            <p:ph type="body" sz="half" idx="2"/>
          </p:nvPr>
        </p:nvSpPr>
        <p:spPr>
          <a:xfrm>
            <a:off x="561975" y="3021795"/>
            <a:ext cx="3588488" cy="2003131"/>
          </a:xfrm>
        </p:spPr>
        <p:txBody>
          <a:bodyPr>
            <a:normAutofit/>
          </a:bodyPr>
          <a:lstStyle/>
          <a:p>
            <a:r>
              <a:rPr lang="fr-FR" dirty="0"/>
              <a:t>Package </a:t>
            </a:r>
            <a:r>
              <a:rPr lang="fr-FR" dirty="0" err="1"/>
              <a:t>service.impl</a:t>
            </a:r>
            <a:endParaRPr lang="fr-FR" dirty="0"/>
          </a:p>
          <a:p>
            <a:pPr algn="just"/>
            <a:r>
              <a:rPr lang="fr-FR" dirty="0"/>
              <a:t>Les fichiers de classe qui sont utilisés pour écrire la logique métier dans une couche différente, séparée du fichier de classe @</a:t>
            </a:r>
            <a:r>
              <a:rPr lang="fr-FR" dirty="0" err="1"/>
              <a:t>RestController</a:t>
            </a:r>
            <a:r>
              <a:rPr lang="fr-FR" dirty="0"/>
              <a:t>.</a:t>
            </a:r>
          </a:p>
        </p:txBody>
      </p:sp>
      <p:sp>
        <p:nvSpPr>
          <p:cNvPr id="5" name="Slide Number Placeholder 4">
            <a:extLst>
              <a:ext uri="{FF2B5EF4-FFF2-40B4-BE49-F238E27FC236}">
                <a16:creationId xmlns:a16="http://schemas.microsoft.com/office/drawing/2014/main" id="{8E70A56F-EA1B-4F60-91B7-BCA62F99293D}"/>
              </a:ext>
            </a:extLst>
          </p:cNvPr>
          <p:cNvSpPr>
            <a:spLocks noGrp="1"/>
          </p:cNvSpPr>
          <p:nvPr>
            <p:ph type="sldNum" sz="quarter" idx="12"/>
          </p:nvPr>
        </p:nvSpPr>
        <p:spPr/>
        <p:txBody>
          <a:bodyPr/>
          <a:lstStyle/>
          <a:p>
            <a:fld id="{C52ED629-2BC0-4D25-969E-9ED78B40D7C7}" type="slidenum">
              <a:rPr lang="fr-FR" smtClean="0"/>
              <a:t>23</a:t>
            </a:fld>
            <a:endParaRPr lang="fr-FR"/>
          </a:p>
        </p:txBody>
      </p:sp>
      <p:pic>
        <p:nvPicPr>
          <p:cNvPr id="7" name="Picture 6">
            <a:extLst>
              <a:ext uri="{FF2B5EF4-FFF2-40B4-BE49-F238E27FC236}">
                <a16:creationId xmlns:a16="http://schemas.microsoft.com/office/drawing/2014/main" id="{45BBD823-B4DA-4471-9B1C-7E5F0C2D7FD6}"/>
              </a:ext>
            </a:extLst>
          </p:cNvPr>
          <p:cNvPicPr>
            <a:picLocks noChangeAspect="1"/>
          </p:cNvPicPr>
          <p:nvPr/>
        </p:nvPicPr>
        <p:blipFill>
          <a:blip r:embed="rId2"/>
          <a:stretch>
            <a:fillRect/>
          </a:stretch>
        </p:blipFill>
        <p:spPr>
          <a:xfrm>
            <a:off x="4150463" y="423443"/>
            <a:ext cx="7793887" cy="5614090"/>
          </a:xfrm>
          <a:prstGeom prst="rect">
            <a:avLst/>
          </a:prstGeom>
        </p:spPr>
      </p:pic>
    </p:spTree>
    <p:extLst>
      <p:ext uri="{BB962C8B-B14F-4D97-AF65-F5344CB8AC3E}">
        <p14:creationId xmlns:p14="http://schemas.microsoft.com/office/powerpoint/2010/main" val="12693204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0DD703C-496A-4D79-A750-6BF493C55E67}"/>
              </a:ext>
            </a:extLst>
          </p:cNvPr>
          <p:cNvSpPr>
            <a:spLocks noGrp="1"/>
          </p:cNvSpPr>
          <p:nvPr>
            <p:ph type="title"/>
          </p:nvPr>
        </p:nvSpPr>
        <p:spPr>
          <a:xfrm>
            <a:off x="561975" y="1809749"/>
            <a:ext cx="3539314" cy="920115"/>
          </a:xfrm>
        </p:spPr>
        <p:txBody>
          <a:bodyPr/>
          <a:lstStyle/>
          <a:p>
            <a:r>
              <a:rPr lang="fr-FR" sz="3200" dirty="0"/>
              <a:t>Controlleur Rest</a:t>
            </a:r>
          </a:p>
        </p:txBody>
      </p:sp>
      <p:sp>
        <p:nvSpPr>
          <p:cNvPr id="10" name="Text Placeholder 9">
            <a:extLst>
              <a:ext uri="{FF2B5EF4-FFF2-40B4-BE49-F238E27FC236}">
                <a16:creationId xmlns:a16="http://schemas.microsoft.com/office/drawing/2014/main" id="{F8E1EE0F-E85E-4C5F-81B8-5CB3F139BCE8}"/>
              </a:ext>
            </a:extLst>
          </p:cNvPr>
          <p:cNvSpPr>
            <a:spLocks noGrp="1"/>
          </p:cNvSpPr>
          <p:nvPr>
            <p:ph type="body" sz="half" idx="2"/>
          </p:nvPr>
        </p:nvSpPr>
        <p:spPr>
          <a:xfrm>
            <a:off x="619126" y="2844165"/>
            <a:ext cx="3482163" cy="2003174"/>
          </a:xfrm>
        </p:spPr>
        <p:txBody>
          <a:bodyPr>
            <a:normAutofit/>
          </a:bodyPr>
          <a:lstStyle/>
          <a:p>
            <a:r>
              <a:rPr lang="fr-FR" dirty="0"/>
              <a:t>Package web.controller</a:t>
            </a:r>
          </a:p>
          <a:p>
            <a:pPr algn="just"/>
            <a:r>
              <a:rPr lang="fr-FR" dirty="0"/>
              <a:t>Un contrôleur où chaque méthode renvoie un objet de domaine au lieu d'une vue. C'est un raccourci pour inclure à la fois @Controller et @ResponseBody.</a:t>
            </a:r>
          </a:p>
        </p:txBody>
      </p:sp>
      <p:sp>
        <p:nvSpPr>
          <p:cNvPr id="4" name="Slide Number Placeholder 3">
            <a:extLst>
              <a:ext uri="{FF2B5EF4-FFF2-40B4-BE49-F238E27FC236}">
                <a16:creationId xmlns:a16="http://schemas.microsoft.com/office/drawing/2014/main" id="{C68682F4-A2E8-4507-8723-7F44EDD2DA12}"/>
              </a:ext>
            </a:extLst>
          </p:cNvPr>
          <p:cNvSpPr>
            <a:spLocks noGrp="1"/>
          </p:cNvSpPr>
          <p:nvPr>
            <p:ph type="sldNum" sz="quarter" idx="12"/>
          </p:nvPr>
        </p:nvSpPr>
        <p:spPr/>
        <p:txBody>
          <a:bodyPr/>
          <a:lstStyle/>
          <a:p>
            <a:fld id="{C52ED629-2BC0-4D25-969E-9ED78B40D7C7}" type="slidenum">
              <a:rPr lang="fr-FR" smtClean="0"/>
              <a:t>24</a:t>
            </a:fld>
            <a:endParaRPr lang="fr-FR"/>
          </a:p>
        </p:txBody>
      </p:sp>
      <p:pic>
        <p:nvPicPr>
          <p:cNvPr id="11" name="Picture 10">
            <a:extLst>
              <a:ext uri="{FF2B5EF4-FFF2-40B4-BE49-F238E27FC236}">
                <a16:creationId xmlns:a16="http://schemas.microsoft.com/office/drawing/2014/main" id="{16D4394B-1D75-499D-9E61-AD4C2DB43429}"/>
              </a:ext>
            </a:extLst>
          </p:cNvPr>
          <p:cNvPicPr>
            <a:picLocks noChangeAspect="1"/>
          </p:cNvPicPr>
          <p:nvPr/>
        </p:nvPicPr>
        <p:blipFill>
          <a:blip r:embed="rId3"/>
          <a:stretch>
            <a:fillRect/>
          </a:stretch>
        </p:blipFill>
        <p:spPr>
          <a:xfrm>
            <a:off x="4101289" y="428206"/>
            <a:ext cx="7144747" cy="6001588"/>
          </a:xfrm>
          <a:prstGeom prst="rect">
            <a:avLst/>
          </a:prstGeom>
        </p:spPr>
      </p:pic>
    </p:spTree>
    <p:extLst>
      <p:ext uri="{BB962C8B-B14F-4D97-AF65-F5344CB8AC3E}">
        <p14:creationId xmlns:p14="http://schemas.microsoft.com/office/powerpoint/2010/main" val="3224417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0DD703C-496A-4D79-A750-6BF493C55E67}"/>
              </a:ext>
            </a:extLst>
          </p:cNvPr>
          <p:cNvSpPr>
            <a:spLocks noGrp="1"/>
          </p:cNvSpPr>
          <p:nvPr>
            <p:ph type="title"/>
          </p:nvPr>
        </p:nvSpPr>
        <p:spPr>
          <a:xfrm>
            <a:off x="561975" y="1343025"/>
            <a:ext cx="3539314" cy="1386839"/>
          </a:xfrm>
        </p:spPr>
        <p:txBody>
          <a:bodyPr/>
          <a:lstStyle/>
          <a:p>
            <a:r>
              <a:rPr lang="fr-FR" sz="3200" dirty="0"/>
              <a:t>Écouteur d'événements asynchrones</a:t>
            </a:r>
          </a:p>
        </p:txBody>
      </p:sp>
      <p:sp>
        <p:nvSpPr>
          <p:cNvPr id="10" name="Text Placeholder 9">
            <a:extLst>
              <a:ext uri="{FF2B5EF4-FFF2-40B4-BE49-F238E27FC236}">
                <a16:creationId xmlns:a16="http://schemas.microsoft.com/office/drawing/2014/main" id="{F8E1EE0F-E85E-4C5F-81B8-5CB3F139BCE8}"/>
              </a:ext>
            </a:extLst>
          </p:cNvPr>
          <p:cNvSpPr>
            <a:spLocks noGrp="1"/>
          </p:cNvSpPr>
          <p:nvPr>
            <p:ph type="body" sz="half" idx="2"/>
          </p:nvPr>
        </p:nvSpPr>
        <p:spPr>
          <a:xfrm>
            <a:off x="619126" y="2844164"/>
            <a:ext cx="3482163" cy="2394585"/>
          </a:xfrm>
        </p:spPr>
        <p:txBody>
          <a:bodyPr>
            <a:noAutofit/>
          </a:bodyPr>
          <a:lstStyle/>
          <a:p>
            <a:r>
              <a:rPr lang="fr-FR" sz="1800" dirty="0"/>
              <a:t>Package </a:t>
            </a:r>
            <a:r>
              <a:rPr lang="fr-FR" sz="1800" dirty="0" err="1"/>
              <a:t>event.listeners</a:t>
            </a:r>
            <a:endParaRPr lang="fr-FR" sz="1800" dirty="0"/>
          </a:p>
          <a:p>
            <a:pPr algn="just"/>
            <a:r>
              <a:rPr lang="fr-FR" sz="1800" dirty="0"/>
              <a:t>Un écouteur pour les événements de l'application. @</a:t>
            </a:r>
            <a:r>
              <a:rPr lang="fr-FR" sz="1800" dirty="0" err="1"/>
              <a:t>async</a:t>
            </a:r>
            <a:r>
              <a:rPr lang="fr-FR" sz="1800" dirty="0"/>
              <a:t> permet à l'écouteur d'événements de Spring Boot de fonctionner en mode asynchrone afin que le code s'exécute dans un environnement multithread.</a:t>
            </a:r>
          </a:p>
        </p:txBody>
      </p:sp>
      <p:sp>
        <p:nvSpPr>
          <p:cNvPr id="4" name="Slide Number Placeholder 3">
            <a:extLst>
              <a:ext uri="{FF2B5EF4-FFF2-40B4-BE49-F238E27FC236}">
                <a16:creationId xmlns:a16="http://schemas.microsoft.com/office/drawing/2014/main" id="{C68682F4-A2E8-4507-8723-7F44EDD2DA12}"/>
              </a:ext>
            </a:extLst>
          </p:cNvPr>
          <p:cNvSpPr>
            <a:spLocks noGrp="1"/>
          </p:cNvSpPr>
          <p:nvPr>
            <p:ph type="sldNum" sz="quarter" idx="12"/>
          </p:nvPr>
        </p:nvSpPr>
        <p:spPr/>
        <p:txBody>
          <a:bodyPr/>
          <a:lstStyle/>
          <a:p>
            <a:fld id="{C52ED629-2BC0-4D25-969E-9ED78B40D7C7}" type="slidenum">
              <a:rPr lang="fr-FR" smtClean="0"/>
              <a:t>25</a:t>
            </a:fld>
            <a:endParaRPr lang="fr-FR"/>
          </a:p>
        </p:txBody>
      </p:sp>
      <p:pic>
        <p:nvPicPr>
          <p:cNvPr id="5" name="Picture 4">
            <a:extLst>
              <a:ext uri="{FF2B5EF4-FFF2-40B4-BE49-F238E27FC236}">
                <a16:creationId xmlns:a16="http://schemas.microsoft.com/office/drawing/2014/main" id="{36262389-DB81-4F7A-BC68-B6178DB05AAF}"/>
              </a:ext>
            </a:extLst>
          </p:cNvPr>
          <p:cNvPicPr>
            <a:picLocks noChangeAspect="1"/>
          </p:cNvPicPr>
          <p:nvPr/>
        </p:nvPicPr>
        <p:blipFill>
          <a:blip r:embed="rId3"/>
          <a:stretch>
            <a:fillRect/>
          </a:stretch>
        </p:blipFill>
        <p:spPr>
          <a:xfrm>
            <a:off x="4101290" y="430869"/>
            <a:ext cx="7833536" cy="6049745"/>
          </a:xfrm>
          <a:prstGeom prst="rect">
            <a:avLst/>
          </a:prstGeom>
        </p:spPr>
      </p:pic>
    </p:spTree>
    <p:extLst>
      <p:ext uri="{BB962C8B-B14F-4D97-AF65-F5344CB8AC3E}">
        <p14:creationId xmlns:p14="http://schemas.microsoft.com/office/powerpoint/2010/main" val="2339138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713A425-B247-45A7-84F1-128B7D287CB2}"/>
              </a:ext>
            </a:extLst>
          </p:cNvPr>
          <p:cNvSpPr>
            <a:spLocks noGrp="1"/>
          </p:cNvSpPr>
          <p:nvPr>
            <p:ph type="title"/>
          </p:nvPr>
        </p:nvSpPr>
        <p:spPr>
          <a:xfrm>
            <a:off x="594154" y="609599"/>
            <a:ext cx="5501846" cy="453905"/>
          </a:xfrm>
        </p:spPr>
        <p:txBody>
          <a:bodyPr/>
          <a:lstStyle/>
          <a:p>
            <a:r>
              <a:rPr lang="fr-FR" sz="3200" dirty="0"/>
              <a:t>Creation de compte (frontend)</a:t>
            </a:r>
          </a:p>
        </p:txBody>
      </p:sp>
      <p:sp>
        <p:nvSpPr>
          <p:cNvPr id="5" name="Slide Number Placeholder 4">
            <a:extLst>
              <a:ext uri="{FF2B5EF4-FFF2-40B4-BE49-F238E27FC236}">
                <a16:creationId xmlns:a16="http://schemas.microsoft.com/office/drawing/2014/main" id="{37DA76C1-10ED-4E69-8345-584BCAD66E99}"/>
              </a:ext>
            </a:extLst>
          </p:cNvPr>
          <p:cNvSpPr>
            <a:spLocks noGrp="1"/>
          </p:cNvSpPr>
          <p:nvPr>
            <p:ph type="sldNum" sz="quarter" idx="12"/>
          </p:nvPr>
        </p:nvSpPr>
        <p:spPr/>
        <p:txBody>
          <a:bodyPr/>
          <a:lstStyle/>
          <a:p>
            <a:fld id="{C52ED629-2BC0-4D25-969E-9ED78B40D7C7}" type="slidenum">
              <a:rPr lang="fr-FR" smtClean="0"/>
              <a:t>26</a:t>
            </a:fld>
            <a:endParaRPr lang="fr-FR"/>
          </a:p>
        </p:txBody>
      </p:sp>
      <p:pic>
        <p:nvPicPr>
          <p:cNvPr id="10" name="Picture 9">
            <a:extLst>
              <a:ext uri="{FF2B5EF4-FFF2-40B4-BE49-F238E27FC236}">
                <a16:creationId xmlns:a16="http://schemas.microsoft.com/office/drawing/2014/main" id="{3A8B705B-3120-40CE-8440-00215DEAB9C7}"/>
              </a:ext>
            </a:extLst>
          </p:cNvPr>
          <p:cNvPicPr>
            <a:picLocks noChangeAspect="1"/>
          </p:cNvPicPr>
          <p:nvPr/>
        </p:nvPicPr>
        <p:blipFill>
          <a:blip r:embed="rId2"/>
          <a:stretch>
            <a:fillRect/>
          </a:stretch>
        </p:blipFill>
        <p:spPr>
          <a:xfrm>
            <a:off x="1070550" y="1709523"/>
            <a:ext cx="4840028" cy="4349548"/>
          </a:xfrm>
          <a:prstGeom prst="rect">
            <a:avLst/>
          </a:prstGeom>
        </p:spPr>
      </p:pic>
      <p:pic>
        <p:nvPicPr>
          <p:cNvPr id="15" name="Picture 14">
            <a:extLst>
              <a:ext uri="{FF2B5EF4-FFF2-40B4-BE49-F238E27FC236}">
                <a16:creationId xmlns:a16="http://schemas.microsoft.com/office/drawing/2014/main" id="{5709D381-6913-4B25-99AC-5BE5F4F63D5A}"/>
              </a:ext>
            </a:extLst>
          </p:cNvPr>
          <p:cNvPicPr>
            <a:picLocks noChangeAspect="1"/>
          </p:cNvPicPr>
          <p:nvPr/>
        </p:nvPicPr>
        <p:blipFill>
          <a:blip r:embed="rId3"/>
          <a:stretch>
            <a:fillRect/>
          </a:stretch>
        </p:blipFill>
        <p:spPr>
          <a:xfrm>
            <a:off x="6281423" y="1709523"/>
            <a:ext cx="4505954" cy="543001"/>
          </a:xfrm>
          <a:prstGeom prst="rect">
            <a:avLst/>
          </a:prstGeom>
        </p:spPr>
      </p:pic>
      <p:sp>
        <p:nvSpPr>
          <p:cNvPr id="16" name="Title 1">
            <a:extLst>
              <a:ext uri="{FF2B5EF4-FFF2-40B4-BE49-F238E27FC236}">
                <a16:creationId xmlns:a16="http://schemas.microsoft.com/office/drawing/2014/main" id="{EAD8CBA5-4C29-4335-B2D0-D32337137B6A}"/>
              </a:ext>
            </a:extLst>
          </p:cNvPr>
          <p:cNvSpPr txBox="1">
            <a:spLocks/>
          </p:cNvSpPr>
          <p:nvPr/>
        </p:nvSpPr>
        <p:spPr>
          <a:xfrm>
            <a:off x="594154" y="939343"/>
            <a:ext cx="2244748" cy="24832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component et service</a:t>
            </a:r>
          </a:p>
        </p:txBody>
      </p:sp>
    </p:spTree>
    <p:extLst>
      <p:ext uri="{BB962C8B-B14F-4D97-AF65-F5344CB8AC3E}">
        <p14:creationId xmlns:p14="http://schemas.microsoft.com/office/powerpoint/2010/main" val="2723941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16C52-2441-407A-950F-948F1D4DF3EF}"/>
              </a:ext>
            </a:extLst>
          </p:cNvPr>
          <p:cNvSpPr>
            <a:spLocks noGrp="1"/>
          </p:cNvSpPr>
          <p:nvPr>
            <p:ph type="title"/>
          </p:nvPr>
        </p:nvSpPr>
        <p:spPr>
          <a:xfrm>
            <a:off x="749705" y="609600"/>
            <a:ext cx="5478100" cy="524205"/>
          </a:xfrm>
        </p:spPr>
        <p:txBody>
          <a:bodyPr/>
          <a:lstStyle/>
          <a:p>
            <a:r>
              <a:rPr lang="fr-FR" sz="3200" dirty="0"/>
              <a:t>Création de compte (</a:t>
            </a:r>
            <a:r>
              <a:rPr lang="fr-FR" sz="3200" dirty="0" err="1"/>
              <a:t>back-end</a:t>
            </a:r>
            <a:r>
              <a:rPr lang="fr-FR" sz="3200" dirty="0"/>
              <a:t>)</a:t>
            </a:r>
          </a:p>
        </p:txBody>
      </p:sp>
      <p:sp>
        <p:nvSpPr>
          <p:cNvPr id="5" name="Slide Number Placeholder 4">
            <a:extLst>
              <a:ext uri="{FF2B5EF4-FFF2-40B4-BE49-F238E27FC236}">
                <a16:creationId xmlns:a16="http://schemas.microsoft.com/office/drawing/2014/main" id="{A6EACE12-EFC6-4C2C-9025-475FB479ACF5}"/>
              </a:ext>
            </a:extLst>
          </p:cNvPr>
          <p:cNvSpPr>
            <a:spLocks noGrp="1"/>
          </p:cNvSpPr>
          <p:nvPr>
            <p:ph type="sldNum" sz="quarter" idx="12"/>
          </p:nvPr>
        </p:nvSpPr>
        <p:spPr/>
        <p:txBody>
          <a:bodyPr/>
          <a:lstStyle/>
          <a:p>
            <a:fld id="{C52ED629-2BC0-4D25-969E-9ED78B40D7C7}" type="slidenum">
              <a:rPr lang="fr-FR" smtClean="0"/>
              <a:t>27</a:t>
            </a:fld>
            <a:endParaRPr lang="fr-FR"/>
          </a:p>
        </p:txBody>
      </p:sp>
      <p:pic>
        <p:nvPicPr>
          <p:cNvPr id="3" name="Picture 2">
            <a:extLst>
              <a:ext uri="{FF2B5EF4-FFF2-40B4-BE49-F238E27FC236}">
                <a16:creationId xmlns:a16="http://schemas.microsoft.com/office/drawing/2014/main" id="{87E37737-C595-4B9C-8CCA-1BC654D5B607}"/>
              </a:ext>
            </a:extLst>
          </p:cNvPr>
          <p:cNvPicPr>
            <a:picLocks noChangeAspect="1"/>
          </p:cNvPicPr>
          <p:nvPr/>
        </p:nvPicPr>
        <p:blipFill>
          <a:blip r:embed="rId2"/>
          <a:stretch>
            <a:fillRect/>
          </a:stretch>
        </p:blipFill>
        <p:spPr>
          <a:xfrm>
            <a:off x="849115" y="1583104"/>
            <a:ext cx="8754697" cy="905001"/>
          </a:xfrm>
          <a:prstGeom prst="rect">
            <a:avLst/>
          </a:prstGeom>
        </p:spPr>
      </p:pic>
      <p:pic>
        <p:nvPicPr>
          <p:cNvPr id="13" name="Picture 12">
            <a:extLst>
              <a:ext uri="{FF2B5EF4-FFF2-40B4-BE49-F238E27FC236}">
                <a16:creationId xmlns:a16="http://schemas.microsoft.com/office/drawing/2014/main" id="{3D3E543A-79DD-4C28-BE3D-D5C55BAA3A53}"/>
              </a:ext>
            </a:extLst>
          </p:cNvPr>
          <p:cNvPicPr>
            <a:picLocks noChangeAspect="1"/>
          </p:cNvPicPr>
          <p:nvPr/>
        </p:nvPicPr>
        <p:blipFill>
          <a:blip r:embed="rId3"/>
          <a:stretch>
            <a:fillRect/>
          </a:stretch>
        </p:blipFill>
        <p:spPr>
          <a:xfrm>
            <a:off x="849115" y="2785004"/>
            <a:ext cx="7725853" cy="2724530"/>
          </a:xfrm>
          <a:prstGeom prst="rect">
            <a:avLst/>
          </a:prstGeom>
        </p:spPr>
      </p:pic>
      <p:sp>
        <p:nvSpPr>
          <p:cNvPr id="14" name="Title 1">
            <a:extLst>
              <a:ext uri="{FF2B5EF4-FFF2-40B4-BE49-F238E27FC236}">
                <a16:creationId xmlns:a16="http://schemas.microsoft.com/office/drawing/2014/main" id="{33350126-403D-402D-B823-FFF4ECD0518E}"/>
              </a:ext>
            </a:extLst>
          </p:cNvPr>
          <p:cNvSpPr txBox="1">
            <a:spLocks/>
          </p:cNvSpPr>
          <p:nvPr/>
        </p:nvSpPr>
        <p:spPr>
          <a:xfrm>
            <a:off x="749705" y="1037884"/>
            <a:ext cx="2244748" cy="24832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controlleur et service</a:t>
            </a:r>
          </a:p>
        </p:txBody>
      </p:sp>
    </p:spTree>
    <p:extLst>
      <p:ext uri="{BB962C8B-B14F-4D97-AF65-F5344CB8AC3E}">
        <p14:creationId xmlns:p14="http://schemas.microsoft.com/office/powerpoint/2010/main" val="4254964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4CEC49-3FA8-4FF4-AA1C-C76C9CA7B9D4}"/>
              </a:ext>
            </a:extLst>
          </p:cNvPr>
          <p:cNvSpPr>
            <a:spLocks noGrp="1"/>
          </p:cNvSpPr>
          <p:nvPr>
            <p:ph type="sldNum" sz="quarter" idx="12"/>
          </p:nvPr>
        </p:nvSpPr>
        <p:spPr/>
        <p:txBody>
          <a:bodyPr/>
          <a:lstStyle/>
          <a:p>
            <a:fld id="{C52ED629-2BC0-4D25-969E-9ED78B40D7C7}" type="slidenum">
              <a:rPr lang="fr-FR" smtClean="0"/>
              <a:t>28</a:t>
            </a:fld>
            <a:endParaRPr lang="fr-FR"/>
          </a:p>
        </p:txBody>
      </p:sp>
      <p:sp>
        <p:nvSpPr>
          <p:cNvPr id="4" name="TextBox 3">
            <a:extLst>
              <a:ext uri="{FF2B5EF4-FFF2-40B4-BE49-F238E27FC236}">
                <a16:creationId xmlns:a16="http://schemas.microsoft.com/office/drawing/2014/main" id="{02D63997-F04C-4768-9825-71A70B369A63}"/>
              </a:ext>
            </a:extLst>
          </p:cNvPr>
          <p:cNvSpPr txBox="1"/>
          <p:nvPr/>
        </p:nvSpPr>
        <p:spPr>
          <a:xfrm>
            <a:off x="5053800" y="6069939"/>
            <a:ext cx="2072979" cy="307777"/>
          </a:xfrm>
          <a:prstGeom prst="rect">
            <a:avLst/>
          </a:prstGeom>
          <a:noFill/>
        </p:spPr>
        <p:txBody>
          <a:bodyPr wrap="square" rtlCol="0">
            <a:spAutoFit/>
          </a:bodyPr>
          <a:lstStyle/>
          <a:p>
            <a:pPr algn="just"/>
            <a:r>
              <a:rPr lang="fr-FR" sz="1400" i="1" dirty="0">
                <a:solidFill>
                  <a:srgbClr val="4A66AC"/>
                </a:solidFill>
              </a:rPr>
              <a:t>Le formulaire d’inscription</a:t>
            </a:r>
          </a:p>
        </p:txBody>
      </p:sp>
      <p:pic>
        <p:nvPicPr>
          <p:cNvPr id="5" name="Picture 4">
            <a:extLst>
              <a:ext uri="{FF2B5EF4-FFF2-40B4-BE49-F238E27FC236}">
                <a16:creationId xmlns:a16="http://schemas.microsoft.com/office/drawing/2014/main" id="{23517FAC-8284-4E67-B389-337809DF5FFA}"/>
              </a:ext>
            </a:extLst>
          </p:cNvPr>
          <p:cNvPicPr>
            <a:picLocks noChangeAspect="1"/>
          </p:cNvPicPr>
          <p:nvPr/>
        </p:nvPicPr>
        <p:blipFill>
          <a:blip r:embed="rId2"/>
          <a:stretch>
            <a:fillRect/>
          </a:stretch>
        </p:blipFill>
        <p:spPr>
          <a:xfrm>
            <a:off x="2851051" y="742315"/>
            <a:ext cx="6478479" cy="5176584"/>
          </a:xfrm>
          <a:prstGeom prst="rect">
            <a:avLst/>
          </a:prstGeom>
        </p:spPr>
      </p:pic>
    </p:spTree>
    <p:extLst>
      <p:ext uri="{BB962C8B-B14F-4D97-AF65-F5344CB8AC3E}">
        <p14:creationId xmlns:p14="http://schemas.microsoft.com/office/powerpoint/2010/main" val="414992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453FBE-929A-47DA-87C9-10F16A63298E}"/>
              </a:ext>
            </a:extLst>
          </p:cNvPr>
          <p:cNvSpPr>
            <a:spLocks noGrp="1"/>
          </p:cNvSpPr>
          <p:nvPr>
            <p:ph type="sldNum" sz="quarter" idx="12"/>
          </p:nvPr>
        </p:nvSpPr>
        <p:spPr/>
        <p:txBody>
          <a:bodyPr/>
          <a:lstStyle/>
          <a:p>
            <a:fld id="{C52ED629-2BC0-4D25-969E-9ED78B40D7C7}" type="slidenum">
              <a:rPr lang="fr-FR" smtClean="0"/>
              <a:t>29</a:t>
            </a:fld>
            <a:endParaRPr lang="fr-FR"/>
          </a:p>
        </p:txBody>
      </p:sp>
      <p:pic>
        <p:nvPicPr>
          <p:cNvPr id="2" name="Picture 1">
            <a:extLst>
              <a:ext uri="{FF2B5EF4-FFF2-40B4-BE49-F238E27FC236}">
                <a16:creationId xmlns:a16="http://schemas.microsoft.com/office/drawing/2014/main" id="{65415FA0-77D5-4F18-A73B-90C7B93D4C0A}"/>
              </a:ext>
            </a:extLst>
          </p:cNvPr>
          <p:cNvPicPr>
            <a:picLocks noChangeAspect="1"/>
          </p:cNvPicPr>
          <p:nvPr/>
        </p:nvPicPr>
        <p:blipFill>
          <a:blip r:embed="rId2"/>
          <a:stretch>
            <a:fillRect/>
          </a:stretch>
        </p:blipFill>
        <p:spPr>
          <a:xfrm>
            <a:off x="345989" y="1053983"/>
            <a:ext cx="11500022" cy="4750033"/>
          </a:xfrm>
          <a:prstGeom prst="rect">
            <a:avLst/>
          </a:prstGeom>
        </p:spPr>
      </p:pic>
      <p:sp>
        <p:nvSpPr>
          <p:cNvPr id="3" name="TextBox 2">
            <a:extLst>
              <a:ext uri="{FF2B5EF4-FFF2-40B4-BE49-F238E27FC236}">
                <a16:creationId xmlns:a16="http://schemas.microsoft.com/office/drawing/2014/main" id="{745DDA25-C087-4416-9425-F208524B605A}"/>
              </a:ext>
            </a:extLst>
          </p:cNvPr>
          <p:cNvSpPr txBox="1"/>
          <p:nvPr/>
        </p:nvSpPr>
        <p:spPr>
          <a:xfrm>
            <a:off x="700216" y="444843"/>
            <a:ext cx="4473146" cy="369332"/>
          </a:xfrm>
          <a:prstGeom prst="rect">
            <a:avLst/>
          </a:prstGeom>
          <a:noFill/>
        </p:spPr>
        <p:txBody>
          <a:bodyPr wrap="square" rtlCol="0">
            <a:spAutoFit/>
          </a:bodyPr>
          <a:lstStyle/>
          <a:p>
            <a:r>
              <a:rPr lang="en-US" dirty="0">
                <a:solidFill>
                  <a:schemeClr val="accent2">
                    <a:lumMod val="50000"/>
                  </a:schemeClr>
                </a:solidFill>
              </a:rPr>
              <a:t>Diagram de sequence (</a:t>
            </a:r>
            <a:r>
              <a:rPr lang="en-US" dirty="0" err="1">
                <a:solidFill>
                  <a:schemeClr val="accent2">
                    <a:lumMod val="50000"/>
                  </a:schemeClr>
                </a:solidFill>
              </a:rPr>
              <a:t>formulaire</a:t>
            </a:r>
            <a:r>
              <a:rPr lang="en-US" dirty="0">
                <a:solidFill>
                  <a:schemeClr val="accent2">
                    <a:lumMod val="50000"/>
                  </a:schemeClr>
                </a:solidFill>
              </a:rPr>
              <a:t> inscription)</a:t>
            </a:r>
            <a:endParaRPr lang="ru-RU" dirty="0">
              <a:solidFill>
                <a:schemeClr val="accent2">
                  <a:lumMod val="50000"/>
                </a:schemeClr>
              </a:solidFill>
            </a:endParaRPr>
          </a:p>
        </p:txBody>
      </p:sp>
    </p:spTree>
    <p:extLst>
      <p:ext uri="{BB962C8B-B14F-4D97-AF65-F5344CB8AC3E}">
        <p14:creationId xmlns:p14="http://schemas.microsoft.com/office/powerpoint/2010/main" val="41544546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30</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609600"/>
            <a:ext cx="5478100" cy="524205"/>
          </a:xfrm>
        </p:spPr>
        <p:txBody>
          <a:bodyPr/>
          <a:lstStyle/>
          <a:p>
            <a:r>
              <a:rPr lang="fr-FR" sz="3200" dirty="0"/>
              <a:t>Connexion (</a:t>
            </a:r>
            <a:r>
              <a:rPr lang="fr-FR" sz="3200" dirty="0" err="1"/>
              <a:t>front-end</a:t>
            </a:r>
            <a:r>
              <a:rPr lang="fr-FR" sz="3200" dirty="0"/>
              <a:t>)</a:t>
            </a:r>
          </a:p>
        </p:txBody>
      </p:sp>
      <p:sp>
        <p:nvSpPr>
          <p:cNvPr id="11" name="Title 1">
            <a:extLst>
              <a:ext uri="{FF2B5EF4-FFF2-40B4-BE49-F238E27FC236}">
                <a16:creationId xmlns:a16="http://schemas.microsoft.com/office/drawing/2014/main" id="{ECE187B8-96EB-498F-B037-6580597BE94F}"/>
              </a:ext>
            </a:extLst>
          </p:cNvPr>
          <p:cNvSpPr txBox="1">
            <a:spLocks/>
          </p:cNvSpPr>
          <p:nvPr/>
        </p:nvSpPr>
        <p:spPr>
          <a:xfrm>
            <a:off x="749705" y="1037884"/>
            <a:ext cx="2244748" cy="24832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component et service</a:t>
            </a:r>
          </a:p>
        </p:txBody>
      </p:sp>
      <p:pic>
        <p:nvPicPr>
          <p:cNvPr id="12" name="Picture 11">
            <a:extLst>
              <a:ext uri="{FF2B5EF4-FFF2-40B4-BE49-F238E27FC236}">
                <a16:creationId xmlns:a16="http://schemas.microsoft.com/office/drawing/2014/main" id="{4868798A-CF66-4030-A9B0-A8D245CD13C7}"/>
              </a:ext>
            </a:extLst>
          </p:cNvPr>
          <p:cNvPicPr>
            <a:picLocks noChangeAspect="1"/>
          </p:cNvPicPr>
          <p:nvPr/>
        </p:nvPicPr>
        <p:blipFill>
          <a:blip r:embed="rId2"/>
          <a:stretch>
            <a:fillRect/>
          </a:stretch>
        </p:blipFill>
        <p:spPr>
          <a:xfrm>
            <a:off x="749705" y="1396216"/>
            <a:ext cx="4744112" cy="5087060"/>
          </a:xfrm>
          <a:prstGeom prst="rect">
            <a:avLst/>
          </a:prstGeom>
        </p:spPr>
      </p:pic>
      <p:pic>
        <p:nvPicPr>
          <p:cNvPr id="13" name="Picture 12">
            <a:extLst>
              <a:ext uri="{FF2B5EF4-FFF2-40B4-BE49-F238E27FC236}">
                <a16:creationId xmlns:a16="http://schemas.microsoft.com/office/drawing/2014/main" id="{C492E753-F4C8-41CF-8E5D-CE324FF823A7}"/>
              </a:ext>
            </a:extLst>
          </p:cNvPr>
          <p:cNvPicPr>
            <a:picLocks noChangeAspect="1"/>
          </p:cNvPicPr>
          <p:nvPr/>
        </p:nvPicPr>
        <p:blipFill>
          <a:blip r:embed="rId3"/>
          <a:stretch>
            <a:fillRect/>
          </a:stretch>
        </p:blipFill>
        <p:spPr>
          <a:xfrm>
            <a:off x="6227805" y="1396216"/>
            <a:ext cx="4553585" cy="600159"/>
          </a:xfrm>
          <a:prstGeom prst="rect">
            <a:avLst/>
          </a:prstGeom>
        </p:spPr>
      </p:pic>
      <p:pic>
        <p:nvPicPr>
          <p:cNvPr id="14" name="Picture 13">
            <a:extLst>
              <a:ext uri="{FF2B5EF4-FFF2-40B4-BE49-F238E27FC236}">
                <a16:creationId xmlns:a16="http://schemas.microsoft.com/office/drawing/2014/main" id="{8A06BEE8-1C16-433B-B127-4095DD2E382B}"/>
              </a:ext>
            </a:extLst>
          </p:cNvPr>
          <p:cNvPicPr>
            <a:picLocks noChangeAspect="1"/>
          </p:cNvPicPr>
          <p:nvPr/>
        </p:nvPicPr>
        <p:blipFill>
          <a:blip r:embed="rId4"/>
          <a:stretch>
            <a:fillRect/>
          </a:stretch>
        </p:blipFill>
        <p:spPr>
          <a:xfrm>
            <a:off x="6227805" y="2529544"/>
            <a:ext cx="4801270" cy="1667108"/>
          </a:xfrm>
          <a:prstGeom prst="rect">
            <a:avLst/>
          </a:prstGeom>
        </p:spPr>
      </p:pic>
    </p:spTree>
    <p:extLst>
      <p:ext uri="{BB962C8B-B14F-4D97-AF65-F5344CB8AC3E}">
        <p14:creationId xmlns:p14="http://schemas.microsoft.com/office/powerpoint/2010/main" val="3473801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31</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609600"/>
            <a:ext cx="5478100" cy="524205"/>
          </a:xfrm>
        </p:spPr>
        <p:txBody>
          <a:bodyPr/>
          <a:lstStyle/>
          <a:p>
            <a:r>
              <a:rPr lang="fr-FR" sz="3200" dirty="0"/>
              <a:t>Connexion (</a:t>
            </a:r>
            <a:r>
              <a:rPr lang="fr-FR" sz="3200" dirty="0" err="1"/>
              <a:t>back-end</a:t>
            </a:r>
            <a:r>
              <a:rPr lang="fr-FR" sz="3200" dirty="0"/>
              <a:t>)</a:t>
            </a:r>
          </a:p>
        </p:txBody>
      </p:sp>
      <p:sp>
        <p:nvSpPr>
          <p:cNvPr id="11" name="Title 1">
            <a:extLst>
              <a:ext uri="{FF2B5EF4-FFF2-40B4-BE49-F238E27FC236}">
                <a16:creationId xmlns:a16="http://schemas.microsoft.com/office/drawing/2014/main" id="{ECE187B8-96EB-498F-B037-6580597BE94F}"/>
              </a:ext>
            </a:extLst>
          </p:cNvPr>
          <p:cNvSpPr txBox="1">
            <a:spLocks/>
          </p:cNvSpPr>
          <p:nvPr/>
        </p:nvSpPr>
        <p:spPr>
          <a:xfrm>
            <a:off x="749705" y="1037884"/>
            <a:ext cx="2244748" cy="24832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controlleur et le service</a:t>
            </a:r>
          </a:p>
        </p:txBody>
      </p:sp>
      <p:pic>
        <p:nvPicPr>
          <p:cNvPr id="4" name="Picture 3">
            <a:extLst>
              <a:ext uri="{FF2B5EF4-FFF2-40B4-BE49-F238E27FC236}">
                <a16:creationId xmlns:a16="http://schemas.microsoft.com/office/drawing/2014/main" id="{9EF76AA0-147C-4803-9EF3-89F7C914D3C5}"/>
              </a:ext>
            </a:extLst>
          </p:cNvPr>
          <p:cNvPicPr>
            <a:picLocks noChangeAspect="1"/>
          </p:cNvPicPr>
          <p:nvPr/>
        </p:nvPicPr>
        <p:blipFill>
          <a:blip r:embed="rId2"/>
          <a:stretch>
            <a:fillRect/>
          </a:stretch>
        </p:blipFill>
        <p:spPr>
          <a:xfrm>
            <a:off x="749705" y="1473113"/>
            <a:ext cx="5391902" cy="600159"/>
          </a:xfrm>
          <a:prstGeom prst="rect">
            <a:avLst/>
          </a:prstGeom>
        </p:spPr>
      </p:pic>
      <p:pic>
        <p:nvPicPr>
          <p:cNvPr id="5" name="Picture 4">
            <a:extLst>
              <a:ext uri="{FF2B5EF4-FFF2-40B4-BE49-F238E27FC236}">
                <a16:creationId xmlns:a16="http://schemas.microsoft.com/office/drawing/2014/main" id="{A5072830-D09A-420A-9BAC-13949B68B131}"/>
              </a:ext>
            </a:extLst>
          </p:cNvPr>
          <p:cNvPicPr>
            <a:picLocks noChangeAspect="1"/>
          </p:cNvPicPr>
          <p:nvPr/>
        </p:nvPicPr>
        <p:blipFill>
          <a:blip r:embed="rId3"/>
          <a:stretch>
            <a:fillRect/>
          </a:stretch>
        </p:blipFill>
        <p:spPr>
          <a:xfrm>
            <a:off x="749705" y="2190577"/>
            <a:ext cx="7706801" cy="2476846"/>
          </a:xfrm>
          <a:prstGeom prst="rect">
            <a:avLst/>
          </a:prstGeom>
        </p:spPr>
      </p:pic>
      <p:pic>
        <p:nvPicPr>
          <p:cNvPr id="8" name="Picture 7">
            <a:extLst>
              <a:ext uri="{FF2B5EF4-FFF2-40B4-BE49-F238E27FC236}">
                <a16:creationId xmlns:a16="http://schemas.microsoft.com/office/drawing/2014/main" id="{22367C3D-F538-4F4D-9644-8477F7AC12F5}"/>
              </a:ext>
            </a:extLst>
          </p:cNvPr>
          <p:cNvPicPr>
            <a:picLocks noChangeAspect="1"/>
          </p:cNvPicPr>
          <p:nvPr/>
        </p:nvPicPr>
        <p:blipFill>
          <a:blip r:embed="rId4"/>
          <a:stretch>
            <a:fillRect/>
          </a:stretch>
        </p:blipFill>
        <p:spPr>
          <a:xfrm>
            <a:off x="655327" y="4784728"/>
            <a:ext cx="5048955" cy="1590897"/>
          </a:xfrm>
          <a:prstGeom prst="rect">
            <a:avLst/>
          </a:prstGeom>
        </p:spPr>
      </p:pic>
    </p:spTree>
    <p:extLst>
      <p:ext uri="{BB962C8B-B14F-4D97-AF65-F5344CB8AC3E}">
        <p14:creationId xmlns:p14="http://schemas.microsoft.com/office/powerpoint/2010/main" val="4069293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4CEC49-3FA8-4FF4-AA1C-C76C9CA7B9D4}"/>
              </a:ext>
            </a:extLst>
          </p:cNvPr>
          <p:cNvSpPr>
            <a:spLocks noGrp="1"/>
          </p:cNvSpPr>
          <p:nvPr>
            <p:ph type="sldNum" sz="quarter" idx="12"/>
          </p:nvPr>
        </p:nvSpPr>
        <p:spPr/>
        <p:txBody>
          <a:bodyPr/>
          <a:lstStyle/>
          <a:p>
            <a:fld id="{C52ED629-2BC0-4D25-969E-9ED78B40D7C7}" type="slidenum">
              <a:rPr lang="fr-FR" smtClean="0"/>
              <a:t>32</a:t>
            </a:fld>
            <a:endParaRPr lang="fr-FR"/>
          </a:p>
        </p:txBody>
      </p:sp>
      <p:sp>
        <p:nvSpPr>
          <p:cNvPr id="4" name="TextBox 3">
            <a:extLst>
              <a:ext uri="{FF2B5EF4-FFF2-40B4-BE49-F238E27FC236}">
                <a16:creationId xmlns:a16="http://schemas.microsoft.com/office/drawing/2014/main" id="{02D63997-F04C-4768-9825-71A70B369A63}"/>
              </a:ext>
            </a:extLst>
          </p:cNvPr>
          <p:cNvSpPr txBox="1"/>
          <p:nvPr/>
        </p:nvSpPr>
        <p:spPr>
          <a:xfrm>
            <a:off x="5004896" y="6069939"/>
            <a:ext cx="2170784" cy="307777"/>
          </a:xfrm>
          <a:prstGeom prst="rect">
            <a:avLst/>
          </a:prstGeom>
          <a:noFill/>
        </p:spPr>
        <p:txBody>
          <a:bodyPr wrap="square" rtlCol="0">
            <a:spAutoFit/>
          </a:bodyPr>
          <a:lstStyle/>
          <a:p>
            <a:pPr algn="just"/>
            <a:r>
              <a:rPr lang="fr-FR" sz="1400" i="1" dirty="0">
                <a:solidFill>
                  <a:srgbClr val="4A66AC"/>
                </a:solidFill>
              </a:rPr>
              <a:t>Le formulaire de </a:t>
            </a:r>
            <a:r>
              <a:rPr lang="fr-FR" sz="1400" i="1" dirty="0" err="1">
                <a:solidFill>
                  <a:srgbClr val="4A66AC"/>
                </a:solidFill>
              </a:rPr>
              <a:t>connection</a:t>
            </a:r>
            <a:endParaRPr lang="fr-FR" sz="1400" i="1" dirty="0">
              <a:solidFill>
                <a:srgbClr val="4A66AC"/>
              </a:solidFill>
            </a:endParaRPr>
          </a:p>
        </p:txBody>
      </p:sp>
      <p:pic>
        <p:nvPicPr>
          <p:cNvPr id="6" name="Picture 5">
            <a:extLst>
              <a:ext uri="{FF2B5EF4-FFF2-40B4-BE49-F238E27FC236}">
                <a16:creationId xmlns:a16="http://schemas.microsoft.com/office/drawing/2014/main" id="{170AF68A-BE46-4B3F-94D6-BA984B7CE361}"/>
              </a:ext>
            </a:extLst>
          </p:cNvPr>
          <p:cNvPicPr>
            <a:picLocks noChangeAspect="1"/>
          </p:cNvPicPr>
          <p:nvPr/>
        </p:nvPicPr>
        <p:blipFill>
          <a:blip r:embed="rId2"/>
          <a:stretch>
            <a:fillRect/>
          </a:stretch>
        </p:blipFill>
        <p:spPr>
          <a:xfrm>
            <a:off x="3789680" y="980733"/>
            <a:ext cx="4601217" cy="4896533"/>
          </a:xfrm>
          <a:prstGeom prst="rect">
            <a:avLst/>
          </a:prstGeom>
        </p:spPr>
      </p:pic>
    </p:spTree>
    <p:extLst>
      <p:ext uri="{BB962C8B-B14F-4D97-AF65-F5344CB8AC3E}">
        <p14:creationId xmlns:p14="http://schemas.microsoft.com/office/powerpoint/2010/main" val="2854483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33</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609600"/>
            <a:ext cx="7142144" cy="524205"/>
          </a:xfrm>
        </p:spPr>
        <p:txBody>
          <a:bodyPr/>
          <a:lstStyle/>
          <a:p>
            <a:r>
              <a:rPr lang="fr-FR" sz="3200" dirty="0"/>
              <a:t>Page utilisateur (</a:t>
            </a:r>
            <a:r>
              <a:rPr lang="fr-FR" sz="3200" dirty="0" err="1"/>
              <a:t>front-end</a:t>
            </a:r>
            <a:r>
              <a:rPr lang="fr-FR" sz="3200" dirty="0"/>
              <a:t>)</a:t>
            </a:r>
          </a:p>
        </p:txBody>
      </p:sp>
      <p:sp>
        <p:nvSpPr>
          <p:cNvPr id="11" name="Title 1">
            <a:extLst>
              <a:ext uri="{FF2B5EF4-FFF2-40B4-BE49-F238E27FC236}">
                <a16:creationId xmlns:a16="http://schemas.microsoft.com/office/drawing/2014/main" id="{ECE187B8-96EB-498F-B037-6580597BE94F}"/>
              </a:ext>
            </a:extLst>
          </p:cNvPr>
          <p:cNvSpPr txBox="1">
            <a:spLocks/>
          </p:cNvSpPr>
          <p:nvPr/>
        </p:nvSpPr>
        <p:spPr>
          <a:xfrm>
            <a:off x="749705" y="1037884"/>
            <a:ext cx="2244748" cy="24832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component et service</a:t>
            </a:r>
          </a:p>
        </p:txBody>
      </p:sp>
      <p:pic>
        <p:nvPicPr>
          <p:cNvPr id="3" name="Picture 2">
            <a:extLst>
              <a:ext uri="{FF2B5EF4-FFF2-40B4-BE49-F238E27FC236}">
                <a16:creationId xmlns:a16="http://schemas.microsoft.com/office/drawing/2014/main" id="{D7ADDBE9-2A3E-4C3A-90B9-5399FEC62882}"/>
              </a:ext>
            </a:extLst>
          </p:cNvPr>
          <p:cNvPicPr>
            <a:picLocks noChangeAspect="1"/>
          </p:cNvPicPr>
          <p:nvPr/>
        </p:nvPicPr>
        <p:blipFill>
          <a:blip r:embed="rId2"/>
          <a:stretch>
            <a:fillRect/>
          </a:stretch>
        </p:blipFill>
        <p:spPr>
          <a:xfrm>
            <a:off x="749705" y="2308115"/>
            <a:ext cx="3232515" cy="2241770"/>
          </a:xfrm>
          <a:prstGeom prst="rect">
            <a:avLst/>
          </a:prstGeom>
        </p:spPr>
      </p:pic>
      <p:pic>
        <p:nvPicPr>
          <p:cNvPr id="4" name="Picture 3">
            <a:extLst>
              <a:ext uri="{FF2B5EF4-FFF2-40B4-BE49-F238E27FC236}">
                <a16:creationId xmlns:a16="http://schemas.microsoft.com/office/drawing/2014/main" id="{842851CF-AAF5-48A3-9AFE-F65B0D6968C2}"/>
              </a:ext>
            </a:extLst>
          </p:cNvPr>
          <p:cNvPicPr>
            <a:picLocks noChangeAspect="1"/>
          </p:cNvPicPr>
          <p:nvPr/>
        </p:nvPicPr>
        <p:blipFill>
          <a:blip r:embed="rId3"/>
          <a:stretch>
            <a:fillRect/>
          </a:stretch>
        </p:blipFill>
        <p:spPr>
          <a:xfrm>
            <a:off x="5694939" y="2308115"/>
            <a:ext cx="4393819" cy="572304"/>
          </a:xfrm>
          <a:prstGeom prst="rect">
            <a:avLst/>
          </a:prstGeom>
        </p:spPr>
      </p:pic>
    </p:spTree>
    <p:extLst>
      <p:ext uri="{BB962C8B-B14F-4D97-AF65-F5344CB8AC3E}">
        <p14:creationId xmlns:p14="http://schemas.microsoft.com/office/powerpoint/2010/main" val="3690683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34</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609600"/>
            <a:ext cx="9061560" cy="524205"/>
          </a:xfrm>
        </p:spPr>
        <p:txBody>
          <a:bodyPr/>
          <a:lstStyle/>
          <a:p>
            <a:r>
              <a:rPr lang="fr-FR" sz="3200" dirty="0"/>
              <a:t>Page utilisateur (</a:t>
            </a:r>
            <a:r>
              <a:rPr lang="fr-FR" sz="3200" dirty="0" err="1"/>
              <a:t>back-end</a:t>
            </a:r>
            <a:r>
              <a:rPr lang="fr-FR" sz="3200" dirty="0"/>
              <a:t>)</a:t>
            </a:r>
          </a:p>
        </p:txBody>
      </p:sp>
      <p:sp>
        <p:nvSpPr>
          <p:cNvPr id="11" name="Title 1">
            <a:extLst>
              <a:ext uri="{FF2B5EF4-FFF2-40B4-BE49-F238E27FC236}">
                <a16:creationId xmlns:a16="http://schemas.microsoft.com/office/drawing/2014/main" id="{ECE187B8-96EB-498F-B037-6580597BE94F}"/>
              </a:ext>
            </a:extLst>
          </p:cNvPr>
          <p:cNvSpPr txBox="1">
            <a:spLocks/>
          </p:cNvSpPr>
          <p:nvPr/>
        </p:nvSpPr>
        <p:spPr>
          <a:xfrm>
            <a:off x="749705" y="1037884"/>
            <a:ext cx="2244748" cy="24832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Controlleur et service</a:t>
            </a:r>
          </a:p>
        </p:txBody>
      </p:sp>
      <p:pic>
        <p:nvPicPr>
          <p:cNvPr id="5" name="Picture 4">
            <a:extLst>
              <a:ext uri="{FF2B5EF4-FFF2-40B4-BE49-F238E27FC236}">
                <a16:creationId xmlns:a16="http://schemas.microsoft.com/office/drawing/2014/main" id="{6A8E2575-3CD0-4F8D-A5A5-F5DFF33C0D42}"/>
              </a:ext>
            </a:extLst>
          </p:cNvPr>
          <p:cNvPicPr>
            <a:picLocks noChangeAspect="1"/>
          </p:cNvPicPr>
          <p:nvPr/>
        </p:nvPicPr>
        <p:blipFill>
          <a:blip r:embed="rId2"/>
          <a:stretch>
            <a:fillRect/>
          </a:stretch>
        </p:blipFill>
        <p:spPr>
          <a:xfrm>
            <a:off x="836302" y="1714489"/>
            <a:ext cx="4316302" cy="603742"/>
          </a:xfrm>
          <a:prstGeom prst="rect">
            <a:avLst/>
          </a:prstGeom>
        </p:spPr>
      </p:pic>
      <p:pic>
        <p:nvPicPr>
          <p:cNvPr id="7" name="Picture 6">
            <a:extLst>
              <a:ext uri="{FF2B5EF4-FFF2-40B4-BE49-F238E27FC236}">
                <a16:creationId xmlns:a16="http://schemas.microsoft.com/office/drawing/2014/main" id="{EE498E6F-70DC-4D94-99CB-E316C26BA565}"/>
              </a:ext>
            </a:extLst>
          </p:cNvPr>
          <p:cNvPicPr>
            <a:picLocks noChangeAspect="1"/>
          </p:cNvPicPr>
          <p:nvPr/>
        </p:nvPicPr>
        <p:blipFill>
          <a:blip r:embed="rId3"/>
          <a:stretch>
            <a:fillRect/>
          </a:stretch>
        </p:blipFill>
        <p:spPr>
          <a:xfrm>
            <a:off x="749705" y="2621954"/>
            <a:ext cx="5992602" cy="3443510"/>
          </a:xfrm>
          <a:prstGeom prst="rect">
            <a:avLst/>
          </a:prstGeom>
        </p:spPr>
      </p:pic>
    </p:spTree>
    <p:extLst>
      <p:ext uri="{BB962C8B-B14F-4D97-AF65-F5344CB8AC3E}">
        <p14:creationId xmlns:p14="http://schemas.microsoft.com/office/powerpoint/2010/main" val="1112796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35</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609600"/>
            <a:ext cx="7142144" cy="524205"/>
          </a:xfrm>
        </p:spPr>
        <p:txBody>
          <a:bodyPr/>
          <a:lstStyle/>
          <a:p>
            <a:r>
              <a:rPr lang="fr-FR" sz="3200" dirty="0"/>
              <a:t>Component publications (</a:t>
            </a:r>
            <a:r>
              <a:rPr lang="fr-FR" sz="3200" dirty="0" err="1"/>
              <a:t>front-end</a:t>
            </a:r>
            <a:r>
              <a:rPr lang="fr-FR" sz="3200" dirty="0"/>
              <a:t>)</a:t>
            </a:r>
          </a:p>
        </p:txBody>
      </p:sp>
      <p:sp>
        <p:nvSpPr>
          <p:cNvPr id="11" name="Title 1">
            <a:extLst>
              <a:ext uri="{FF2B5EF4-FFF2-40B4-BE49-F238E27FC236}">
                <a16:creationId xmlns:a16="http://schemas.microsoft.com/office/drawing/2014/main" id="{ECE187B8-96EB-498F-B037-6580597BE94F}"/>
              </a:ext>
            </a:extLst>
          </p:cNvPr>
          <p:cNvSpPr txBox="1">
            <a:spLocks/>
          </p:cNvSpPr>
          <p:nvPr/>
        </p:nvSpPr>
        <p:spPr>
          <a:xfrm>
            <a:off x="749705" y="1037884"/>
            <a:ext cx="2244748" cy="24832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component et service</a:t>
            </a:r>
          </a:p>
        </p:txBody>
      </p:sp>
      <p:pic>
        <p:nvPicPr>
          <p:cNvPr id="5" name="Picture 4">
            <a:extLst>
              <a:ext uri="{FF2B5EF4-FFF2-40B4-BE49-F238E27FC236}">
                <a16:creationId xmlns:a16="http://schemas.microsoft.com/office/drawing/2014/main" id="{A119EAF4-E07E-471E-8807-4935D0056EBF}"/>
              </a:ext>
            </a:extLst>
          </p:cNvPr>
          <p:cNvPicPr>
            <a:picLocks noChangeAspect="1"/>
          </p:cNvPicPr>
          <p:nvPr/>
        </p:nvPicPr>
        <p:blipFill>
          <a:blip r:embed="rId2"/>
          <a:stretch>
            <a:fillRect/>
          </a:stretch>
        </p:blipFill>
        <p:spPr>
          <a:xfrm>
            <a:off x="749705" y="1562089"/>
            <a:ext cx="4860263" cy="4050219"/>
          </a:xfrm>
          <a:prstGeom prst="rect">
            <a:avLst/>
          </a:prstGeom>
        </p:spPr>
      </p:pic>
      <p:pic>
        <p:nvPicPr>
          <p:cNvPr id="6" name="Picture 5">
            <a:extLst>
              <a:ext uri="{FF2B5EF4-FFF2-40B4-BE49-F238E27FC236}">
                <a16:creationId xmlns:a16="http://schemas.microsoft.com/office/drawing/2014/main" id="{F48C9E66-14C6-4DD3-8F6B-8BD5F31F1DF8}"/>
              </a:ext>
            </a:extLst>
          </p:cNvPr>
          <p:cNvPicPr>
            <a:picLocks noChangeAspect="1"/>
          </p:cNvPicPr>
          <p:nvPr/>
        </p:nvPicPr>
        <p:blipFill>
          <a:blip r:embed="rId3"/>
          <a:stretch>
            <a:fillRect/>
          </a:stretch>
        </p:blipFill>
        <p:spPr>
          <a:xfrm>
            <a:off x="749705" y="5885862"/>
            <a:ext cx="7592485" cy="600159"/>
          </a:xfrm>
          <a:prstGeom prst="rect">
            <a:avLst/>
          </a:prstGeom>
        </p:spPr>
      </p:pic>
    </p:spTree>
    <p:extLst>
      <p:ext uri="{BB962C8B-B14F-4D97-AF65-F5344CB8AC3E}">
        <p14:creationId xmlns:p14="http://schemas.microsoft.com/office/powerpoint/2010/main" val="4763747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36</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609600"/>
            <a:ext cx="7142144" cy="524205"/>
          </a:xfrm>
        </p:spPr>
        <p:txBody>
          <a:bodyPr/>
          <a:lstStyle/>
          <a:p>
            <a:r>
              <a:rPr lang="fr-FR" sz="3200" dirty="0"/>
              <a:t>Publications de l’utilisateur (</a:t>
            </a:r>
            <a:r>
              <a:rPr lang="fr-FR" sz="3200" dirty="0" err="1"/>
              <a:t>back-end</a:t>
            </a:r>
            <a:r>
              <a:rPr lang="fr-FR" sz="3200" dirty="0"/>
              <a:t>)</a:t>
            </a:r>
          </a:p>
        </p:txBody>
      </p:sp>
      <p:sp>
        <p:nvSpPr>
          <p:cNvPr id="11" name="Title 1">
            <a:extLst>
              <a:ext uri="{FF2B5EF4-FFF2-40B4-BE49-F238E27FC236}">
                <a16:creationId xmlns:a16="http://schemas.microsoft.com/office/drawing/2014/main" id="{ECE187B8-96EB-498F-B037-6580597BE94F}"/>
              </a:ext>
            </a:extLst>
          </p:cNvPr>
          <p:cNvSpPr txBox="1">
            <a:spLocks/>
          </p:cNvSpPr>
          <p:nvPr/>
        </p:nvSpPr>
        <p:spPr>
          <a:xfrm>
            <a:off x="749705" y="1037884"/>
            <a:ext cx="2244748" cy="24832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Controlleur, service et repository</a:t>
            </a:r>
          </a:p>
        </p:txBody>
      </p:sp>
      <p:pic>
        <p:nvPicPr>
          <p:cNvPr id="3" name="Picture 2">
            <a:extLst>
              <a:ext uri="{FF2B5EF4-FFF2-40B4-BE49-F238E27FC236}">
                <a16:creationId xmlns:a16="http://schemas.microsoft.com/office/drawing/2014/main" id="{BD7F8004-2053-4A53-846F-17574A5EDDCA}"/>
              </a:ext>
            </a:extLst>
          </p:cNvPr>
          <p:cNvPicPr>
            <a:picLocks noChangeAspect="1"/>
          </p:cNvPicPr>
          <p:nvPr/>
        </p:nvPicPr>
        <p:blipFill>
          <a:blip r:embed="rId2"/>
          <a:stretch>
            <a:fillRect/>
          </a:stretch>
        </p:blipFill>
        <p:spPr>
          <a:xfrm>
            <a:off x="749706" y="1562089"/>
            <a:ext cx="4992068" cy="959674"/>
          </a:xfrm>
          <a:prstGeom prst="rect">
            <a:avLst/>
          </a:prstGeom>
        </p:spPr>
      </p:pic>
      <p:pic>
        <p:nvPicPr>
          <p:cNvPr id="4" name="Picture 3">
            <a:extLst>
              <a:ext uri="{FF2B5EF4-FFF2-40B4-BE49-F238E27FC236}">
                <a16:creationId xmlns:a16="http://schemas.microsoft.com/office/drawing/2014/main" id="{9A491790-1911-4C2C-8241-F77B80A9AB75}"/>
              </a:ext>
            </a:extLst>
          </p:cNvPr>
          <p:cNvPicPr>
            <a:picLocks noChangeAspect="1"/>
          </p:cNvPicPr>
          <p:nvPr/>
        </p:nvPicPr>
        <p:blipFill>
          <a:blip r:embed="rId3"/>
          <a:stretch>
            <a:fillRect/>
          </a:stretch>
        </p:blipFill>
        <p:spPr>
          <a:xfrm>
            <a:off x="749705" y="2804191"/>
            <a:ext cx="6771126" cy="2023842"/>
          </a:xfrm>
          <a:prstGeom prst="rect">
            <a:avLst/>
          </a:prstGeom>
        </p:spPr>
      </p:pic>
      <p:pic>
        <p:nvPicPr>
          <p:cNvPr id="7" name="Picture 6">
            <a:extLst>
              <a:ext uri="{FF2B5EF4-FFF2-40B4-BE49-F238E27FC236}">
                <a16:creationId xmlns:a16="http://schemas.microsoft.com/office/drawing/2014/main" id="{F6E20E32-3A24-4893-9A72-16C815A867EA}"/>
              </a:ext>
            </a:extLst>
          </p:cNvPr>
          <p:cNvPicPr>
            <a:picLocks noChangeAspect="1"/>
          </p:cNvPicPr>
          <p:nvPr/>
        </p:nvPicPr>
        <p:blipFill>
          <a:blip r:embed="rId4"/>
          <a:stretch>
            <a:fillRect/>
          </a:stretch>
        </p:blipFill>
        <p:spPr>
          <a:xfrm>
            <a:off x="749705" y="5191121"/>
            <a:ext cx="5582429" cy="209579"/>
          </a:xfrm>
          <a:prstGeom prst="rect">
            <a:avLst/>
          </a:prstGeom>
        </p:spPr>
      </p:pic>
    </p:spTree>
    <p:extLst>
      <p:ext uri="{BB962C8B-B14F-4D97-AF65-F5344CB8AC3E}">
        <p14:creationId xmlns:p14="http://schemas.microsoft.com/office/powerpoint/2010/main" val="3029924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6E8CC8-E3D3-49A0-8F7E-D06F5E89201C}"/>
              </a:ext>
            </a:extLst>
          </p:cNvPr>
          <p:cNvSpPr>
            <a:spLocks noGrp="1"/>
          </p:cNvSpPr>
          <p:nvPr>
            <p:ph type="title"/>
          </p:nvPr>
        </p:nvSpPr>
        <p:spPr>
          <a:xfrm>
            <a:off x="525160" y="488784"/>
            <a:ext cx="6320483" cy="514404"/>
          </a:xfrm>
        </p:spPr>
        <p:txBody>
          <a:bodyPr/>
          <a:lstStyle/>
          <a:p>
            <a:r>
              <a:rPr lang="fr-FR" dirty="0"/>
              <a:t>Component page utilisateur</a:t>
            </a:r>
          </a:p>
        </p:txBody>
      </p:sp>
      <p:sp>
        <p:nvSpPr>
          <p:cNvPr id="5" name="Slide Number Placeholder 4">
            <a:extLst>
              <a:ext uri="{FF2B5EF4-FFF2-40B4-BE49-F238E27FC236}">
                <a16:creationId xmlns:a16="http://schemas.microsoft.com/office/drawing/2014/main" id="{40360F2A-729E-43E7-BE3D-E865638F1C43}"/>
              </a:ext>
            </a:extLst>
          </p:cNvPr>
          <p:cNvSpPr>
            <a:spLocks noGrp="1"/>
          </p:cNvSpPr>
          <p:nvPr>
            <p:ph type="sldNum" sz="quarter" idx="12"/>
          </p:nvPr>
        </p:nvSpPr>
        <p:spPr/>
        <p:txBody>
          <a:bodyPr/>
          <a:lstStyle/>
          <a:p>
            <a:fld id="{C52ED629-2BC0-4D25-969E-9ED78B40D7C7}" type="slidenum">
              <a:rPr lang="fr-FR" smtClean="0"/>
              <a:t>37</a:t>
            </a:fld>
            <a:endParaRPr lang="fr-FR"/>
          </a:p>
        </p:txBody>
      </p:sp>
      <p:pic>
        <p:nvPicPr>
          <p:cNvPr id="7" name="Picture 6">
            <a:extLst>
              <a:ext uri="{FF2B5EF4-FFF2-40B4-BE49-F238E27FC236}">
                <a16:creationId xmlns:a16="http://schemas.microsoft.com/office/drawing/2014/main" id="{4DDA67EC-F223-4469-920C-36CFD08BD343}"/>
              </a:ext>
            </a:extLst>
          </p:cNvPr>
          <p:cNvPicPr>
            <a:picLocks noChangeAspect="1"/>
          </p:cNvPicPr>
          <p:nvPr/>
        </p:nvPicPr>
        <p:blipFill>
          <a:blip r:embed="rId2"/>
          <a:stretch>
            <a:fillRect/>
          </a:stretch>
        </p:blipFill>
        <p:spPr>
          <a:xfrm>
            <a:off x="3208941" y="1101036"/>
            <a:ext cx="5445351" cy="5257199"/>
          </a:xfrm>
          <a:prstGeom prst="rect">
            <a:avLst/>
          </a:prstGeom>
        </p:spPr>
      </p:pic>
    </p:spTree>
    <p:extLst>
      <p:ext uri="{BB962C8B-B14F-4D97-AF65-F5344CB8AC3E}">
        <p14:creationId xmlns:p14="http://schemas.microsoft.com/office/powerpoint/2010/main" val="1732342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38</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502124"/>
            <a:ext cx="7142144" cy="524205"/>
          </a:xfrm>
        </p:spPr>
        <p:txBody>
          <a:bodyPr/>
          <a:lstStyle/>
          <a:p>
            <a:r>
              <a:rPr lang="fr-FR" sz="3200" dirty="0"/>
              <a:t>Creation d’une publication (</a:t>
            </a:r>
            <a:r>
              <a:rPr lang="fr-FR" sz="3200" dirty="0" err="1"/>
              <a:t>front-end</a:t>
            </a:r>
            <a:r>
              <a:rPr lang="fr-FR" sz="3200" dirty="0"/>
              <a:t>)</a:t>
            </a:r>
          </a:p>
        </p:txBody>
      </p:sp>
      <p:sp>
        <p:nvSpPr>
          <p:cNvPr id="11" name="Title 1">
            <a:extLst>
              <a:ext uri="{FF2B5EF4-FFF2-40B4-BE49-F238E27FC236}">
                <a16:creationId xmlns:a16="http://schemas.microsoft.com/office/drawing/2014/main" id="{ECE187B8-96EB-498F-B037-6580597BE94F}"/>
              </a:ext>
            </a:extLst>
          </p:cNvPr>
          <p:cNvSpPr txBox="1">
            <a:spLocks/>
          </p:cNvSpPr>
          <p:nvPr/>
        </p:nvSpPr>
        <p:spPr>
          <a:xfrm>
            <a:off x="749705" y="910171"/>
            <a:ext cx="2244748" cy="24832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component et service</a:t>
            </a:r>
          </a:p>
        </p:txBody>
      </p:sp>
      <p:pic>
        <p:nvPicPr>
          <p:cNvPr id="5" name="Picture 4">
            <a:extLst>
              <a:ext uri="{FF2B5EF4-FFF2-40B4-BE49-F238E27FC236}">
                <a16:creationId xmlns:a16="http://schemas.microsoft.com/office/drawing/2014/main" id="{030944BD-43D3-4B98-88D6-52435A91BD9B}"/>
              </a:ext>
            </a:extLst>
          </p:cNvPr>
          <p:cNvPicPr>
            <a:picLocks noChangeAspect="1"/>
          </p:cNvPicPr>
          <p:nvPr/>
        </p:nvPicPr>
        <p:blipFill>
          <a:blip r:embed="rId2"/>
          <a:stretch>
            <a:fillRect/>
          </a:stretch>
        </p:blipFill>
        <p:spPr>
          <a:xfrm>
            <a:off x="536508" y="1290657"/>
            <a:ext cx="4191088" cy="5298296"/>
          </a:xfrm>
          <a:prstGeom prst="rect">
            <a:avLst/>
          </a:prstGeom>
        </p:spPr>
      </p:pic>
      <p:pic>
        <p:nvPicPr>
          <p:cNvPr id="6" name="Picture 5">
            <a:extLst>
              <a:ext uri="{FF2B5EF4-FFF2-40B4-BE49-F238E27FC236}">
                <a16:creationId xmlns:a16="http://schemas.microsoft.com/office/drawing/2014/main" id="{A135AB29-1B7C-4846-916C-AA137AB063E2}"/>
              </a:ext>
            </a:extLst>
          </p:cNvPr>
          <p:cNvPicPr>
            <a:picLocks noChangeAspect="1"/>
          </p:cNvPicPr>
          <p:nvPr/>
        </p:nvPicPr>
        <p:blipFill>
          <a:blip r:embed="rId3"/>
          <a:stretch>
            <a:fillRect/>
          </a:stretch>
        </p:blipFill>
        <p:spPr>
          <a:xfrm>
            <a:off x="5838302" y="1290657"/>
            <a:ext cx="3810532" cy="571580"/>
          </a:xfrm>
          <a:prstGeom prst="rect">
            <a:avLst/>
          </a:prstGeom>
        </p:spPr>
      </p:pic>
    </p:spTree>
    <p:extLst>
      <p:ext uri="{BB962C8B-B14F-4D97-AF65-F5344CB8AC3E}">
        <p14:creationId xmlns:p14="http://schemas.microsoft.com/office/powerpoint/2010/main" val="17589355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39</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502124"/>
            <a:ext cx="7142144" cy="408047"/>
          </a:xfrm>
        </p:spPr>
        <p:txBody>
          <a:bodyPr/>
          <a:lstStyle/>
          <a:p>
            <a:r>
              <a:rPr lang="fr-FR" sz="3200" dirty="0"/>
              <a:t>Creation d’une publication (</a:t>
            </a:r>
            <a:r>
              <a:rPr lang="fr-FR" sz="3200" dirty="0" err="1"/>
              <a:t>back-end</a:t>
            </a:r>
            <a:r>
              <a:rPr lang="fr-FR" sz="3200" dirty="0"/>
              <a:t>)</a:t>
            </a:r>
          </a:p>
        </p:txBody>
      </p:sp>
      <p:sp>
        <p:nvSpPr>
          <p:cNvPr id="11" name="Title 1">
            <a:extLst>
              <a:ext uri="{FF2B5EF4-FFF2-40B4-BE49-F238E27FC236}">
                <a16:creationId xmlns:a16="http://schemas.microsoft.com/office/drawing/2014/main" id="{ECE187B8-96EB-498F-B037-6580597BE94F}"/>
              </a:ext>
            </a:extLst>
          </p:cNvPr>
          <p:cNvSpPr txBox="1">
            <a:spLocks/>
          </p:cNvSpPr>
          <p:nvPr/>
        </p:nvSpPr>
        <p:spPr>
          <a:xfrm>
            <a:off x="638493" y="2400497"/>
            <a:ext cx="2244748"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Storage service</a:t>
            </a:r>
          </a:p>
        </p:txBody>
      </p:sp>
      <p:pic>
        <p:nvPicPr>
          <p:cNvPr id="3" name="Picture 2">
            <a:extLst>
              <a:ext uri="{FF2B5EF4-FFF2-40B4-BE49-F238E27FC236}">
                <a16:creationId xmlns:a16="http://schemas.microsoft.com/office/drawing/2014/main" id="{087574B8-E3F4-4FC4-B7D3-2FAF8310A81F}"/>
              </a:ext>
            </a:extLst>
          </p:cNvPr>
          <p:cNvPicPr>
            <a:picLocks noChangeAspect="1"/>
          </p:cNvPicPr>
          <p:nvPr/>
        </p:nvPicPr>
        <p:blipFill>
          <a:blip r:embed="rId2"/>
          <a:stretch>
            <a:fillRect/>
          </a:stretch>
        </p:blipFill>
        <p:spPr>
          <a:xfrm>
            <a:off x="638493" y="1408671"/>
            <a:ext cx="7253356" cy="899514"/>
          </a:xfrm>
          <a:prstGeom prst="rect">
            <a:avLst/>
          </a:prstGeom>
        </p:spPr>
      </p:pic>
      <p:pic>
        <p:nvPicPr>
          <p:cNvPr id="4" name="Picture 3">
            <a:extLst>
              <a:ext uri="{FF2B5EF4-FFF2-40B4-BE49-F238E27FC236}">
                <a16:creationId xmlns:a16="http://schemas.microsoft.com/office/drawing/2014/main" id="{8A8C185C-70EB-4887-A1E9-6754C258B360}"/>
              </a:ext>
            </a:extLst>
          </p:cNvPr>
          <p:cNvPicPr>
            <a:picLocks noChangeAspect="1"/>
          </p:cNvPicPr>
          <p:nvPr/>
        </p:nvPicPr>
        <p:blipFill>
          <a:blip r:embed="rId3"/>
          <a:stretch>
            <a:fillRect/>
          </a:stretch>
        </p:blipFill>
        <p:spPr>
          <a:xfrm>
            <a:off x="638493" y="2757406"/>
            <a:ext cx="6676707" cy="2088982"/>
          </a:xfrm>
          <a:prstGeom prst="rect">
            <a:avLst/>
          </a:prstGeom>
        </p:spPr>
      </p:pic>
      <p:pic>
        <p:nvPicPr>
          <p:cNvPr id="7" name="Picture 6">
            <a:extLst>
              <a:ext uri="{FF2B5EF4-FFF2-40B4-BE49-F238E27FC236}">
                <a16:creationId xmlns:a16="http://schemas.microsoft.com/office/drawing/2014/main" id="{38CAD40E-6F9C-42E5-B97F-1FEDFF6D7855}"/>
              </a:ext>
            </a:extLst>
          </p:cNvPr>
          <p:cNvPicPr>
            <a:picLocks noChangeAspect="1"/>
          </p:cNvPicPr>
          <p:nvPr/>
        </p:nvPicPr>
        <p:blipFill>
          <a:blip r:embed="rId4"/>
          <a:stretch>
            <a:fillRect/>
          </a:stretch>
        </p:blipFill>
        <p:spPr>
          <a:xfrm>
            <a:off x="638493" y="5199882"/>
            <a:ext cx="5062091" cy="1206508"/>
          </a:xfrm>
          <a:prstGeom prst="rect">
            <a:avLst/>
          </a:prstGeom>
        </p:spPr>
      </p:pic>
      <p:sp>
        <p:nvSpPr>
          <p:cNvPr id="13" name="Title 1">
            <a:extLst>
              <a:ext uri="{FF2B5EF4-FFF2-40B4-BE49-F238E27FC236}">
                <a16:creationId xmlns:a16="http://schemas.microsoft.com/office/drawing/2014/main" id="{3D7EFA52-EDA0-4565-BFF6-177102000DEC}"/>
              </a:ext>
            </a:extLst>
          </p:cNvPr>
          <p:cNvSpPr txBox="1">
            <a:spLocks/>
          </p:cNvSpPr>
          <p:nvPr/>
        </p:nvSpPr>
        <p:spPr>
          <a:xfrm>
            <a:off x="638493" y="1122024"/>
            <a:ext cx="2244748"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Controlleur</a:t>
            </a:r>
          </a:p>
        </p:txBody>
      </p:sp>
      <p:sp>
        <p:nvSpPr>
          <p:cNvPr id="14" name="Title 1">
            <a:extLst>
              <a:ext uri="{FF2B5EF4-FFF2-40B4-BE49-F238E27FC236}">
                <a16:creationId xmlns:a16="http://schemas.microsoft.com/office/drawing/2014/main" id="{A36EAC05-B0D1-474C-9EB9-23DA43A63386}"/>
              </a:ext>
            </a:extLst>
          </p:cNvPr>
          <p:cNvSpPr txBox="1">
            <a:spLocks/>
          </p:cNvSpPr>
          <p:nvPr/>
        </p:nvSpPr>
        <p:spPr>
          <a:xfrm>
            <a:off x="638493" y="4867701"/>
            <a:ext cx="2244748"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Publication Service</a:t>
            </a:r>
          </a:p>
        </p:txBody>
      </p:sp>
    </p:spTree>
    <p:extLst>
      <p:ext uri="{BB962C8B-B14F-4D97-AF65-F5344CB8AC3E}">
        <p14:creationId xmlns:p14="http://schemas.microsoft.com/office/powerpoint/2010/main" val="26530583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6E8CC8-E3D3-49A0-8F7E-D06F5E89201C}"/>
              </a:ext>
            </a:extLst>
          </p:cNvPr>
          <p:cNvSpPr>
            <a:spLocks noGrp="1"/>
          </p:cNvSpPr>
          <p:nvPr>
            <p:ph type="title"/>
          </p:nvPr>
        </p:nvSpPr>
        <p:spPr>
          <a:xfrm>
            <a:off x="525160" y="488784"/>
            <a:ext cx="6320483" cy="514404"/>
          </a:xfrm>
        </p:spPr>
        <p:txBody>
          <a:bodyPr/>
          <a:lstStyle/>
          <a:p>
            <a:r>
              <a:rPr lang="fr-FR" dirty="0"/>
              <a:t>Creation d’une publication</a:t>
            </a:r>
          </a:p>
        </p:txBody>
      </p:sp>
      <p:sp>
        <p:nvSpPr>
          <p:cNvPr id="5" name="Slide Number Placeholder 4">
            <a:extLst>
              <a:ext uri="{FF2B5EF4-FFF2-40B4-BE49-F238E27FC236}">
                <a16:creationId xmlns:a16="http://schemas.microsoft.com/office/drawing/2014/main" id="{40360F2A-729E-43E7-BE3D-E865638F1C43}"/>
              </a:ext>
            </a:extLst>
          </p:cNvPr>
          <p:cNvSpPr>
            <a:spLocks noGrp="1"/>
          </p:cNvSpPr>
          <p:nvPr>
            <p:ph type="sldNum" sz="quarter" idx="12"/>
          </p:nvPr>
        </p:nvSpPr>
        <p:spPr/>
        <p:txBody>
          <a:bodyPr/>
          <a:lstStyle/>
          <a:p>
            <a:fld id="{C52ED629-2BC0-4D25-969E-9ED78B40D7C7}" type="slidenum">
              <a:rPr lang="fr-FR" smtClean="0"/>
              <a:t>40</a:t>
            </a:fld>
            <a:endParaRPr lang="fr-FR"/>
          </a:p>
        </p:txBody>
      </p:sp>
      <p:pic>
        <p:nvPicPr>
          <p:cNvPr id="4" name="Picture 3">
            <a:extLst>
              <a:ext uri="{FF2B5EF4-FFF2-40B4-BE49-F238E27FC236}">
                <a16:creationId xmlns:a16="http://schemas.microsoft.com/office/drawing/2014/main" id="{71230A1B-5420-4BA6-A79A-0F06044C7186}"/>
              </a:ext>
            </a:extLst>
          </p:cNvPr>
          <p:cNvPicPr>
            <a:picLocks noChangeAspect="1"/>
          </p:cNvPicPr>
          <p:nvPr/>
        </p:nvPicPr>
        <p:blipFill>
          <a:blip r:embed="rId2"/>
          <a:stretch>
            <a:fillRect/>
          </a:stretch>
        </p:blipFill>
        <p:spPr>
          <a:xfrm>
            <a:off x="4086198" y="1062681"/>
            <a:ext cx="4019604" cy="5450040"/>
          </a:xfrm>
          <a:prstGeom prst="rect">
            <a:avLst/>
          </a:prstGeom>
        </p:spPr>
      </p:pic>
    </p:spTree>
    <p:extLst>
      <p:ext uri="{BB962C8B-B14F-4D97-AF65-F5344CB8AC3E}">
        <p14:creationId xmlns:p14="http://schemas.microsoft.com/office/powerpoint/2010/main" val="23722916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41</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502124"/>
            <a:ext cx="7142144" cy="524205"/>
          </a:xfrm>
        </p:spPr>
        <p:txBody>
          <a:bodyPr/>
          <a:lstStyle/>
          <a:p>
            <a:r>
              <a:rPr lang="fr-FR" sz="3200" dirty="0"/>
              <a:t>Chargement d'avatar (</a:t>
            </a:r>
            <a:r>
              <a:rPr lang="fr-FR" sz="3200" dirty="0" err="1"/>
              <a:t>front-end</a:t>
            </a:r>
            <a:r>
              <a:rPr lang="fr-FR" sz="3200" dirty="0"/>
              <a:t>)</a:t>
            </a:r>
          </a:p>
        </p:txBody>
      </p:sp>
      <p:sp>
        <p:nvSpPr>
          <p:cNvPr id="7" name="Title 1">
            <a:extLst>
              <a:ext uri="{FF2B5EF4-FFF2-40B4-BE49-F238E27FC236}">
                <a16:creationId xmlns:a16="http://schemas.microsoft.com/office/drawing/2014/main" id="{AA88D16D-0C13-4503-A38C-4AD5B377B1D2}"/>
              </a:ext>
            </a:extLst>
          </p:cNvPr>
          <p:cNvSpPr txBox="1">
            <a:spLocks/>
          </p:cNvSpPr>
          <p:nvPr/>
        </p:nvSpPr>
        <p:spPr>
          <a:xfrm>
            <a:off x="749704" y="1171451"/>
            <a:ext cx="7142143"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Component</a:t>
            </a:r>
          </a:p>
        </p:txBody>
      </p:sp>
      <p:pic>
        <p:nvPicPr>
          <p:cNvPr id="3" name="Picture 2">
            <a:extLst>
              <a:ext uri="{FF2B5EF4-FFF2-40B4-BE49-F238E27FC236}">
                <a16:creationId xmlns:a16="http://schemas.microsoft.com/office/drawing/2014/main" id="{19E81C26-980D-4478-948A-7C830625D910}"/>
              </a:ext>
            </a:extLst>
          </p:cNvPr>
          <p:cNvPicPr>
            <a:picLocks noChangeAspect="1"/>
          </p:cNvPicPr>
          <p:nvPr/>
        </p:nvPicPr>
        <p:blipFill>
          <a:blip r:embed="rId2"/>
          <a:stretch>
            <a:fillRect/>
          </a:stretch>
        </p:blipFill>
        <p:spPr>
          <a:xfrm>
            <a:off x="749705" y="1564894"/>
            <a:ext cx="3250421" cy="4833340"/>
          </a:xfrm>
          <a:prstGeom prst="rect">
            <a:avLst/>
          </a:prstGeom>
        </p:spPr>
      </p:pic>
      <p:pic>
        <p:nvPicPr>
          <p:cNvPr id="4" name="Picture 3">
            <a:extLst>
              <a:ext uri="{FF2B5EF4-FFF2-40B4-BE49-F238E27FC236}">
                <a16:creationId xmlns:a16="http://schemas.microsoft.com/office/drawing/2014/main" id="{58C2E63F-46B6-45AD-A3F9-820F65322D80}"/>
              </a:ext>
            </a:extLst>
          </p:cNvPr>
          <p:cNvPicPr>
            <a:picLocks noChangeAspect="1"/>
          </p:cNvPicPr>
          <p:nvPr/>
        </p:nvPicPr>
        <p:blipFill>
          <a:blip r:embed="rId3"/>
          <a:stretch>
            <a:fillRect/>
          </a:stretch>
        </p:blipFill>
        <p:spPr>
          <a:xfrm>
            <a:off x="4781335" y="1553141"/>
            <a:ext cx="3766986" cy="3278036"/>
          </a:xfrm>
          <a:prstGeom prst="rect">
            <a:avLst/>
          </a:prstGeom>
        </p:spPr>
      </p:pic>
      <p:pic>
        <p:nvPicPr>
          <p:cNvPr id="8" name="Picture 7">
            <a:extLst>
              <a:ext uri="{FF2B5EF4-FFF2-40B4-BE49-F238E27FC236}">
                <a16:creationId xmlns:a16="http://schemas.microsoft.com/office/drawing/2014/main" id="{5D5836DB-A38A-4145-A0AF-2659C9FA1E05}"/>
              </a:ext>
            </a:extLst>
          </p:cNvPr>
          <p:cNvPicPr>
            <a:picLocks noChangeAspect="1"/>
          </p:cNvPicPr>
          <p:nvPr/>
        </p:nvPicPr>
        <p:blipFill>
          <a:blip r:embed="rId4"/>
          <a:stretch>
            <a:fillRect/>
          </a:stretch>
        </p:blipFill>
        <p:spPr>
          <a:xfrm>
            <a:off x="4781335" y="5261596"/>
            <a:ext cx="4016676" cy="1097674"/>
          </a:xfrm>
          <a:prstGeom prst="rect">
            <a:avLst/>
          </a:prstGeom>
        </p:spPr>
      </p:pic>
      <p:sp>
        <p:nvSpPr>
          <p:cNvPr id="12" name="Title 1">
            <a:extLst>
              <a:ext uri="{FF2B5EF4-FFF2-40B4-BE49-F238E27FC236}">
                <a16:creationId xmlns:a16="http://schemas.microsoft.com/office/drawing/2014/main" id="{3199A7B5-9BB9-4832-9C88-611DF6F9A751}"/>
              </a:ext>
            </a:extLst>
          </p:cNvPr>
          <p:cNvSpPr txBox="1">
            <a:spLocks/>
          </p:cNvSpPr>
          <p:nvPr/>
        </p:nvSpPr>
        <p:spPr>
          <a:xfrm>
            <a:off x="4781335" y="4964546"/>
            <a:ext cx="3766986"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Service</a:t>
            </a:r>
          </a:p>
        </p:txBody>
      </p:sp>
    </p:spTree>
    <p:extLst>
      <p:ext uri="{BB962C8B-B14F-4D97-AF65-F5344CB8AC3E}">
        <p14:creationId xmlns:p14="http://schemas.microsoft.com/office/powerpoint/2010/main" val="16822548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42</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502124"/>
            <a:ext cx="7142144" cy="524205"/>
          </a:xfrm>
        </p:spPr>
        <p:txBody>
          <a:bodyPr/>
          <a:lstStyle/>
          <a:p>
            <a:r>
              <a:rPr lang="fr-FR" sz="3200" dirty="0"/>
              <a:t>Chargement d'avatar (</a:t>
            </a:r>
            <a:r>
              <a:rPr lang="fr-FR" sz="3200" dirty="0" err="1"/>
              <a:t>back-end</a:t>
            </a:r>
            <a:r>
              <a:rPr lang="fr-FR" sz="3200" dirty="0"/>
              <a:t>)</a:t>
            </a:r>
          </a:p>
        </p:txBody>
      </p:sp>
      <p:sp>
        <p:nvSpPr>
          <p:cNvPr id="7" name="Title 1">
            <a:extLst>
              <a:ext uri="{FF2B5EF4-FFF2-40B4-BE49-F238E27FC236}">
                <a16:creationId xmlns:a16="http://schemas.microsoft.com/office/drawing/2014/main" id="{AA88D16D-0C13-4503-A38C-4AD5B377B1D2}"/>
              </a:ext>
            </a:extLst>
          </p:cNvPr>
          <p:cNvSpPr txBox="1">
            <a:spLocks/>
          </p:cNvSpPr>
          <p:nvPr/>
        </p:nvSpPr>
        <p:spPr>
          <a:xfrm>
            <a:off x="749704" y="1171451"/>
            <a:ext cx="930815"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Controlleur</a:t>
            </a:r>
          </a:p>
        </p:txBody>
      </p:sp>
      <p:sp>
        <p:nvSpPr>
          <p:cNvPr id="12" name="Title 1">
            <a:extLst>
              <a:ext uri="{FF2B5EF4-FFF2-40B4-BE49-F238E27FC236}">
                <a16:creationId xmlns:a16="http://schemas.microsoft.com/office/drawing/2014/main" id="{3199A7B5-9BB9-4832-9C88-611DF6F9A751}"/>
              </a:ext>
            </a:extLst>
          </p:cNvPr>
          <p:cNvSpPr txBox="1">
            <a:spLocks/>
          </p:cNvSpPr>
          <p:nvPr/>
        </p:nvSpPr>
        <p:spPr>
          <a:xfrm>
            <a:off x="749704" y="3127030"/>
            <a:ext cx="1202664"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Storage Service</a:t>
            </a:r>
          </a:p>
        </p:txBody>
      </p:sp>
      <p:pic>
        <p:nvPicPr>
          <p:cNvPr id="5" name="Picture 4">
            <a:extLst>
              <a:ext uri="{FF2B5EF4-FFF2-40B4-BE49-F238E27FC236}">
                <a16:creationId xmlns:a16="http://schemas.microsoft.com/office/drawing/2014/main" id="{DB5E4140-5875-43BC-BCCF-C006EB56F9E9}"/>
              </a:ext>
            </a:extLst>
          </p:cNvPr>
          <p:cNvPicPr>
            <a:picLocks noChangeAspect="1"/>
          </p:cNvPicPr>
          <p:nvPr/>
        </p:nvPicPr>
        <p:blipFill>
          <a:blip r:embed="rId2"/>
          <a:stretch>
            <a:fillRect/>
          </a:stretch>
        </p:blipFill>
        <p:spPr>
          <a:xfrm>
            <a:off x="749704" y="1645134"/>
            <a:ext cx="7798617" cy="1256534"/>
          </a:xfrm>
          <a:prstGeom prst="rect">
            <a:avLst/>
          </a:prstGeom>
        </p:spPr>
      </p:pic>
      <p:pic>
        <p:nvPicPr>
          <p:cNvPr id="6" name="Picture 5">
            <a:extLst>
              <a:ext uri="{FF2B5EF4-FFF2-40B4-BE49-F238E27FC236}">
                <a16:creationId xmlns:a16="http://schemas.microsoft.com/office/drawing/2014/main" id="{6DE2BCFD-EC77-412D-86D2-4C3282243B60}"/>
              </a:ext>
            </a:extLst>
          </p:cNvPr>
          <p:cNvPicPr>
            <a:picLocks noChangeAspect="1"/>
          </p:cNvPicPr>
          <p:nvPr/>
        </p:nvPicPr>
        <p:blipFill>
          <a:blip r:embed="rId3"/>
          <a:stretch>
            <a:fillRect/>
          </a:stretch>
        </p:blipFill>
        <p:spPr>
          <a:xfrm>
            <a:off x="749704" y="3520473"/>
            <a:ext cx="5898231" cy="1858154"/>
          </a:xfrm>
          <a:prstGeom prst="rect">
            <a:avLst/>
          </a:prstGeom>
        </p:spPr>
      </p:pic>
      <p:pic>
        <p:nvPicPr>
          <p:cNvPr id="9" name="Picture 8">
            <a:extLst>
              <a:ext uri="{FF2B5EF4-FFF2-40B4-BE49-F238E27FC236}">
                <a16:creationId xmlns:a16="http://schemas.microsoft.com/office/drawing/2014/main" id="{86CD4F2B-87BB-4648-895C-8FC2F5FA117E}"/>
              </a:ext>
            </a:extLst>
          </p:cNvPr>
          <p:cNvPicPr>
            <a:picLocks noChangeAspect="1"/>
          </p:cNvPicPr>
          <p:nvPr/>
        </p:nvPicPr>
        <p:blipFill>
          <a:blip r:embed="rId4"/>
          <a:stretch>
            <a:fillRect/>
          </a:stretch>
        </p:blipFill>
        <p:spPr>
          <a:xfrm>
            <a:off x="749704" y="5721254"/>
            <a:ext cx="3410404" cy="661836"/>
          </a:xfrm>
          <a:prstGeom prst="rect">
            <a:avLst/>
          </a:prstGeom>
        </p:spPr>
      </p:pic>
      <p:sp>
        <p:nvSpPr>
          <p:cNvPr id="13" name="Title 1">
            <a:extLst>
              <a:ext uri="{FF2B5EF4-FFF2-40B4-BE49-F238E27FC236}">
                <a16:creationId xmlns:a16="http://schemas.microsoft.com/office/drawing/2014/main" id="{A1B901FF-D955-4C68-AAA2-3E89DFE3ABAD}"/>
              </a:ext>
            </a:extLst>
          </p:cNvPr>
          <p:cNvSpPr txBox="1">
            <a:spLocks/>
          </p:cNvSpPr>
          <p:nvPr/>
        </p:nvSpPr>
        <p:spPr>
          <a:xfrm>
            <a:off x="749704" y="5404577"/>
            <a:ext cx="1202664"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User Service</a:t>
            </a:r>
          </a:p>
        </p:txBody>
      </p:sp>
      <p:pic>
        <p:nvPicPr>
          <p:cNvPr id="11" name="Picture 10">
            <a:extLst>
              <a:ext uri="{FF2B5EF4-FFF2-40B4-BE49-F238E27FC236}">
                <a16:creationId xmlns:a16="http://schemas.microsoft.com/office/drawing/2014/main" id="{37FD8025-13E7-477C-AB35-26D9B1599C8C}"/>
              </a:ext>
            </a:extLst>
          </p:cNvPr>
          <p:cNvPicPr>
            <a:picLocks noChangeAspect="1"/>
          </p:cNvPicPr>
          <p:nvPr/>
        </p:nvPicPr>
        <p:blipFill>
          <a:blip r:embed="rId5"/>
          <a:stretch>
            <a:fillRect/>
          </a:stretch>
        </p:blipFill>
        <p:spPr>
          <a:xfrm>
            <a:off x="6951312" y="5029314"/>
            <a:ext cx="4756436" cy="1247167"/>
          </a:xfrm>
          <a:prstGeom prst="rect">
            <a:avLst/>
          </a:prstGeom>
        </p:spPr>
      </p:pic>
      <p:sp>
        <p:nvSpPr>
          <p:cNvPr id="14" name="Title 1">
            <a:extLst>
              <a:ext uri="{FF2B5EF4-FFF2-40B4-BE49-F238E27FC236}">
                <a16:creationId xmlns:a16="http://schemas.microsoft.com/office/drawing/2014/main" id="{93D6A70A-8CAD-43B0-BE34-35352FD066EA}"/>
              </a:ext>
            </a:extLst>
          </p:cNvPr>
          <p:cNvSpPr txBox="1">
            <a:spLocks/>
          </p:cNvSpPr>
          <p:nvPr/>
        </p:nvSpPr>
        <p:spPr>
          <a:xfrm>
            <a:off x="6951312" y="4592681"/>
            <a:ext cx="1311239"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User Repository</a:t>
            </a:r>
          </a:p>
        </p:txBody>
      </p:sp>
    </p:spTree>
    <p:extLst>
      <p:ext uri="{BB962C8B-B14F-4D97-AF65-F5344CB8AC3E}">
        <p14:creationId xmlns:p14="http://schemas.microsoft.com/office/powerpoint/2010/main" val="30338651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6E8CC8-E3D3-49A0-8F7E-D06F5E89201C}"/>
              </a:ext>
            </a:extLst>
          </p:cNvPr>
          <p:cNvSpPr>
            <a:spLocks noGrp="1"/>
          </p:cNvSpPr>
          <p:nvPr>
            <p:ph type="title"/>
          </p:nvPr>
        </p:nvSpPr>
        <p:spPr>
          <a:xfrm>
            <a:off x="525160" y="488784"/>
            <a:ext cx="6320483" cy="514404"/>
          </a:xfrm>
        </p:spPr>
        <p:txBody>
          <a:bodyPr/>
          <a:lstStyle/>
          <a:p>
            <a:r>
              <a:rPr lang="fr-FR" dirty="0"/>
              <a:t>Chargement d'avatar</a:t>
            </a:r>
          </a:p>
        </p:txBody>
      </p:sp>
      <p:sp>
        <p:nvSpPr>
          <p:cNvPr id="5" name="Slide Number Placeholder 4">
            <a:extLst>
              <a:ext uri="{FF2B5EF4-FFF2-40B4-BE49-F238E27FC236}">
                <a16:creationId xmlns:a16="http://schemas.microsoft.com/office/drawing/2014/main" id="{40360F2A-729E-43E7-BE3D-E865638F1C43}"/>
              </a:ext>
            </a:extLst>
          </p:cNvPr>
          <p:cNvSpPr>
            <a:spLocks noGrp="1"/>
          </p:cNvSpPr>
          <p:nvPr>
            <p:ph type="sldNum" sz="quarter" idx="12"/>
          </p:nvPr>
        </p:nvSpPr>
        <p:spPr/>
        <p:txBody>
          <a:bodyPr/>
          <a:lstStyle/>
          <a:p>
            <a:fld id="{C52ED629-2BC0-4D25-969E-9ED78B40D7C7}" type="slidenum">
              <a:rPr lang="fr-FR" smtClean="0"/>
              <a:t>43</a:t>
            </a:fld>
            <a:endParaRPr lang="fr-FR"/>
          </a:p>
        </p:txBody>
      </p:sp>
      <p:pic>
        <p:nvPicPr>
          <p:cNvPr id="4" name="Picture 3">
            <a:extLst>
              <a:ext uri="{FF2B5EF4-FFF2-40B4-BE49-F238E27FC236}">
                <a16:creationId xmlns:a16="http://schemas.microsoft.com/office/drawing/2014/main" id="{1FC3D2C9-B204-4BF4-A0BF-2DF164A6128B}"/>
              </a:ext>
            </a:extLst>
          </p:cNvPr>
          <p:cNvPicPr>
            <a:picLocks noChangeAspect="1"/>
          </p:cNvPicPr>
          <p:nvPr/>
        </p:nvPicPr>
        <p:blipFill>
          <a:blip r:embed="rId2"/>
          <a:stretch>
            <a:fillRect/>
          </a:stretch>
        </p:blipFill>
        <p:spPr>
          <a:xfrm>
            <a:off x="3732318" y="2236670"/>
            <a:ext cx="3838255" cy="2384659"/>
          </a:xfrm>
          <a:prstGeom prst="rect">
            <a:avLst/>
          </a:prstGeom>
        </p:spPr>
      </p:pic>
    </p:spTree>
    <p:extLst>
      <p:ext uri="{BB962C8B-B14F-4D97-AF65-F5344CB8AC3E}">
        <p14:creationId xmlns:p14="http://schemas.microsoft.com/office/powerpoint/2010/main" val="24993374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44</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502124"/>
            <a:ext cx="7142144" cy="524205"/>
          </a:xfrm>
        </p:spPr>
        <p:txBody>
          <a:bodyPr/>
          <a:lstStyle/>
          <a:p>
            <a:r>
              <a:rPr lang="fr-FR" sz="3200" dirty="0"/>
              <a:t>Page publication (</a:t>
            </a:r>
            <a:r>
              <a:rPr lang="fr-FR" sz="3200" dirty="0" err="1"/>
              <a:t>front-end</a:t>
            </a:r>
            <a:r>
              <a:rPr lang="fr-FR" sz="3200" dirty="0"/>
              <a:t>)</a:t>
            </a:r>
          </a:p>
        </p:txBody>
      </p:sp>
      <p:sp>
        <p:nvSpPr>
          <p:cNvPr id="7" name="Title 1">
            <a:extLst>
              <a:ext uri="{FF2B5EF4-FFF2-40B4-BE49-F238E27FC236}">
                <a16:creationId xmlns:a16="http://schemas.microsoft.com/office/drawing/2014/main" id="{AA88D16D-0C13-4503-A38C-4AD5B377B1D2}"/>
              </a:ext>
            </a:extLst>
          </p:cNvPr>
          <p:cNvSpPr txBox="1">
            <a:spLocks/>
          </p:cNvSpPr>
          <p:nvPr/>
        </p:nvSpPr>
        <p:spPr>
          <a:xfrm>
            <a:off x="749704" y="1171451"/>
            <a:ext cx="7403200"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Component</a:t>
            </a:r>
          </a:p>
        </p:txBody>
      </p:sp>
      <p:sp>
        <p:nvSpPr>
          <p:cNvPr id="12" name="Title 1">
            <a:extLst>
              <a:ext uri="{FF2B5EF4-FFF2-40B4-BE49-F238E27FC236}">
                <a16:creationId xmlns:a16="http://schemas.microsoft.com/office/drawing/2014/main" id="{3199A7B5-9BB9-4832-9C88-611DF6F9A751}"/>
              </a:ext>
            </a:extLst>
          </p:cNvPr>
          <p:cNvSpPr txBox="1">
            <a:spLocks/>
          </p:cNvSpPr>
          <p:nvPr/>
        </p:nvSpPr>
        <p:spPr>
          <a:xfrm>
            <a:off x="684318" y="4256092"/>
            <a:ext cx="3766986"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Service</a:t>
            </a:r>
          </a:p>
        </p:txBody>
      </p:sp>
      <p:pic>
        <p:nvPicPr>
          <p:cNvPr id="5" name="Picture 4">
            <a:extLst>
              <a:ext uri="{FF2B5EF4-FFF2-40B4-BE49-F238E27FC236}">
                <a16:creationId xmlns:a16="http://schemas.microsoft.com/office/drawing/2014/main" id="{5D501F5E-79F2-42B6-BB40-9BAE0224B225}"/>
              </a:ext>
            </a:extLst>
          </p:cNvPr>
          <p:cNvPicPr>
            <a:picLocks noChangeAspect="1"/>
          </p:cNvPicPr>
          <p:nvPr/>
        </p:nvPicPr>
        <p:blipFill>
          <a:blip r:embed="rId2"/>
          <a:stretch>
            <a:fillRect/>
          </a:stretch>
        </p:blipFill>
        <p:spPr>
          <a:xfrm>
            <a:off x="749704" y="1564894"/>
            <a:ext cx="4201237" cy="2444357"/>
          </a:xfrm>
          <a:prstGeom prst="rect">
            <a:avLst/>
          </a:prstGeom>
        </p:spPr>
      </p:pic>
      <p:pic>
        <p:nvPicPr>
          <p:cNvPr id="11" name="Picture 10">
            <a:extLst>
              <a:ext uri="{FF2B5EF4-FFF2-40B4-BE49-F238E27FC236}">
                <a16:creationId xmlns:a16="http://schemas.microsoft.com/office/drawing/2014/main" id="{5DD5ED09-D9D8-423F-8904-296331342E77}"/>
              </a:ext>
            </a:extLst>
          </p:cNvPr>
          <p:cNvPicPr>
            <a:picLocks noChangeAspect="1"/>
          </p:cNvPicPr>
          <p:nvPr/>
        </p:nvPicPr>
        <p:blipFill>
          <a:blip r:embed="rId3"/>
          <a:stretch>
            <a:fillRect/>
          </a:stretch>
        </p:blipFill>
        <p:spPr>
          <a:xfrm>
            <a:off x="684318" y="4751255"/>
            <a:ext cx="3409887" cy="583270"/>
          </a:xfrm>
          <a:prstGeom prst="rect">
            <a:avLst/>
          </a:prstGeom>
        </p:spPr>
      </p:pic>
    </p:spTree>
    <p:extLst>
      <p:ext uri="{BB962C8B-B14F-4D97-AF65-F5344CB8AC3E}">
        <p14:creationId xmlns:p14="http://schemas.microsoft.com/office/powerpoint/2010/main" val="30685464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D2B9A0-649C-43F6-89F9-515C0A14EC30}"/>
              </a:ext>
            </a:extLst>
          </p:cNvPr>
          <p:cNvSpPr>
            <a:spLocks noGrp="1"/>
          </p:cNvSpPr>
          <p:nvPr>
            <p:ph type="sldNum" sz="quarter" idx="12"/>
          </p:nvPr>
        </p:nvSpPr>
        <p:spPr/>
        <p:txBody>
          <a:bodyPr/>
          <a:lstStyle/>
          <a:p>
            <a:fld id="{C52ED629-2BC0-4D25-969E-9ED78B40D7C7}" type="slidenum">
              <a:rPr lang="fr-FR" smtClean="0"/>
              <a:t>45</a:t>
            </a:fld>
            <a:endParaRPr lang="fr-FR"/>
          </a:p>
        </p:txBody>
      </p:sp>
      <p:sp>
        <p:nvSpPr>
          <p:cNvPr id="10" name="Title 1">
            <a:extLst>
              <a:ext uri="{FF2B5EF4-FFF2-40B4-BE49-F238E27FC236}">
                <a16:creationId xmlns:a16="http://schemas.microsoft.com/office/drawing/2014/main" id="{918D844B-CD2C-44BF-A21F-AC45672375D1}"/>
              </a:ext>
            </a:extLst>
          </p:cNvPr>
          <p:cNvSpPr>
            <a:spLocks noGrp="1"/>
          </p:cNvSpPr>
          <p:nvPr>
            <p:ph type="title"/>
          </p:nvPr>
        </p:nvSpPr>
        <p:spPr>
          <a:xfrm>
            <a:off x="749705" y="502124"/>
            <a:ext cx="7142144" cy="524205"/>
          </a:xfrm>
        </p:spPr>
        <p:txBody>
          <a:bodyPr/>
          <a:lstStyle/>
          <a:p>
            <a:r>
              <a:rPr lang="fr-FR" sz="3200" dirty="0"/>
              <a:t>Page publication (</a:t>
            </a:r>
            <a:r>
              <a:rPr lang="fr-FR" sz="3200" dirty="0" err="1"/>
              <a:t>back-end</a:t>
            </a:r>
            <a:r>
              <a:rPr lang="fr-FR" sz="3200" dirty="0"/>
              <a:t>)</a:t>
            </a:r>
          </a:p>
        </p:txBody>
      </p:sp>
      <p:sp>
        <p:nvSpPr>
          <p:cNvPr id="7" name="Title 1">
            <a:extLst>
              <a:ext uri="{FF2B5EF4-FFF2-40B4-BE49-F238E27FC236}">
                <a16:creationId xmlns:a16="http://schemas.microsoft.com/office/drawing/2014/main" id="{AA88D16D-0C13-4503-A38C-4AD5B377B1D2}"/>
              </a:ext>
            </a:extLst>
          </p:cNvPr>
          <p:cNvSpPr txBox="1">
            <a:spLocks/>
          </p:cNvSpPr>
          <p:nvPr/>
        </p:nvSpPr>
        <p:spPr>
          <a:xfrm>
            <a:off x="749704" y="1171451"/>
            <a:ext cx="930815"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Controlleur</a:t>
            </a:r>
          </a:p>
        </p:txBody>
      </p:sp>
      <p:sp>
        <p:nvSpPr>
          <p:cNvPr id="12" name="Title 1">
            <a:extLst>
              <a:ext uri="{FF2B5EF4-FFF2-40B4-BE49-F238E27FC236}">
                <a16:creationId xmlns:a16="http://schemas.microsoft.com/office/drawing/2014/main" id="{3199A7B5-9BB9-4832-9C88-611DF6F9A751}"/>
              </a:ext>
            </a:extLst>
          </p:cNvPr>
          <p:cNvSpPr txBox="1">
            <a:spLocks/>
          </p:cNvSpPr>
          <p:nvPr/>
        </p:nvSpPr>
        <p:spPr>
          <a:xfrm>
            <a:off x="749704" y="2441228"/>
            <a:ext cx="1202664" cy="248321"/>
          </a:xfrm>
          <a:prstGeom prst="rect">
            <a:avLst/>
          </a:prstGeom>
          <a:solidFill>
            <a:schemeClr val="accent5">
              <a:lumMod val="20000"/>
              <a:lumOff val="80000"/>
            </a:schemeClr>
          </a:solidFill>
        </p:spPr>
        <p:txBody>
          <a:bodyPr vert="horz" lIns="91440" tIns="45720" rIns="91440" bIns="45720" rtlCol="0" anchor="b">
            <a:noAutofit/>
          </a:bodyPr>
          <a:lstStyle>
            <a:lvl1pPr algn="l" defTabSz="914400" rtl="0" eaLnBrk="1" latinLnBrk="0" hangingPunct="1">
              <a:lnSpc>
                <a:spcPct val="90000"/>
              </a:lnSpc>
              <a:spcBef>
                <a:spcPct val="0"/>
              </a:spcBef>
              <a:buNone/>
              <a:defRPr sz="4000" b="0" kern="1200">
                <a:solidFill>
                  <a:schemeClr val="accent1"/>
                </a:solidFill>
                <a:latin typeface="+mj-lt"/>
                <a:ea typeface="+mj-ea"/>
                <a:cs typeface="+mj-cs"/>
              </a:defRPr>
            </a:lvl1pPr>
          </a:lstStyle>
          <a:p>
            <a:r>
              <a:rPr lang="fr-FR" sz="1200" dirty="0"/>
              <a:t>Service</a:t>
            </a:r>
          </a:p>
        </p:txBody>
      </p:sp>
      <p:pic>
        <p:nvPicPr>
          <p:cNvPr id="4" name="Picture 3">
            <a:extLst>
              <a:ext uri="{FF2B5EF4-FFF2-40B4-BE49-F238E27FC236}">
                <a16:creationId xmlns:a16="http://schemas.microsoft.com/office/drawing/2014/main" id="{1905DE77-13A8-4D3E-AC7B-FFA144AFEF34}"/>
              </a:ext>
            </a:extLst>
          </p:cNvPr>
          <p:cNvPicPr>
            <a:picLocks noChangeAspect="1"/>
          </p:cNvPicPr>
          <p:nvPr/>
        </p:nvPicPr>
        <p:blipFill>
          <a:blip r:embed="rId2"/>
          <a:stretch>
            <a:fillRect/>
          </a:stretch>
        </p:blipFill>
        <p:spPr>
          <a:xfrm>
            <a:off x="749704" y="1599905"/>
            <a:ext cx="3542210" cy="617449"/>
          </a:xfrm>
          <a:prstGeom prst="rect">
            <a:avLst/>
          </a:prstGeom>
        </p:spPr>
      </p:pic>
      <p:pic>
        <p:nvPicPr>
          <p:cNvPr id="8" name="Picture 7">
            <a:extLst>
              <a:ext uri="{FF2B5EF4-FFF2-40B4-BE49-F238E27FC236}">
                <a16:creationId xmlns:a16="http://schemas.microsoft.com/office/drawing/2014/main" id="{199D3504-84A0-41F1-9D8A-93B2C8731A7D}"/>
              </a:ext>
            </a:extLst>
          </p:cNvPr>
          <p:cNvPicPr>
            <a:picLocks noChangeAspect="1"/>
          </p:cNvPicPr>
          <p:nvPr/>
        </p:nvPicPr>
        <p:blipFill>
          <a:blip r:embed="rId3"/>
          <a:stretch>
            <a:fillRect/>
          </a:stretch>
        </p:blipFill>
        <p:spPr>
          <a:xfrm>
            <a:off x="749704" y="2875062"/>
            <a:ext cx="5346296" cy="2522275"/>
          </a:xfrm>
          <a:prstGeom prst="rect">
            <a:avLst/>
          </a:prstGeom>
        </p:spPr>
      </p:pic>
    </p:spTree>
    <p:extLst>
      <p:ext uri="{BB962C8B-B14F-4D97-AF65-F5344CB8AC3E}">
        <p14:creationId xmlns:p14="http://schemas.microsoft.com/office/powerpoint/2010/main" val="7490708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6E8CC8-E3D3-49A0-8F7E-D06F5E89201C}"/>
              </a:ext>
            </a:extLst>
          </p:cNvPr>
          <p:cNvSpPr>
            <a:spLocks noGrp="1"/>
          </p:cNvSpPr>
          <p:nvPr>
            <p:ph type="title"/>
          </p:nvPr>
        </p:nvSpPr>
        <p:spPr>
          <a:xfrm>
            <a:off x="525160" y="488784"/>
            <a:ext cx="6320483" cy="514404"/>
          </a:xfrm>
        </p:spPr>
        <p:txBody>
          <a:bodyPr/>
          <a:lstStyle/>
          <a:p>
            <a:r>
              <a:rPr lang="fr-FR" dirty="0"/>
              <a:t>Page publication</a:t>
            </a:r>
          </a:p>
        </p:txBody>
      </p:sp>
      <p:sp>
        <p:nvSpPr>
          <p:cNvPr id="5" name="Slide Number Placeholder 4">
            <a:extLst>
              <a:ext uri="{FF2B5EF4-FFF2-40B4-BE49-F238E27FC236}">
                <a16:creationId xmlns:a16="http://schemas.microsoft.com/office/drawing/2014/main" id="{40360F2A-729E-43E7-BE3D-E865638F1C43}"/>
              </a:ext>
            </a:extLst>
          </p:cNvPr>
          <p:cNvSpPr>
            <a:spLocks noGrp="1"/>
          </p:cNvSpPr>
          <p:nvPr>
            <p:ph type="sldNum" sz="quarter" idx="12"/>
          </p:nvPr>
        </p:nvSpPr>
        <p:spPr/>
        <p:txBody>
          <a:bodyPr/>
          <a:lstStyle/>
          <a:p>
            <a:fld id="{C52ED629-2BC0-4D25-969E-9ED78B40D7C7}" type="slidenum">
              <a:rPr lang="fr-FR" smtClean="0"/>
              <a:t>46</a:t>
            </a:fld>
            <a:endParaRPr lang="fr-FR"/>
          </a:p>
        </p:txBody>
      </p:sp>
      <p:pic>
        <p:nvPicPr>
          <p:cNvPr id="2" name="Picture 1">
            <a:extLst>
              <a:ext uri="{FF2B5EF4-FFF2-40B4-BE49-F238E27FC236}">
                <a16:creationId xmlns:a16="http://schemas.microsoft.com/office/drawing/2014/main" id="{DAA68478-6E69-42A6-9AC7-87FBF3177DCE}"/>
              </a:ext>
            </a:extLst>
          </p:cNvPr>
          <p:cNvPicPr>
            <a:picLocks noChangeAspect="1"/>
          </p:cNvPicPr>
          <p:nvPr/>
        </p:nvPicPr>
        <p:blipFill>
          <a:blip r:embed="rId2"/>
          <a:stretch>
            <a:fillRect/>
          </a:stretch>
        </p:blipFill>
        <p:spPr>
          <a:xfrm>
            <a:off x="2204374" y="1230906"/>
            <a:ext cx="7783251" cy="5138310"/>
          </a:xfrm>
          <a:prstGeom prst="rect">
            <a:avLst/>
          </a:prstGeom>
        </p:spPr>
      </p:pic>
    </p:spTree>
    <p:extLst>
      <p:ext uri="{BB962C8B-B14F-4D97-AF65-F5344CB8AC3E}">
        <p14:creationId xmlns:p14="http://schemas.microsoft.com/office/powerpoint/2010/main" val="25323743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4AB454-D70A-4CD2-A386-387CA35C6C9C}"/>
              </a:ext>
            </a:extLst>
          </p:cNvPr>
          <p:cNvSpPr>
            <a:spLocks noGrp="1"/>
          </p:cNvSpPr>
          <p:nvPr>
            <p:ph type="title"/>
          </p:nvPr>
        </p:nvSpPr>
        <p:spPr>
          <a:xfrm>
            <a:off x="1009650" y="1031266"/>
            <a:ext cx="3931920" cy="1398270"/>
          </a:xfrm>
        </p:spPr>
        <p:txBody>
          <a:bodyPr/>
          <a:lstStyle/>
          <a:p>
            <a:r>
              <a:rPr lang="fr-FR" sz="3200" dirty="0"/>
              <a:t>La tâche de fonds périodique</a:t>
            </a:r>
          </a:p>
        </p:txBody>
      </p:sp>
      <p:sp>
        <p:nvSpPr>
          <p:cNvPr id="5" name="Text Placeholder 4">
            <a:extLst>
              <a:ext uri="{FF2B5EF4-FFF2-40B4-BE49-F238E27FC236}">
                <a16:creationId xmlns:a16="http://schemas.microsoft.com/office/drawing/2014/main" id="{79B0202E-6205-4F11-A66A-033E40E42508}"/>
              </a:ext>
            </a:extLst>
          </p:cNvPr>
          <p:cNvSpPr>
            <a:spLocks noGrp="1"/>
          </p:cNvSpPr>
          <p:nvPr>
            <p:ph type="body" sz="half" idx="2"/>
          </p:nvPr>
        </p:nvSpPr>
        <p:spPr>
          <a:xfrm>
            <a:off x="1038224" y="2675144"/>
            <a:ext cx="3865246" cy="3374777"/>
          </a:xfrm>
        </p:spPr>
        <p:txBody>
          <a:bodyPr>
            <a:noAutofit/>
          </a:bodyPr>
          <a:lstStyle/>
          <a:p>
            <a:pPr algn="just"/>
            <a:r>
              <a:rPr lang="fr-FR" dirty="0" err="1"/>
              <a:t>com.example.task</a:t>
            </a:r>
            <a:endParaRPr lang="fr-FR" dirty="0"/>
          </a:p>
          <a:p>
            <a:pPr algn="just"/>
            <a:r>
              <a:rPr lang="fr-FR" dirty="0"/>
              <a:t>Tâche de fonds périodique</a:t>
            </a:r>
            <a:r>
              <a:rPr lang="fr-FR" dirty="0">
                <a:solidFill>
                  <a:srgbClr val="4A66AC"/>
                </a:solidFill>
              </a:rPr>
              <a:t> qui s’exécute dans le fonds à intervalle régulière avec l’extension apscheduler.</a:t>
            </a:r>
          </a:p>
          <a:p>
            <a:pPr algn="just"/>
            <a:r>
              <a:rPr lang="fr-FR" dirty="0">
                <a:solidFill>
                  <a:srgbClr val="4A66AC"/>
                </a:solidFill>
              </a:rPr>
              <a:t>Cette tâche est lancée en même temps que l’application Flask via le module app_plus_scheduler.py.</a:t>
            </a:r>
          </a:p>
          <a:p>
            <a:pPr algn="just"/>
            <a:r>
              <a:rPr lang="fr-FR" dirty="0">
                <a:solidFill>
                  <a:srgbClr val="4A66AC"/>
                </a:solidFill>
              </a:rPr>
              <a:t>Elle s’exécute une 1</a:t>
            </a:r>
            <a:r>
              <a:rPr lang="fr-FR" baseline="30000" dirty="0">
                <a:solidFill>
                  <a:srgbClr val="4A66AC"/>
                </a:solidFill>
              </a:rPr>
              <a:t>ière</a:t>
            </a:r>
            <a:r>
              <a:rPr lang="fr-FR" dirty="0">
                <a:solidFill>
                  <a:srgbClr val="4A66AC"/>
                </a:solidFill>
              </a:rPr>
              <a:t> fois directement au lancement et ensuite par intervalles, dans notre cas toutes les 60 minutes.</a:t>
            </a:r>
          </a:p>
          <a:p>
            <a:pPr algn="just"/>
            <a:endParaRPr lang="fr-FR" dirty="0"/>
          </a:p>
        </p:txBody>
      </p:sp>
      <p:sp>
        <p:nvSpPr>
          <p:cNvPr id="2" name="Slide Number Placeholder 1">
            <a:extLst>
              <a:ext uri="{FF2B5EF4-FFF2-40B4-BE49-F238E27FC236}">
                <a16:creationId xmlns:a16="http://schemas.microsoft.com/office/drawing/2014/main" id="{8D70FDCB-5278-4CF3-8A2A-ACB5F9ED2E45}"/>
              </a:ext>
            </a:extLst>
          </p:cNvPr>
          <p:cNvSpPr>
            <a:spLocks noGrp="1"/>
          </p:cNvSpPr>
          <p:nvPr>
            <p:ph type="sldNum" sz="quarter" idx="12"/>
          </p:nvPr>
        </p:nvSpPr>
        <p:spPr/>
        <p:txBody>
          <a:bodyPr/>
          <a:lstStyle/>
          <a:p>
            <a:fld id="{C52ED629-2BC0-4D25-969E-9ED78B40D7C7}" type="slidenum">
              <a:rPr lang="fr-FR" smtClean="0"/>
              <a:t>47</a:t>
            </a:fld>
            <a:endParaRPr lang="fr-FR"/>
          </a:p>
        </p:txBody>
      </p:sp>
      <p:pic>
        <p:nvPicPr>
          <p:cNvPr id="6" name="Picture 5">
            <a:extLst>
              <a:ext uri="{FF2B5EF4-FFF2-40B4-BE49-F238E27FC236}">
                <a16:creationId xmlns:a16="http://schemas.microsoft.com/office/drawing/2014/main" id="{BBC9E1B5-1573-4CD8-808D-3172D21F2A4C}"/>
              </a:ext>
            </a:extLst>
          </p:cNvPr>
          <p:cNvPicPr>
            <a:picLocks noChangeAspect="1"/>
          </p:cNvPicPr>
          <p:nvPr/>
        </p:nvPicPr>
        <p:blipFill>
          <a:blip r:embed="rId2"/>
          <a:stretch>
            <a:fillRect/>
          </a:stretch>
        </p:blipFill>
        <p:spPr>
          <a:xfrm>
            <a:off x="5359328" y="1345157"/>
            <a:ext cx="6138730" cy="3600000"/>
          </a:xfrm>
          <a:prstGeom prst="rect">
            <a:avLst/>
          </a:prstGeom>
        </p:spPr>
      </p:pic>
    </p:spTree>
    <p:extLst>
      <p:ext uri="{BB962C8B-B14F-4D97-AF65-F5344CB8AC3E}">
        <p14:creationId xmlns:p14="http://schemas.microsoft.com/office/powerpoint/2010/main" val="32907339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BE37F-9AF0-44C0-886D-14D92A5E9052}"/>
              </a:ext>
            </a:extLst>
          </p:cNvPr>
          <p:cNvSpPr>
            <a:spLocks noGrp="1"/>
          </p:cNvSpPr>
          <p:nvPr>
            <p:ph type="title"/>
          </p:nvPr>
        </p:nvSpPr>
        <p:spPr>
          <a:xfrm>
            <a:off x="1143000" y="609600"/>
            <a:ext cx="9875520" cy="704850"/>
          </a:xfrm>
        </p:spPr>
        <p:txBody>
          <a:bodyPr/>
          <a:lstStyle/>
          <a:p>
            <a:r>
              <a:rPr lang="fr-FR" dirty="0"/>
              <a:t>Conclusion</a:t>
            </a:r>
          </a:p>
        </p:txBody>
      </p:sp>
      <p:sp>
        <p:nvSpPr>
          <p:cNvPr id="3" name="Content Placeholder 2">
            <a:extLst>
              <a:ext uri="{FF2B5EF4-FFF2-40B4-BE49-F238E27FC236}">
                <a16:creationId xmlns:a16="http://schemas.microsoft.com/office/drawing/2014/main" id="{CE097B3D-BE10-49DA-8991-C23783BC9299}"/>
              </a:ext>
            </a:extLst>
          </p:cNvPr>
          <p:cNvSpPr>
            <a:spLocks noGrp="1"/>
          </p:cNvSpPr>
          <p:nvPr>
            <p:ph idx="1"/>
          </p:nvPr>
        </p:nvSpPr>
        <p:spPr>
          <a:xfrm>
            <a:off x="1143000" y="1457325"/>
            <a:ext cx="9872871" cy="4638675"/>
          </a:xfrm>
        </p:spPr>
        <p:txBody>
          <a:bodyPr>
            <a:normAutofit/>
          </a:bodyPr>
          <a:lstStyle/>
          <a:p>
            <a:pPr marL="45720" indent="0" algn="just">
              <a:buNone/>
            </a:pPr>
            <a:r>
              <a:rPr lang="fr-FR" dirty="0"/>
              <a:t>L’application web est en ligne avec la partie principale du backend en fonction (historisation et recherche), tout en ayant rempli un certains nombres de tests et de critères concernant le code.</a:t>
            </a:r>
          </a:p>
          <a:p>
            <a:pPr marL="45720" indent="0">
              <a:buNone/>
            </a:pPr>
            <a:r>
              <a:rPr lang="fr-FR" dirty="0"/>
              <a:t>Vu la durée du stage (2 mois) et le temps nécessaire pour me former reste à faire :</a:t>
            </a:r>
          </a:p>
          <a:p>
            <a:pPr>
              <a:buFont typeface="Wingdings" panose="05000000000000000000" pitchFamily="2" charset="2"/>
              <a:buChar char="§"/>
            </a:pPr>
            <a:r>
              <a:rPr lang="fr-FR" dirty="0"/>
              <a:t>Compléter le Backend.</a:t>
            </a:r>
          </a:p>
          <a:p>
            <a:pPr>
              <a:buFont typeface="Wingdings" panose="05000000000000000000" pitchFamily="2" charset="2"/>
              <a:buChar char="§"/>
            </a:pPr>
            <a:r>
              <a:rPr lang="fr-FR" dirty="0"/>
              <a:t>Le Frontend : L’</a:t>
            </a:r>
            <a:r>
              <a:rPr lang="fr-FR" dirty="0" err="1"/>
              <a:t>authentication</a:t>
            </a:r>
            <a:r>
              <a:rPr lang="fr-FR" dirty="0"/>
              <a:t>.</a:t>
            </a:r>
          </a:p>
          <a:p>
            <a:pPr>
              <a:buFont typeface="Wingdings" panose="05000000000000000000" pitchFamily="2" charset="2"/>
              <a:buChar char="§"/>
            </a:pPr>
            <a:r>
              <a:rPr lang="fr-FR" dirty="0"/>
              <a:t>Mettre en place une base de données SAP Hana.</a:t>
            </a:r>
            <a:endParaRPr lang="fr-FR" b="1" dirty="0"/>
          </a:p>
        </p:txBody>
      </p:sp>
      <p:sp>
        <p:nvSpPr>
          <p:cNvPr id="4" name="Slide Number Placeholder 3">
            <a:extLst>
              <a:ext uri="{FF2B5EF4-FFF2-40B4-BE49-F238E27FC236}">
                <a16:creationId xmlns:a16="http://schemas.microsoft.com/office/drawing/2014/main" id="{E2D53EDA-94B6-4BC2-9CF2-C2CE6F0E0F88}"/>
              </a:ext>
            </a:extLst>
          </p:cNvPr>
          <p:cNvSpPr>
            <a:spLocks noGrp="1"/>
          </p:cNvSpPr>
          <p:nvPr>
            <p:ph type="sldNum" sz="quarter" idx="12"/>
          </p:nvPr>
        </p:nvSpPr>
        <p:spPr/>
        <p:txBody>
          <a:bodyPr/>
          <a:lstStyle/>
          <a:p>
            <a:fld id="{C52ED629-2BC0-4D25-969E-9ED78B40D7C7}" type="slidenum">
              <a:rPr lang="fr-FR" smtClean="0"/>
              <a:t>48</a:t>
            </a:fld>
            <a:endParaRPr lang="fr-FR"/>
          </a:p>
        </p:txBody>
      </p:sp>
    </p:spTree>
    <p:extLst>
      <p:ext uri="{BB962C8B-B14F-4D97-AF65-F5344CB8AC3E}">
        <p14:creationId xmlns:p14="http://schemas.microsoft.com/office/powerpoint/2010/main" val="898043026"/>
      </p:ext>
    </p:extLst>
  </p:cSld>
  <p:clrMapOvr>
    <a:masterClrMapping/>
  </p:clrMapOvr>
</p:sld>
</file>

<file path=ppt/theme/theme1.xml><?xml version="1.0" encoding="utf-8"?>
<a:theme xmlns:a="http://schemas.openxmlformats.org/drawingml/2006/main" name="Bas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Base">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e">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D9D01AC2-EE7D-4E49-99EE-8E62E4E7E8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2FD6F1506F564BB79A97F9C245AD34" ma:contentTypeVersion="11" ma:contentTypeDescription="Create a new document." ma:contentTypeScope="" ma:versionID="62e164dc57e6337fb0bd5548eaf0c6d8">
  <xsd:schema xmlns:xsd="http://www.w3.org/2001/XMLSchema" xmlns:xs="http://www.w3.org/2001/XMLSchema" xmlns:p="http://schemas.microsoft.com/office/2006/metadata/properties" xmlns:ns3="386f4720-9db4-4950-8ffd-cd1ef4b846d5" xmlns:ns4="025efd7d-4e1d-49ec-b269-b81537660960" targetNamespace="http://schemas.microsoft.com/office/2006/metadata/properties" ma:root="true" ma:fieldsID="2653329da7d3ee0d0965a72fb4ee83ab" ns3:_="" ns4:_="">
    <xsd:import namespace="386f4720-9db4-4950-8ffd-cd1ef4b846d5"/>
    <xsd:import namespace="025efd7d-4e1d-49ec-b269-b81537660960"/>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3:MediaServiceGenerationTime" minOccurs="0"/>
                <xsd:element ref="ns3:MediaServiceEventHashCode"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6f4720-9db4-4950-8ffd-cd1ef4b846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5efd7d-4e1d-49ec-b269-b8153766096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2BA7C88-2CFC-403E-9565-3952D53463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6f4720-9db4-4950-8ffd-cd1ef4b846d5"/>
    <ds:schemaRef ds:uri="025efd7d-4e1d-49ec-b269-b815376609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A2ECFDE-CCCD-4184-981F-FCB1A88E5D9B}">
  <ds:schemaRefs>
    <ds:schemaRef ds:uri="http://schemas.microsoft.com/sharepoint/v3/contenttype/forms"/>
  </ds:schemaRefs>
</ds:datastoreItem>
</file>

<file path=customXml/itemProps3.xml><?xml version="1.0" encoding="utf-8"?>
<ds:datastoreItem xmlns:ds="http://schemas.openxmlformats.org/officeDocument/2006/customXml" ds:itemID="{F277AA4F-207B-4045-A452-6C98BA7AB2BD}">
  <ds:schemaRefs>
    <ds:schemaRef ds:uri="386f4720-9db4-4950-8ffd-cd1ef4b846d5"/>
    <ds:schemaRef ds:uri="025efd7d-4e1d-49ec-b269-b81537660960"/>
    <ds:schemaRef ds:uri="http://schemas.openxmlformats.org/package/2006/metadata/core-properties"/>
    <ds:schemaRef ds:uri="http://www.w3.org/XML/1998/namespace"/>
    <ds:schemaRef ds:uri="http://purl.org/dc/terms/"/>
    <ds:schemaRef ds:uri="http://purl.org/dc/elements/1.1/"/>
    <ds:schemaRef ds:uri="http://purl.org/dc/dcmitype/"/>
    <ds:schemaRef ds:uri="http://schemas.microsoft.com/office/2006/documentManagement/types"/>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TM03457444[[fn=Base]]</Template>
  <TotalTime>22054</TotalTime>
  <Words>1256</Words>
  <Application>Microsoft Office PowerPoint</Application>
  <PresentationFormat>Widescreen</PresentationFormat>
  <Paragraphs>253</Paragraphs>
  <Slides>48</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Calibri</vt:lpstr>
      <vt:lpstr>Corbel</vt:lpstr>
      <vt:lpstr>Courier New</vt:lpstr>
      <vt:lpstr>Wingdings</vt:lpstr>
      <vt:lpstr>Base</vt:lpstr>
      <vt:lpstr>Rapport de stage  Concepteur Développeur d’Applications </vt:lpstr>
      <vt:lpstr>Sommaire</vt:lpstr>
      <vt:lpstr>Remerciements</vt:lpstr>
      <vt:lpstr>Introduction</vt:lpstr>
      <vt:lpstr>Environnement de travail</vt:lpstr>
      <vt:lpstr>Langages et base de données</vt:lpstr>
      <vt:lpstr>Frameworks et bibliothèques</vt:lpstr>
      <vt:lpstr>Git &amp; GitHub</vt:lpstr>
      <vt:lpstr>Les editeurs de text, outils et IDE</vt:lpstr>
      <vt:lpstr>Développement incrémental et itératif</vt:lpstr>
      <vt:lpstr>Plusieurs versions</vt:lpstr>
      <vt:lpstr>PowerPoint Presentation</vt:lpstr>
      <vt:lpstr>apprentissage</vt:lpstr>
      <vt:lpstr>Spring Boot et Angular</vt:lpstr>
      <vt:lpstr>conception</vt:lpstr>
      <vt:lpstr>Architecture</vt:lpstr>
      <vt:lpstr>PowerPoint Presentation</vt:lpstr>
      <vt:lpstr>Schéma de la base de données</vt:lpstr>
      <vt:lpstr>Diagrammes des Classes</vt:lpstr>
      <vt:lpstr>Implémentation</vt:lpstr>
      <vt:lpstr>Entité</vt:lpstr>
      <vt:lpstr>Repository</vt:lpstr>
      <vt:lpstr>Service</vt:lpstr>
      <vt:lpstr>Controlleur Rest</vt:lpstr>
      <vt:lpstr>Écouteur d'événements asynchrones</vt:lpstr>
      <vt:lpstr>Creation de compte (frontend)</vt:lpstr>
      <vt:lpstr>Création de compte (back-end)</vt:lpstr>
      <vt:lpstr>PowerPoint Presentation</vt:lpstr>
      <vt:lpstr>PowerPoint Presentation</vt:lpstr>
      <vt:lpstr>Connexion (front-end)</vt:lpstr>
      <vt:lpstr>Connexion (back-end)</vt:lpstr>
      <vt:lpstr>PowerPoint Presentation</vt:lpstr>
      <vt:lpstr>Page utilisateur (front-end)</vt:lpstr>
      <vt:lpstr>Page utilisateur (back-end)</vt:lpstr>
      <vt:lpstr>Component publications (front-end)</vt:lpstr>
      <vt:lpstr>Publications de l’utilisateur (back-end)</vt:lpstr>
      <vt:lpstr>Component page utilisateur</vt:lpstr>
      <vt:lpstr>Creation d’une publication (front-end)</vt:lpstr>
      <vt:lpstr>Creation d’une publication (back-end)</vt:lpstr>
      <vt:lpstr>Creation d’une publication</vt:lpstr>
      <vt:lpstr>Chargement d'avatar (front-end)</vt:lpstr>
      <vt:lpstr>Chargement d'avatar (back-end)</vt:lpstr>
      <vt:lpstr>Chargement d'avatar</vt:lpstr>
      <vt:lpstr>Page publication (front-end)</vt:lpstr>
      <vt:lpstr>Page publication (back-end)</vt:lpstr>
      <vt:lpstr>Page publication</vt:lpstr>
      <vt:lpstr>La tâche de fonds périodique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Rapport de stage  Concepteur Développeur d’Applications  Du 03 Septembre 2019 au 28 Mai 2020</dc:title>
  <dc:creator>Khalvati, Alireza (external - Partner)</dc:creator>
  <cp:lastModifiedBy>Vladislav</cp:lastModifiedBy>
  <cp:revision>461</cp:revision>
  <cp:lastPrinted>2020-06-10T07:53:15Z</cp:lastPrinted>
  <dcterms:created xsi:type="dcterms:W3CDTF">2020-04-16T13:13:31Z</dcterms:created>
  <dcterms:modified xsi:type="dcterms:W3CDTF">2021-09-09T19:09:52Z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0x010100CA2FD6F1506F564BB79A97F9C245AD34</vt:lpwstr>
  </property>
</Properties>
</file>