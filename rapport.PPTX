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76" r:id="rId4"/>
  </p:sldMasterIdLst>
  <p:notesMasterIdLst>
    <p:notesMasterId r:id="rId59"/>
  </p:notesMasterIdLst>
  <p:handoutMasterIdLst>
    <p:handoutMasterId r:id="rId60"/>
  </p:handoutMasterIdLst>
  <p:sldIdLst>
    <p:sldId id="256" r:id="rId5"/>
    <p:sldId id="257" r:id="rId6"/>
    <p:sldId id="291" r:id="rId7"/>
    <p:sldId id="277" r:id="rId8"/>
    <p:sldId id="272" r:id="rId9"/>
    <p:sldId id="261" r:id="rId10"/>
    <p:sldId id="273" r:id="rId11"/>
    <p:sldId id="274" r:id="rId12"/>
    <p:sldId id="276" r:id="rId13"/>
    <p:sldId id="308" r:id="rId14"/>
    <p:sldId id="307" r:id="rId15"/>
    <p:sldId id="321" r:id="rId16"/>
    <p:sldId id="271" r:id="rId17"/>
    <p:sldId id="282" r:id="rId18"/>
    <p:sldId id="269" r:id="rId19"/>
    <p:sldId id="309" r:id="rId20"/>
    <p:sldId id="374" r:id="rId21"/>
    <p:sldId id="305" r:id="rId22"/>
    <p:sldId id="306" r:id="rId23"/>
    <p:sldId id="279" r:id="rId24"/>
    <p:sldId id="373" r:id="rId25"/>
    <p:sldId id="345" r:id="rId26"/>
    <p:sldId id="367" r:id="rId27"/>
    <p:sldId id="346" r:id="rId28"/>
    <p:sldId id="344" r:id="rId29"/>
    <p:sldId id="290" r:id="rId30"/>
    <p:sldId id="312" r:id="rId31"/>
    <p:sldId id="354" r:id="rId32"/>
    <p:sldId id="352" r:id="rId33"/>
    <p:sldId id="369" r:id="rId34"/>
    <p:sldId id="311" r:id="rId35"/>
    <p:sldId id="355" r:id="rId36"/>
    <p:sldId id="356" r:id="rId37"/>
    <p:sldId id="353" r:id="rId38"/>
    <p:sldId id="357" r:id="rId39"/>
    <p:sldId id="293" r:id="rId40"/>
    <p:sldId id="313" r:id="rId41"/>
    <p:sldId id="317" r:id="rId42"/>
    <p:sldId id="362" r:id="rId43"/>
    <p:sldId id="359" r:id="rId44"/>
    <p:sldId id="360" r:id="rId45"/>
    <p:sldId id="361" r:id="rId46"/>
    <p:sldId id="370" r:id="rId47"/>
    <p:sldId id="314" r:id="rId48"/>
    <p:sldId id="363" r:id="rId49"/>
    <p:sldId id="364" r:id="rId50"/>
    <p:sldId id="358" r:id="rId51"/>
    <p:sldId id="318" r:id="rId52"/>
    <p:sldId id="315" r:id="rId53"/>
    <p:sldId id="365" r:id="rId54"/>
    <p:sldId id="366" r:id="rId55"/>
    <p:sldId id="316" r:id="rId56"/>
    <p:sldId id="347" r:id="rId57"/>
    <p:sldId id="303" r:id="rId58"/>
  </p:sldIdLst>
  <p:sldSz cx="12192000" cy="6858000"/>
  <p:notesSz cx="6858000" cy="9926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euil" id="{0C555041-B77D-4C12-A739-5465EA9A5D51}">
          <p14:sldIdLst>
            <p14:sldId id="256"/>
          </p14:sldIdLst>
        </p14:section>
        <p14:section name="Sommaire" id="{C35363EF-F6DF-4CD5-A2EA-15AE2813B393}">
          <p14:sldIdLst>
            <p14:sldId id="257"/>
          </p14:sldIdLst>
        </p14:section>
        <p14:section name="Avant-propos" id="{F6F71EE5-DB8F-4A32-8B2C-8DA65C10EAA1}">
          <p14:sldIdLst>
            <p14:sldId id="291"/>
          </p14:sldIdLst>
        </p14:section>
        <p14:section name="Introduction" id="{7551384C-AD2E-420E-9E81-E2045511CC03}">
          <p14:sldIdLst>
            <p14:sldId id="277"/>
          </p14:sldIdLst>
        </p14:section>
        <p14:section name="Environnement" id="{CD63B8DC-3141-430F-B080-64E725C2F156}">
          <p14:sldIdLst>
            <p14:sldId id="272"/>
            <p14:sldId id="261"/>
            <p14:sldId id="273"/>
            <p14:sldId id="274"/>
            <p14:sldId id="276"/>
          </p14:sldIdLst>
        </p14:section>
        <p14:section name="Developpement" id="{C7626237-F67E-4355-ABE8-42E8EB39DF35}">
          <p14:sldIdLst>
            <p14:sldId id="308"/>
            <p14:sldId id="307"/>
            <p14:sldId id="321"/>
          </p14:sldIdLst>
        </p14:section>
        <p14:section name="Apprentissage" id="{82BE8D20-65CD-4637-80B0-265FF9302497}">
          <p14:sldIdLst>
            <p14:sldId id="271"/>
            <p14:sldId id="282"/>
          </p14:sldIdLst>
        </p14:section>
        <p14:section name="Conception" id="{24584215-2434-452E-A60D-C9AE7D99D08E}">
          <p14:sldIdLst>
            <p14:sldId id="269"/>
            <p14:sldId id="309"/>
            <p14:sldId id="374"/>
            <p14:sldId id="305"/>
            <p14:sldId id="306"/>
            <p14:sldId id="279"/>
          </p14:sldIdLst>
        </p14:section>
        <p14:section name="Implementation" id="{4F01F8AB-2081-45D5-9329-E02D0662CD36}">
          <p14:sldIdLst>
            <p14:sldId id="373"/>
            <p14:sldId id="345"/>
            <p14:sldId id="367"/>
            <p14:sldId id="346"/>
            <p14:sldId id="344"/>
            <p14:sldId id="290"/>
            <p14:sldId id="312"/>
            <p14:sldId id="354"/>
            <p14:sldId id="352"/>
            <p14:sldId id="369"/>
            <p14:sldId id="311"/>
            <p14:sldId id="355"/>
            <p14:sldId id="356"/>
            <p14:sldId id="353"/>
            <p14:sldId id="357"/>
            <p14:sldId id="293"/>
            <p14:sldId id="313"/>
            <p14:sldId id="317"/>
            <p14:sldId id="362"/>
            <p14:sldId id="359"/>
            <p14:sldId id="360"/>
            <p14:sldId id="361"/>
            <p14:sldId id="370"/>
            <p14:sldId id="314"/>
            <p14:sldId id="363"/>
            <p14:sldId id="364"/>
            <p14:sldId id="358"/>
            <p14:sldId id="318"/>
            <p14:sldId id="315"/>
            <p14:sldId id="365"/>
            <p14:sldId id="366"/>
            <p14:sldId id="316"/>
            <p14:sldId id="347"/>
          </p14:sldIdLst>
        </p14:section>
        <p14:section name="Tests" id="{2A1E5F8D-9C3F-44EA-B7C4-9D25DFEF77D5}">
          <p14:sldIdLst/>
        </p14:section>
        <p14:section name="Conclusion" id="{07435913-793C-4D44-B94F-E25FF897E776}">
          <p14:sldIdLst>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halvati, Alireza (external - Partner)" initials="KA(-P" lastIdx="1" clrIdx="0">
    <p:extLst>
      <p:ext uri="{19B8F6BF-5375-455C-9EA6-DF929625EA0E}">
        <p15:presenceInfo xmlns:p15="http://schemas.microsoft.com/office/powerpoint/2012/main" userId="S::alireza.khalvati@sap.com::c8a652c2-39b4-4737-83bd-d1211f76c54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66AC"/>
    <a:srgbClr val="FFFFFF"/>
    <a:srgbClr val="DB52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EC79CB-20F1-42DE-AE13-B556BB3979FB}" v="2" dt="2020-06-07T15:10:04.9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0188" autoAdjust="0"/>
  </p:normalViewPr>
  <p:slideViewPr>
    <p:cSldViewPr snapToGrid="0">
      <p:cViewPr varScale="1">
        <p:scale>
          <a:sx n="116" d="100"/>
          <a:sy n="116" d="100"/>
        </p:scale>
        <p:origin x="390" y="96"/>
      </p:cViewPr>
      <p:guideLst/>
    </p:cSldViewPr>
  </p:slideViewPr>
  <p:outlineViewPr>
    <p:cViewPr>
      <p:scale>
        <a:sx n="33" d="100"/>
        <a:sy n="33" d="100"/>
      </p:scale>
      <p:origin x="0" y="0"/>
    </p:cViewPr>
    <p:sldLst>
      <p:sld r:id="rId1" collapse="1"/>
      <p:sld r:id="rId2" collapse="1"/>
      <p:sld r:id="rId3" collapse="1"/>
      <p:sld r:id="rId4" collapse="1"/>
      <p:sld r:id="rId5" collapse="1"/>
      <p:sld r:id="rId6" collapse="1"/>
      <p:sld r:id="rId7" collapse="1"/>
      <p:sld r:id="rId8" collapse="1"/>
      <p:sld r:id="rId9" collapse="1"/>
    </p:sldLst>
  </p:outlineViewPr>
  <p:notesTextViewPr>
    <p:cViewPr>
      <p:scale>
        <a:sx n="1" d="1"/>
        <a:sy n="1" d="1"/>
      </p:scale>
      <p:origin x="0" y="0"/>
    </p:cViewPr>
  </p:notesTextViewPr>
  <p:sorterViewPr>
    <p:cViewPr>
      <p:scale>
        <a:sx n="100" d="100"/>
        <a:sy n="100" d="100"/>
      </p:scale>
      <p:origin x="0" y="-29260"/>
    </p:cViewPr>
  </p:sorterViewPr>
  <p:notesViewPr>
    <p:cSldViewPr snapToGrid="0">
      <p:cViewPr varScale="1">
        <p:scale>
          <a:sx n="51" d="100"/>
          <a:sy n="51" d="100"/>
        </p:scale>
        <p:origin x="2692" y="4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microsoft.com/office/2015/10/relationships/revisionInfo" Target="revisionInfo.xml"/><Relationship Id="rId5" Type="http://schemas.openxmlformats.org/officeDocument/2006/relationships/slide" Target="slides/slide1.xml"/><Relationship Id="rId61" Type="http://schemas.openxmlformats.org/officeDocument/2006/relationships/commentAuthors" Target="commentAuthor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handoutMaster" Target="handoutMasters/handoutMaster1.xml"/><Relationship Id="rId65"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_rels/viewProps.xml.rels><?xml version="1.0" encoding="UTF-8" standalone="yes"?>
<Relationships xmlns="http://schemas.openxmlformats.org/package/2006/relationships"><Relationship Id="rId8" Type="http://schemas.openxmlformats.org/officeDocument/2006/relationships/slide" Target="slides/slide13.xml"/><Relationship Id="rId3" Type="http://schemas.openxmlformats.org/officeDocument/2006/relationships/slide" Target="slides/slide5.xml"/><Relationship Id="rId7" Type="http://schemas.openxmlformats.org/officeDocument/2006/relationships/slide" Target="slides/slide9.xml"/><Relationship Id="rId2" Type="http://schemas.openxmlformats.org/officeDocument/2006/relationships/slide" Target="slides/slide2.xml"/><Relationship Id="rId1" Type="http://schemas.openxmlformats.org/officeDocument/2006/relationships/slide" Target="slides/slide1.xml"/><Relationship Id="rId6" Type="http://schemas.openxmlformats.org/officeDocument/2006/relationships/slide" Target="slides/slide8.xml"/><Relationship Id="rId5" Type="http://schemas.openxmlformats.org/officeDocument/2006/relationships/slide" Target="slides/slide7.xml"/><Relationship Id="rId4" Type="http://schemas.openxmlformats.org/officeDocument/2006/relationships/slide" Target="slides/slide6.xml"/><Relationship Id="rId9"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91149D8-1357-4F34-BD23-5012756DE050}"/>
              </a:ext>
            </a:extLst>
          </p:cNvPr>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a:extLst>
              <a:ext uri="{FF2B5EF4-FFF2-40B4-BE49-F238E27FC236}">
                <a16:creationId xmlns:a16="http://schemas.microsoft.com/office/drawing/2014/main" id="{EBCF3FD8-589F-430D-ADA7-F43443762AE9}"/>
              </a:ext>
            </a:extLst>
          </p:cNvPr>
          <p:cNvSpPr>
            <a:spLocks noGrp="1"/>
          </p:cNvSpPr>
          <p:nvPr>
            <p:ph type="dt" sz="quarter" idx="1"/>
          </p:nvPr>
        </p:nvSpPr>
        <p:spPr>
          <a:xfrm>
            <a:off x="3884613" y="0"/>
            <a:ext cx="2971800" cy="498056"/>
          </a:xfrm>
          <a:prstGeom prst="rect">
            <a:avLst/>
          </a:prstGeom>
        </p:spPr>
        <p:txBody>
          <a:bodyPr vert="horz" lIns="91440" tIns="45720" rIns="91440" bIns="45720" rtlCol="0"/>
          <a:lstStyle>
            <a:lvl1pPr algn="r">
              <a:defRPr sz="1200"/>
            </a:lvl1pPr>
          </a:lstStyle>
          <a:p>
            <a:fld id="{8E9E7A7A-AB17-487C-9EC3-81C5DE33C772}" type="datetimeFigureOut">
              <a:rPr lang="fr-FR" smtClean="0"/>
              <a:t>03/09/2021</a:t>
            </a:fld>
            <a:endParaRPr lang="fr-FR"/>
          </a:p>
        </p:txBody>
      </p:sp>
      <p:sp>
        <p:nvSpPr>
          <p:cNvPr id="4" name="Footer Placeholder 3">
            <a:extLst>
              <a:ext uri="{FF2B5EF4-FFF2-40B4-BE49-F238E27FC236}">
                <a16:creationId xmlns:a16="http://schemas.microsoft.com/office/drawing/2014/main" id="{2D14F9FB-1F80-4646-9082-3B12ADA687C3}"/>
              </a:ext>
            </a:extLst>
          </p:cNvPr>
          <p:cNvSpPr>
            <a:spLocks noGrp="1"/>
          </p:cNvSpPr>
          <p:nvPr>
            <p:ph type="ftr" sz="quarter" idx="2"/>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5" name="Slide Number Placeholder 4">
            <a:extLst>
              <a:ext uri="{FF2B5EF4-FFF2-40B4-BE49-F238E27FC236}">
                <a16:creationId xmlns:a16="http://schemas.microsoft.com/office/drawing/2014/main" id="{54EA337B-B5F3-4615-8FAA-DB970E4E651D}"/>
              </a:ext>
            </a:extLst>
          </p:cNvPr>
          <p:cNvSpPr>
            <a:spLocks noGrp="1"/>
          </p:cNvSpPr>
          <p:nvPr>
            <p:ph type="sldNum" sz="quarter" idx="3"/>
          </p:nvPr>
        </p:nvSpPr>
        <p:spPr>
          <a:xfrm>
            <a:off x="3884613" y="9428584"/>
            <a:ext cx="2971800" cy="498055"/>
          </a:xfrm>
          <a:prstGeom prst="rect">
            <a:avLst/>
          </a:prstGeom>
        </p:spPr>
        <p:txBody>
          <a:bodyPr vert="horz" lIns="91440" tIns="45720" rIns="91440" bIns="45720" rtlCol="0" anchor="b"/>
          <a:lstStyle>
            <a:lvl1pPr algn="r">
              <a:defRPr sz="1200"/>
            </a:lvl1pPr>
          </a:lstStyle>
          <a:p>
            <a:fld id="{71F4787E-EE81-4ACC-921B-63D7167AD32A}" type="slidenum">
              <a:rPr lang="fr-FR" smtClean="0"/>
              <a:t>‹#›</a:t>
            </a:fld>
            <a:endParaRPr lang="fr-FR"/>
          </a:p>
        </p:txBody>
      </p:sp>
    </p:spTree>
    <p:extLst>
      <p:ext uri="{BB962C8B-B14F-4D97-AF65-F5344CB8AC3E}">
        <p14:creationId xmlns:p14="http://schemas.microsoft.com/office/powerpoint/2010/main" val="138376044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98056"/>
          </a:xfrm>
          <a:prstGeom prst="rect">
            <a:avLst/>
          </a:prstGeom>
        </p:spPr>
        <p:txBody>
          <a:bodyPr vert="horz" lIns="91440" tIns="45720" rIns="91440" bIns="45720" rtlCol="0"/>
          <a:lstStyle>
            <a:lvl1pPr algn="r">
              <a:defRPr sz="1200"/>
            </a:lvl1pPr>
          </a:lstStyle>
          <a:p>
            <a:fld id="{4A3D6330-6607-4266-91C5-92E4A45F29CC}" type="datetimeFigureOut">
              <a:rPr lang="fr-FR" smtClean="0"/>
              <a:t>03/09/2021</a:t>
            </a:fld>
            <a:endParaRPr lang="fr-FR"/>
          </a:p>
        </p:txBody>
      </p:sp>
      <p:sp>
        <p:nvSpPr>
          <p:cNvPr id="4" name="Slide Image Placeholder 3"/>
          <p:cNvSpPr>
            <a:spLocks noGrp="1" noRot="1" noChangeAspect="1"/>
          </p:cNvSpPr>
          <p:nvPr>
            <p:ph type="sldImg" idx="2"/>
          </p:nvPr>
        </p:nvSpPr>
        <p:spPr>
          <a:xfrm>
            <a:off x="452438" y="1241425"/>
            <a:ext cx="5953125"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777194"/>
            <a:ext cx="548640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6" name="Footer Placeholder 5"/>
          <p:cNvSpPr>
            <a:spLocks noGrp="1"/>
          </p:cNvSpPr>
          <p:nvPr>
            <p:ph type="ftr" sz="quarter" idx="4"/>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9428584"/>
            <a:ext cx="2971800" cy="498055"/>
          </a:xfrm>
          <a:prstGeom prst="rect">
            <a:avLst/>
          </a:prstGeom>
        </p:spPr>
        <p:txBody>
          <a:bodyPr vert="horz" lIns="91440" tIns="45720" rIns="91440" bIns="45720" rtlCol="0" anchor="b"/>
          <a:lstStyle>
            <a:lvl1pPr algn="r">
              <a:defRPr sz="1200"/>
            </a:lvl1pPr>
          </a:lstStyle>
          <a:p>
            <a:fld id="{CA344FEA-621B-4B81-A1B3-BC018540DB26}" type="slidenum">
              <a:rPr lang="fr-FR" smtClean="0"/>
              <a:t>‹#›</a:t>
            </a:fld>
            <a:endParaRPr lang="fr-FR"/>
          </a:p>
        </p:txBody>
      </p:sp>
    </p:spTree>
    <p:extLst>
      <p:ext uri="{BB962C8B-B14F-4D97-AF65-F5344CB8AC3E}">
        <p14:creationId xmlns:p14="http://schemas.microsoft.com/office/powerpoint/2010/main" val="173464640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1</a:t>
            </a:fld>
            <a:endParaRPr lang="fr-FR"/>
          </a:p>
        </p:txBody>
      </p:sp>
    </p:spTree>
    <p:extLst>
      <p:ext uri="{BB962C8B-B14F-4D97-AF65-F5344CB8AC3E}">
        <p14:creationId xmlns:p14="http://schemas.microsoft.com/office/powerpoint/2010/main" val="10282226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2</a:t>
            </a:fld>
            <a:endParaRPr lang="fr-FR"/>
          </a:p>
        </p:txBody>
      </p:sp>
    </p:spTree>
    <p:extLst>
      <p:ext uri="{BB962C8B-B14F-4D97-AF65-F5344CB8AC3E}">
        <p14:creationId xmlns:p14="http://schemas.microsoft.com/office/powerpoint/2010/main" val="13147329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4</a:t>
            </a:fld>
            <a:endParaRPr lang="fr-FR"/>
          </a:p>
        </p:txBody>
      </p:sp>
    </p:spTree>
    <p:extLst>
      <p:ext uri="{BB962C8B-B14F-4D97-AF65-F5344CB8AC3E}">
        <p14:creationId xmlns:p14="http://schemas.microsoft.com/office/powerpoint/2010/main" val="12355305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7</a:t>
            </a:fld>
            <a:endParaRPr lang="fr-FR"/>
          </a:p>
        </p:txBody>
      </p:sp>
    </p:spTree>
    <p:extLst>
      <p:ext uri="{BB962C8B-B14F-4D97-AF65-F5344CB8AC3E}">
        <p14:creationId xmlns:p14="http://schemas.microsoft.com/office/powerpoint/2010/main" val="750481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9</a:t>
            </a:fld>
            <a:endParaRPr lang="fr-FR"/>
          </a:p>
        </p:txBody>
      </p:sp>
    </p:spTree>
    <p:extLst>
      <p:ext uri="{BB962C8B-B14F-4D97-AF65-F5344CB8AC3E}">
        <p14:creationId xmlns:p14="http://schemas.microsoft.com/office/powerpoint/2010/main" val="145927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14</a:t>
            </a:fld>
            <a:endParaRPr lang="fr-FR"/>
          </a:p>
        </p:txBody>
      </p:sp>
    </p:spTree>
    <p:extLst>
      <p:ext uri="{BB962C8B-B14F-4D97-AF65-F5344CB8AC3E}">
        <p14:creationId xmlns:p14="http://schemas.microsoft.com/office/powerpoint/2010/main" val="3168120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16</a:t>
            </a:fld>
            <a:endParaRPr lang="fr-FR"/>
          </a:p>
        </p:txBody>
      </p:sp>
    </p:spTree>
    <p:extLst>
      <p:ext uri="{BB962C8B-B14F-4D97-AF65-F5344CB8AC3E}">
        <p14:creationId xmlns:p14="http://schemas.microsoft.com/office/powerpoint/2010/main" val="4100642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22</a:t>
            </a:fld>
            <a:endParaRPr lang="fr-FR"/>
          </a:p>
        </p:txBody>
      </p:sp>
    </p:spTree>
    <p:extLst>
      <p:ext uri="{BB962C8B-B14F-4D97-AF65-F5344CB8AC3E}">
        <p14:creationId xmlns:p14="http://schemas.microsoft.com/office/powerpoint/2010/main" val="323608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A344FEA-621B-4B81-A1B3-BC018540DB26}" type="slidenum">
              <a:rPr lang="fr-FR" smtClean="0"/>
              <a:t>25</a:t>
            </a:fld>
            <a:endParaRPr lang="fr-FR"/>
          </a:p>
        </p:txBody>
      </p:sp>
    </p:spTree>
    <p:extLst>
      <p:ext uri="{BB962C8B-B14F-4D97-AF65-F5344CB8AC3E}">
        <p14:creationId xmlns:p14="http://schemas.microsoft.com/office/powerpoint/2010/main" val="2984538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fr-FR"/>
              <a:t>Modifiez le style du titre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fr-FR"/>
              <a:t>Modifier le style des sous-titres du masque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FF5FEE95-2E83-4D45-987C-F0DA7B5E64B4}" type="datetime1">
              <a:rPr lang="fr-FR" smtClean="0"/>
              <a:t>03/09/2021</a:t>
            </a:fld>
            <a:endParaRPr lang="fr-FR"/>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fr-F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C52ED629-2BC0-4D25-969E-9ED78B40D7C7}" type="slidenum">
              <a:rPr lang="fr-FR" smtClean="0"/>
              <a:t>‹#›</a:t>
            </a:fld>
            <a:endParaRPr lang="fr-FR"/>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22367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03/09/2021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628538294"/>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fr-FR"/>
              <a:t>Modifiez le style du titre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Modifier les styles du texte du masque</a:t>
            </a:r>
          </a:p>
        </p:txBody>
      </p:sp>
      <p:sp>
        <p:nvSpPr>
          <p:cNvPr id="4" name="Date Placeholder 3"/>
          <p:cNvSpPr>
            <a:spLocks noGrp="1"/>
          </p:cNvSpPr>
          <p:nvPr>
            <p:ph type="dt" sz="half" idx="10"/>
          </p:nvPr>
        </p:nvSpPr>
        <p:spPr/>
        <p:txBody>
          <a:bodyPr/>
          <a:lstStyle/>
          <a:p>
            <a:fld id="{FF5FEE95-2E83-4D45-987C-F0DA7B5E64B4}" type="datetime1">
              <a:rPr lang="fr-FR" smtClean="0"/>
              <a:t>03/09/2021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472649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FF5FEE95-2E83-4D45-987C-F0DA7B5E64B4}" type="datetime1">
              <a:rPr lang="fr-FR" smtClean="0"/>
              <a:t>03/09/2021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480225810"/>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fr-FR"/>
              <a:t>Modifiez le style du titre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FF5FEE95-2E83-4D45-987C-F0DA7B5E64B4}" type="datetime1">
              <a:rPr lang="fr-FR" smtClean="0"/>
              <a:t>03/09/2021</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3223178785"/>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FF5FEE95-2E83-4D45-987C-F0DA7B5E64B4}" type="datetime1">
              <a:rPr lang="fr-FR" smtClean="0"/>
              <a:t>03/09/2021</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767028401"/>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F5FEE95-2E83-4D45-987C-F0DA7B5E64B4}" type="datetime1">
              <a:rPr lang="fr-FR" smtClean="0"/>
              <a:t>03/09/2021</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57564492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a:t>Modifiez le style du titre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03/09/2021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372238090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a:t>Modifiez le style du titre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03/09/2021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509785682"/>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03/09/2021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722273231"/>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03/09/2021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1547697083"/>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FF5FEE95-2E83-4D45-987C-F0DA7B5E64B4}" type="datetime1">
              <a:rPr lang="fr-FR" smtClean="0"/>
              <a:t>03/09/2021</a:t>
            </a:fld>
            <a:endParaRPr lang="fr-FR"/>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fr-F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C52ED629-2BC0-4D25-969E-9ED78B40D7C7}" type="slidenum">
              <a:rPr lang="fr-FR" smtClean="0"/>
              <a:t>‹#›</a:t>
            </a:fld>
            <a:endParaRPr lang="fr-FR"/>
          </a:p>
        </p:txBody>
      </p:sp>
    </p:spTree>
    <p:extLst>
      <p:ext uri="{BB962C8B-B14F-4D97-AF65-F5344CB8AC3E}">
        <p14:creationId xmlns:p14="http://schemas.microsoft.com/office/powerpoint/2010/main" val="3203732049"/>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998D7-6C92-4861-96BC-F7D0801DF55F}"/>
              </a:ext>
            </a:extLst>
          </p:cNvPr>
          <p:cNvSpPr>
            <a:spLocks noGrp="1"/>
          </p:cNvSpPr>
          <p:nvPr>
            <p:ph type="ctrTitle"/>
          </p:nvPr>
        </p:nvSpPr>
        <p:spPr/>
        <p:txBody>
          <a:bodyPr>
            <a:normAutofit/>
          </a:bodyPr>
          <a:lstStyle/>
          <a:p>
            <a:r>
              <a:rPr lang="fr-FR" sz="3200" dirty="0"/>
              <a:t>Rapport de stage</a:t>
            </a:r>
            <a:br>
              <a:rPr lang="fr-FR" sz="3200" dirty="0"/>
            </a:br>
            <a:br>
              <a:rPr lang="fr-FR" sz="3200" dirty="0"/>
            </a:br>
            <a:r>
              <a:rPr lang="fr-FR" sz="3200" dirty="0"/>
              <a:t>Concepteur Développeur d’Applications</a:t>
            </a:r>
            <a:br>
              <a:rPr lang="fr-FR" sz="3200" dirty="0"/>
            </a:br>
            <a:endParaRPr lang="fr-FR" sz="3200" dirty="0"/>
          </a:p>
        </p:txBody>
      </p:sp>
      <p:sp>
        <p:nvSpPr>
          <p:cNvPr id="3" name="Subtitle 2">
            <a:extLst>
              <a:ext uri="{FF2B5EF4-FFF2-40B4-BE49-F238E27FC236}">
                <a16:creationId xmlns:a16="http://schemas.microsoft.com/office/drawing/2014/main" id="{D1CDB67A-DD8C-4B4F-B70E-CAFA8B9FC05F}"/>
              </a:ext>
            </a:extLst>
          </p:cNvPr>
          <p:cNvSpPr>
            <a:spLocks noGrp="1"/>
          </p:cNvSpPr>
          <p:nvPr>
            <p:ph type="subTitle" idx="1"/>
          </p:nvPr>
        </p:nvSpPr>
        <p:spPr/>
        <p:txBody>
          <a:bodyPr>
            <a:normAutofit/>
          </a:bodyPr>
          <a:lstStyle/>
          <a:p>
            <a:r>
              <a:rPr lang="fr-FR" sz="2400" dirty="0"/>
              <a:t>Du 16 </a:t>
            </a:r>
            <a:r>
              <a:rPr lang="fr-FR" sz="2400" dirty="0" err="1"/>
              <a:t>decembre</a:t>
            </a:r>
            <a:r>
              <a:rPr lang="fr-FR" sz="2400" dirty="0"/>
              <a:t> 2020 au 31 aout 2021</a:t>
            </a:r>
            <a:endParaRPr lang="fr-FR" dirty="0"/>
          </a:p>
          <a:p>
            <a:r>
              <a:rPr lang="fr-FR" dirty="0"/>
              <a:t>Vladislav PITENTII</a:t>
            </a:r>
          </a:p>
        </p:txBody>
      </p:sp>
      <p:pic>
        <p:nvPicPr>
          <p:cNvPr id="5" name="Picture 4">
            <a:extLst>
              <a:ext uri="{FF2B5EF4-FFF2-40B4-BE49-F238E27FC236}">
                <a16:creationId xmlns:a16="http://schemas.microsoft.com/office/drawing/2014/main" id="{8417660D-6924-4569-BD01-3285115F9CAA}"/>
              </a:ext>
            </a:extLst>
          </p:cNvPr>
          <p:cNvPicPr>
            <a:picLocks noChangeAspect="1"/>
          </p:cNvPicPr>
          <p:nvPr/>
        </p:nvPicPr>
        <p:blipFill>
          <a:blip r:embed="rId3"/>
          <a:stretch>
            <a:fillRect/>
          </a:stretch>
        </p:blipFill>
        <p:spPr>
          <a:xfrm>
            <a:off x="10477390" y="5764015"/>
            <a:ext cx="1285714" cy="720000"/>
          </a:xfrm>
          <a:prstGeom prst="rect">
            <a:avLst/>
          </a:prstGeom>
        </p:spPr>
      </p:pic>
      <p:sp>
        <p:nvSpPr>
          <p:cNvPr id="4" name="TextBox 3">
            <a:extLst>
              <a:ext uri="{FF2B5EF4-FFF2-40B4-BE49-F238E27FC236}">
                <a16:creationId xmlns:a16="http://schemas.microsoft.com/office/drawing/2014/main" id="{E040B901-4C1F-46A9-BF48-5D21FABC9F6C}"/>
              </a:ext>
            </a:extLst>
          </p:cNvPr>
          <p:cNvSpPr txBox="1"/>
          <p:nvPr/>
        </p:nvSpPr>
        <p:spPr>
          <a:xfrm>
            <a:off x="230816" y="5886896"/>
            <a:ext cx="6991350" cy="523220"/>
          </a:xfrm>
          <a:prstGeom prst="rect">
            <a:avLst/>
          </a:prstGeom>
          <a:noFill/>
        </p:spPr>
        <p:txBody>
          <a:bodyPr wrap="square" rtlCol="0">
            <a:spAutoFit/>
          </a:bodyPr>
          <a:lstStyle/>
          <a:p>
            <a:br>
              <a:rPr lang="fr-FR" sz="1400" dirty="0">
                <a:solidFill>
                  <a:schemeClr val="bg1"/>
                </a:solidFill>
              </a:rPr>
            </a:br>
            <a:r>
              <a:rPr lang="fr-FR" sz="1400" dirty="0">
                <a:solidFill>
                  <a:schemeClr val="bg1"/>
                </a:solidFill>
              </a:rPr>
              <a:t>Centre de formation : AFPA, Paris Politzer 75012</a:t>
            </a:r>
          </a:p>
        </p:txBody>
      </p:sp>
    </p:spTree>
    <p:extLst>
      <p:ext uri="{BB962C8B-B14F-4D97-AF65-F5344CB8AC3E}">
        <p14:creationId xmlns:p14="http://schemas.microsoft.com/office/powerpoint/2010/main" val="3884817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EA0FE-1FC7-4BE1-8831-4B7EE9C56EF1}"/>
              </a:ext>
            </a:extLst>
          </p:cNvPr>
          <p:cNvSpPr>
            <a:spLocks noGrp="1"/>
          </p:cNvSpPr>
          <p:nvPr>
            <p:ph type="title"/>
          </p:nvPr>
        </p:nvSpPr>
        <p:spPr>
          <a:xfrm>
            <a:off x="1143000" y="609600"/>
            <a:ext cx="9875520" cy="598612"/>
          </a:xfrm>
        </p:spPr>
        <p:txBody>
          <a:bodyPr>
            <a:normAutofit fontScale="90000"/>
          </a:bodyPr>
          <a:lstStyle/>
          <a:p>
            <a:r>
              <a:rPr lang="fr-FR" dirty="0"/>
              <a:t>Sommaire</a:t>
            </a:r>
          </a:p>
        </p:txBody>
      </p:sp>
      <p:sp>
        <p:nvSpPr>
          <p:cNvPr id="3" name="Content Placeholder 2">
            <a:extLst>
              <a:ext uri="{FF2B5EF4-FFF2-40B4-BE49-F238E27FC236}">
                <a16:creationId xmlns:a16="http://schemas.microsoft.com/office/drawing/2014/main" id="{6CA24CD1-DBF4-4D95-BEFB-6FCE74885548}"/>
              </a:ext>
            </a:extLst>
          </p:cNvPr>
          <p:cNvSpPr>
            <a:spLocks noGrp="1"/>
          </p:cNvSpPr>
          <p:nvPr>
            <p:ph sz="half" idx="1"/>
          </p:nvPr>
        </p:nvSpPr>
        <p:spPr>
          <a:xfrm>
            <a:off x="1143000" y="1351280"/>
            <a:ext cx="4754880" cy="4872548"/>
          </a:xfrm>
        </p:spPr>
        <p:txBody>
          <a:bodyPr vert="horz" lIns="91440" tIns="45720" rIns="91440" bIns="45720" rtlCol="0" anchor="t">
            <a:normAutofit fontScale="70000" lnSpcReduction="20000"/>
          </a:bodyPr>
          <a:lstStyle/>
          <a:p>
            <a:pPr marL="560070" indent="-514350">
              <a:buFont typeface="+mj-lt"/>
              <a:buAutoNum type="romanUcPeriod"/>
            </a:pPr>
            <a:r>
              <a:rPr lang="fr-FR" sz="2400" dirty="0"/>
              <a:t>Remerciements </a:t>
            </a:r>
            <a:r>
              <a:rPr lang="fr-FR" sz="1600" dirty="0"/>
              <a:t>……………………………....................... .p. 3</a:t>
            </a:r>
            <a:br>
              <a:rPr lang="fr-FR" sz="2400" dirty="0"/>
            </a:br>
            <a:endParaRPr lang="fr-FR" sz="2400" dirty="0"/>
          </a:p>
          <a:p>
            <a:pPr marL="560070" indent="-514350">
              <a:buFont typeface="+mj-lt"/>
              <a:buAutoNum type="romanUcPeriod"/>
            </a:pPr>
            <a:r>
              <a:rPr lang="fr-FR" sz="2400" dirty="0"/>
              <a:t>Introduction</a:t>
            </a:r>
            <a:br>
              <a:rPr lang="fr-FR" dirty="0"/>
            </a:br>
            <a:endParaRPr lang="fr-FR" dirty="0"/>
          </a:p>
          <a:p>
            <a:pPr lvl="2">
              <a:buFont typeface="Wingdings" panose="05000000000000000000" pitchFamily="2" charset="2"/>
              <a:buChar char="§"/>
            </a:pPr>
            <a:r>
              <a:rPr lang="fr-FR" sz="1700" dirty="0"/>
              <a:t>Période préformation</a:t>
            </a:r>
            <a:r>
              <a:rPr lang="fr-FR" sz="1600" dirty="0"/>
              <a:t>………………………………………………..p. 4</a:t>
            </a:r>
          </a:p>
          <a:p>
            <a:pPr lvl="2">
              <a:buFont typeface="Wingdings" panose="05000000000000000000" pitchFamily="2" charset="2"/>
              <a:buChar char="§"/>
            </a:pPr>
            <a:r>
              <a:rPr lang="fr-FR" sz="1700" dirty="0"/>
              <a:t>Période de recherche de stage</a:t>
            </a:r>
            <a:r>
              <a:rPr lang="fr-FR" sz="1600" dirty="0"/>
              <a:t>……………………………………p. 4</a:t>
            </a:r>
            <a:br>
              <a:rPr lang="fr-FR" sz="1600" dirty="0"/>
            </a:br>
            <a:endParaRPr lang="fr-FR" sz="1600" dirty="0"/>
          </a:p>
          <a:p>
            <a:pPr marL="560070" indent="-514350">
              <a:buFont typeface="+mj-lt"/>
              <a:buAutoNum type="romanUcPeriod"/>
            </a:pPr>
            <a:r>
              <a:rPr lang="fr-FR" sz="2400" dirty="0"/>
              <a:t>Environnement de travail</a:t>
            </a:r>
            <a:br>
              <a:rPr lang="fr-FR" dirty="0"/>
            </a:br>
            <a:endParaRPr lang="fr-FR" dirty="0"/>
          </a:p>
          <a:p>
            <a:pPr lvl="2">
              <a:buFont typeface="Wingdings" panose="05000000000000000000" pitchFamily="2" charset="2"/>
              <a:buChar char="§"/>
            </a:pPr>
            <a:r>
              <a:rPr lang="fr-FR" sz="1700" dirty="0"/>
              <a:t>Langages et base de données </a:t>
            </a:r>
            <a:r>
              <a:rPr lang="fr-FR" sz="1600" dirty="0"/>
              <a:t>…………………………….. ……p. 6</a:t>
            </a:r>
          </a:p>
          <a:p>
            <a:pPr lvl="2">
              <a:buFont typeface="Wingdings" panose="05000000000000000000" pitchFamily="2" charset="2"/>
              <a:buChar char="§"/>
            </a:pPr>
            <a:r>
              <a:rPr lang="fr-FR" sz="1700" dirty="0" err="1"/>
              <a:t>Frameworks</a:t>
            </a:r>
            <a:r>
              <a:rPr lang="fr-FR" sz="1700" dirty="0"/>
              <a:t> et bibliothèques</a:t>
            </a:r>
            <a:r>
              <a:rPr lang="fr-FR" sz="1600" dirty="0"/>
              <a:t>………………………</a:t>
            </a:r>
            <a:r>
              <a:rPr lang="en-US" sz="1600" dirty="0"/>
              <a:t>…………….</a:t>
            </a:r>
            <a:r>
              <a:rPr lang="fr-FR" sz="1600" dirty="0"/>
              <a:t>p. 7</a:t>
            </a:r>
          </a:p>
          <a:p>
            <a:pPr lvl="2">
              <a:buFont typeface="Wingdings" panose="05000000000000000000" pitchFamily="2" charset="2"/>
              <a:buChar char="§"/>
            </a:pPr>
            <a:r>
              <a:rPr lang="fr-FR" sz="1700" dirty="0"/>
              <a:t>Git </a:t>
            </a:r>
            <a:r>
              <a:rPr lang="en-US" sz="1700" dirty="0"/>
              <a:t>&amp; </a:t>
            </a:r>
            <a:r>
              <a:rPr lang="en-US" sz="1700" dirty="0" err="1"/>
              <a:t>Github</a:t>
            </a:r>
            <a:r>
              <a:rPr lang="fr-FR" sz="1600" dirty="0"/>
              <a:t>………………………………............................……..p. 8</a:t>
            </a:r>
          </a:p>
          <a:p>
            <a:pPr lvl="2">
              <a:buFont typeface="Wingdings" panose="05000000000000000000" pitchFamily="2" charset="2"/>
              <a:buChar char="§"/>
            </a:pPr>
            <a:r>
              <a:rPr lang="fr-FR" sz="1700" dirty="0"/>
              <a:t>Editeur de </a:t>
            </a:r>
            <a:r>
              <a:rPr lang="fr-FR" sz="1700" dirty="0" err="1"/>
              <a:t>text</a:t>
            </a:r>
            <a:r>
              <a:rPr lang="fr-FR" sz="1700" dirty="0"/>
              <a:t>, IDE et quelques outils</a:t>
            </a:r>
            <a:r>
              <a:rPr lang="fr-FR" sz="1600" dirty="0"/>
              <a:t>……………..............p. 9</a:t>
            </a:r>
          </a:p>
          <a:p>
            <a:pPr marL="560070" indent="-514350">
              <a:buFont typeface="+mj-lt"/>
              <a:buAutoNum type="romanUcPeriod"/>
            </a:pPr>
            <a:r>
              <a:rPr lang="fr-FR" sz="2100" dirty="0"/>
              <a:t>Développement itératif et incrémental</a:t>
            </a:r>
            <a:br>
              <a:rPr lang="fr-FR" sz="2100" dirty="0"/>
            </a:br>
            <a:endParaRPr lang="fr-FR" sz="1900" dirty="0"/>
          </a:p>
          <a:p>
            <a:pPr lvl="2">
              <a:buFont typeface="Wingdings" panose="05000000000000000000" pitchFamily="2" charset="2"/>
              <a:buChar char="§"/>
            </a:pPr>
            <a:r>
              <a:rPr lang="fr-FR" sz="1500" dirty="0"/>
              <a:t>Les versions ……………………………………………………….. p. 13</a:t>
            </a:r>
          </a:p>
          <a:p>
            <a:pPr marL="560070" indent="-514350">
              <a:buFont typeface="+mj-lt"/>
              <a:buAutoNum type="romanUcPeriod"/>
            </a:pPr>
            <a:r>
              <a:rPr lang="fr-FR" sz="2100" dirty="0"/>
              <a:t>Apprentissage</a:t>
            </a:r>
            <a:br>
              <a:rPr lang="fr-FR" sz="2100" dirty="0"/>
            </a:br>
            <a:endParaRPr lang="fr-FR" sz="2100" dirty="0"/>
          </a:p>
          <a:p>
            <a:pPr lvl="2">
              <a:buFont typeface="Wingdings" panose="05000000000000000000" pitchFamily="2" charset="2"/>
              <a:buChar char="§"/>
            </a:pPr>
            <a:r>
              <a:rPr lang="fr-FR" sz="1600" dirty="0">
                <a:ea typeface="+mn-lt"/>
                <a:cs typeface="+mn-lt"/>
              </a:rPr>
              <a:t>Python, Git, GitHub et Flask ………………………………… p. 16</a:t>
            </a:r>
            <a:endParaRPr lang="fr-FR" sz="1600" dirty="0"/>
          </a:p>
        </p:txBody>
      </p:sp>
      <p:sp>
        <p:nvSpPr>
          <p:cNvPr id="10" name="Content Placeholder 9">
            <a:extLst>
              <a:ext uri="{FF2B5EF4-FFF2-40B4-BE49-F238E27FC236}">
                <a16:creationId xmlns:a16="http://schemas.microsoft.com/office/drawing/2014/main" id="{5EE7C0F3-3B4F-439F-BF0A-B4E471BF2FAD}"/>
              </a:ext>
            </a:extLst>
          </p:cNvPr>
          <p:cNvSpPr>
            <a:spLocks noGrp="1"/>
          </p:cNvSpPr>
          <p:nvPr>
            <p:ph sz="half" idx="2"/>
          </p:nvPr>
        </p:nvSpPr>
        <p:spPr>
          <a:xfrm>
            <a:off x="6267612" y="786808"/>
            <a:ext cx="5056062" cy="5461591"/>
          </a:xfrm>
        </p:spPr>
        <p:txBody>
          <a:bodyPr>
            <a:normAutofit fontScale="70000" lnSpcReduction="20000"/>
          </a:bodyPr>
          <a:lstStyle/>
          <a:p>
            <a:pPr marL="560070" indent="-514350">
              <a:buFont typeface="+mj-lt"/>
              <a:buAutoNum type="romanUcPeriod" startAt="5"/>
            </a:pPr>
            <a:r>
              <a:rPr lang="fr-FR" dirty="0">
                <a:ea typeface="+mn-lt"/>
                <a:cs typeface="+mn-lt"/>
              </a:rPr>
              <a:t>Conception</a:t>
            </a:r>
            <a:br>
              <a:rPr lang="fr-FR" dirty="0">
                <a:ea typeface="+mn-lt"/>
                <a:cs typeface="+mn-lt"/>
              </a:rPr>
            </a:br>
            <a:endParaRPr lang="fr-FR" dirty="0">
              <a:ea typeface="+mn-lt"/>
              <a:cs typeface="+mn-lt"/>
            </a:endParaRPr>
          </a:p>
          <a:p>
            <a:pPr lvl="2">
              <a:buFont typeface="Wingdings" panose="05000000000000000000" pitchFamily="2" charset="2"/>
              <a:buChar char="§"/>
            </a:pPr>
            <a:r>
              <a:rPr lang="fr-FR" sz="1600" dirty="0">
                <a:ea typeface="+mn-lt"/>
                <a:cs typeface="+mn-lt"/>
              </a:rPr>
              <a:t>L’Architecture ………………………………………………………………... p. 18</a:t>
            </a:r>
            <a:endParaRPr lang="en-US" sz="1600" dirty="0">
              <a:ea typeface="+mn-lt"/>
              <a:cs typeface="+mn-lt"/>
            </a:endParaRPr>
          </a:p>
          <a:p>
            <a:pPr lvl="2">
              <a:buFont typeface="Wingdings" panose="05000000000000000000" pitchFamily="2" charset="2"/>
              <a:buChar char="§"/>
            </a:pPr>
            <a:r>
              <a:rPr lang="fr-FR" sz="1600" dirty="0">
                <a:ea typeface="+mn-lt"/>
                <a:cs typeface="+mn-lt"/>
              </a:rPr>
              <a:t>La Structure …………………………………………………………………… p. 19</a:t>
            </a:r>
          </a:p>
          <a:p>
            <a:pPr lvl="2">
              <a:buFont typeface="Wingdings" panose="05000000000000000000" pitchFamily="2" charset="2"/>
              <a:buChar char="§"/>
            </a:pPr>
            <a:r>
              <a:rPr lang="fr-FR" sz="1600" dirty="0">
                <a:ea typeface="+mn-lt"/>
                <a:cs typeface="+mn-lt"/>
              </a:rPr>
              <a:t>Schéma de la base de données  ………………………………………... p. 20</a:t>
            </a:r>
          </a:p>
          <a:p>
            <a:pPr lvl="2">
              <a:buFont typeface="Wingdings" panose="05000000000000000000" pitchFamily="2" charset="2"/>
              <a:buChar char="§"/>
            </a:pPr>
            <a:r>
              <a:rPr lang="fr-FR" sz="1600" dirty="0">
                <a:ea typeface="+mn-lt"/>
                <a:cs typeface="+mn-lt"/>
              </a:rPr>
              <a:t>Diagramme des classes …………………………………………………... p. 21</a:t>
            </a:r>
          </a:p>
          <a:p>
            <a:pPr lvl="2">
              <a:buFont typeface="Wingdings" panose="05000000000000000000" pitchFamily="2" charset="2"/>
              <a:buChar char="§"/>
            </a:pPr>
            <a:r>
              <a:rPr lang="fr-FR" sz="1600" dirty="0">
                <a:ea typeface="+mn-lt"/>
                <a:cs typeface="+mn-lt"/>
              </a:rPr>
              <a:t>Diagrammes package et cas d’utilisations « Consultation » … p. 22</a:t>
            </a:r>
          </a:p>
          <a:p>
            <a:pPr marL="560070" indent="-514350">
              <a:buFont typeface="+mj-lt"/>
              <a:buAutoNum type="romanUcPeriod" startAt="5"/>
            </a:pPr>
            <a:r>
              <a:rPr lang="fr-FR" dirty="0">
                <a:ea typeface="+mn-lt"/>
                <a:cs typeface="+mn-lt"/>
              </a:rPr>
              <a:t>Implémentation</a:t>
            </a:r>
            <a:br>
              <a:rPr lang="fr-FR"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Les classes mapping objet-relationnel …………………………...... p. 24</a:t>
            </a:r>
          </a:p>
          <a:p>
            <a:pPr lvl="2">
              <a:buFont typeface="Wingdings" panose="05000000000000000000" pitchFamily="2" charset="2"/>
              <a:buChar char="§"/>
            </a:pPr>
            <a:r>
              <a:rPr lang="fr-FR" sz="1600" dirty="0">
                <a:ea typeface="+mn-lt"/>
                <a:cs typeface="+mn-lt"/>
              </a:rPr>
              <a:t>Migrations – exemples …………………………………………………… p. 25</a:t>
            </a:r>
          </a:p>
          <a:p>
            <a:pPr lvl="2">
              <a:buFont typeface="Wingdings" panose="05000000000000000000" pitchFamily="2" charset="2"/>
              <a:buChar char="§"/>
            </a:pPr>
            <a:r>
              <a:rPr lang="fr-FR" sz="1600" dirty="0">
                <a:ea typeface="+mn-lt"/>
                <a:cs typeface="+mn-lt"/>
              </a:rPr>
              <a:t>Paramètres de connexion à la base de données ………………… p. 26</a:t>
            </a:r>
          </a:p>
          <a:p>
            <a:pPr lvl="2">
              <a:buFont typeface="Wingdings" panose="05000000000000000000" pitchFamily="2" charset="2"/>
              <a:buChar char="§"/>
            </a:pPr>
            <a:r>
              <a:rPr lang="fr-FR" sz="1600" dirty="0">
                <a:ea typeface="+mn-lt"/>
                <a:cs typeface="+mn-lt"/>
              </a:rPr>
              <a:t>Création de l’objet application ………………………………………… p. 27</a:t>
            </a:r>
          </a:p>
          <a:p>
            <a:pPr lvl="2">
              <a:buFont typeface="Wingdings" panose="05000000000000000000" pitchFamily="2" charset="2"/>
              <a:buChar char="§"/>
            </a:pPr>
            <a:r>
              <a:rPr lang="fr-FR" sz="1600" dirty="0">
                <a:ea typeface="+mn-lt"/>
                <a:cs typeface="+mn-lt"/>
              </a:rPr>
              <a:t>Cas d’utilisation « Formulaire » ……………………………………… p. 28</a:t>
            </a:r>
          </a:p>
          <a:p>
            <a:pPr lvl="2">
              <a:buFont typeface="Wingdings" panose="05000000000000000000" pitchFamily="2" charset="2"/>
              <a:buChar char="§"/>
            </a:pPr>
            <a:r>
              <a:rPr lang="fr-FR" sz="1600" dirty="0">
                <a:ea typeface="+mn-lt"/>
                <a:cs typeface="+mn-lt"/>
              </a:rPr>
              <a:t>Diagramme de séquences « Formulaire » + code ……………… p. 29</a:t>
            </a:r>
          </a:p>
          <a:p>
            <a:pPr lvl="2">
              <a:buFont typeface="Wingdings" panose="05000000000000000000" pitchFamily="2" charset="2"/>
              <a:buChar char="§"/>
            </a:pPr>
            <a:r>
              <a:rPr lang="fr-FR" sz="1600" dirty="0">
                <a:ea typeface="+mn-lt"/>
                <a:cs typeface="+mn-lt"/>
              </a:rPr>
              <a:t>Cas d’utilisation « List » …………………………………………………. p. 38</a:t>
            </a:r>
          </a:p>
          <a:p>
            <a:pPr lvl="2">
              <a:buFont typeface="Wingdings" panose="05000000000000000000" pitchFamily="2" charset="2"/>
              <a:buChar char="§"/>
            </a:pPr>
            <a:r>
              <a:rPr lang="fr-FR" sz="1600" dirty="0">
                <a:ea typeface="+mn-lt"/>
                <a:cs typeface="+mn-lt"/>
              </a:rPr>
              <a:t>Diagrammes de séquences « List  » + code …………………….... p. 54</a:t>
            </a:r>
          </a:p>
          <a:p>
            <a:pPr lvl="2">
              <a:buFont typeface="Wingdings" panose="05000000000000000000" pitchFamily="2" charset="2"/>
              <a:buChar char="§"/>
            </a:pPr>
            <a:r>
              <a:rPr lang="fr-FR" sz="1600" dirty="0">
                <a:ea typeface="+mn-lt"/>
                <a:cs typeface="+mn-lt"/>
              </a:rPr>
              <a:t>Tâche de fonds périodique (scheduler) ……………………………. p. 55</a:t>
            </a:r>
          </a:p>
          <a:p>
            <a:pPr lvl="2">
              <a:buFont typeface="Wingdings" panose="05000000000000000000" pitchFamily="2" charset="2"/>
              <a:buChar char="§"/>
            </a:pPr>
            <a:r>
              <a:rPr lang="fr-FR" sz="1600" dirty="0">
                <a:ea typeface="+mn-lt"/>
                <a:cs typeface="+mn-lt"/>
              </a:rPr>
              <a:t>Lancement application + scheduler …………………………………. p. 56</a:t>
            </a:r>
          </a:p>
          <a:p>
            <a:pPr lvl="2">
              <a:buFont typeface="Wingdings" panose="05000000000000000000" pitchFamily="2" charset="2"/>
              <a:buChar char="§"/>
            </a:pPr>
            <a:r>
              <a:rPr lang="fr-FR" sz="1600" dirty="0">
                <a:ea typeface="+mn-lt"/>
                <a:cs typeface="+mn-lt"/>
              </a:rPr>
              <a:t>Déploiement dans Cloud Foundry …………………………………… p. 57</a:t>
            </a:r>
          </a:p>
          <a:p>
            <a:pPr marL="560070" indent="-514350">
              <a:buFont typeface="+mj-lt"/>
              <a:buAutoNum type="romanUcPeriod" startAt="7"/>
            </a:pPr>
            <a:r>
              <a:rPr lang="fr-FR" sz="2000" dirty="0">
                <a:ea typeface="+mn-lt"/>
                <a:cs typeface="+mn-lt"/>
              </a:rPr>
              <a:t>Tests et Contrôles</a:t>
            </a:r>
            <a:br>
              <a:rPr lang="fr-FR" sz="2000"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Intégration continue – workflow  ……………………………………. p. 60</a:t>
            </a:r>
          </a:p>
          <a:p>
            <a:pPr lvl="2">
              <a:buFont typeface="Wingdings" panose="05000000000000000000" pitchFamily="2" charset="2"/>
              <a:buChar char="§"/>
            </a:pPr>
            <a:r>
              <a:rPr lang="fr-FR" sz="1600" dirty="0">
                <a:ea typeface="+mn-lt"/>
                <a:cs typeface="+mn-lt"/>
              </a:rPr>
              <a:t>Tests unitaires et Coverage – exemples …………………………... p. 62</a:t>
            </a:r>
          </a:p>
          <a:p>
            <a:pPr lvl="2">
              <a:buFont typeface="Wingdings" panose="05000000000000000000" pitchFamily="2" charset="2"/>
              <a:buChar char="§"/>
            </a:pPr>
            <a:r>
              <a:rPr lang="fr-FR" sz="1600" dirty="0">
                <a:ea typeface="+mn-lt"/>
                <a:cs typeface="+mn-lt"/>
              </a:rPr>
              <a:t>Pylint – qualité du code …………………………………………………. p. 65</a:t>
            </a:r>
          </a:p>
          <a:p>
            <a:pPr marL="560070" indent="-514350">
              <a:buFont typeface="+mj-lt"/>
              <a:buAutoNum type="romanUcPeriod" startAt="8"/>
            </a:pPr>
            <a:r>
              <a:rPr lang="fr-FR" dirty="0"/>
              <a:t>Conclusion </a:t>
            </a:r>
            <a:r>
              <a:rPr lang="fr-FR" sz="1600" dirty="0"/>
              <a:t>…………………………………………………………………. p. 66</a:t>
            </a:r>
            <a:endParaRPr lang="en-US" sz="1600" dirty="0"/>
          </a:p>
        </p:txBody>
      </p:sp>
      <p:sp>
        <p:nvSpPr>
          <p:cNvPr id="7" name="Slide Number Placeholder 6">
            <a:extLst>
              <a:ext uri="{FF2B5EF4-FFF2-40B4-BE49-F238E27FC236}">
                <a16:creationId xmlns:a16="http://schemas.microsoft.com/office/drawing/2014/main" id="{15265A5D-B1DD-409D-BCB8-E027B753D3B7}"/>
              </a:ext>
            </a:extLst>
          </p:cNvPr>
          <p:cNvSpPr>
            <a:spLocks noGrp="1"/>
          </p:cNvSpPr>
          <p:nvPr>
            <p:ph type="sldNum" sz="quarter" idx="12"/>
          </p:nvPr>
        </p:nvSpPr>
        <p:spPr/>
        <p:txBody>
          <a:bodyPr/>
          <a:lstStyle/>
          <a:p>
            <a:r>
              <a:rPr lang="fr-FR" dirty="0"/>
              <a:t>2</a:t>
            </a:r>
          </a:p>
        </p:txBody>
      </p:sp>
    </p:spTree>
    <p:extLst>
      <p:ext uri="{BB962C8B-B14F-4D97-AF65-F5344CB8AC3E}">
        <p14:creationId xmlns:p14="http://schemas.microsoft.com/office/powerpoint/2010/main" val="34411634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C2A16-4809-4343-9AD9-FC35EEBC8BD2}"/>
              </a:ext>
            </a:extLst>
          </p:cNvPr>
          <p:cNvSpPr>
            <a:spLocks noGrp="1"/>
          </p:cNvSpPr>
          <p:nvPr>
            <p:ph type="title"/>
          </p:nvPr>
        </p:nvSpPr>
        <p:spPr>
          <a:xfrm>
            <a:off x="1143000" y="609600"/>
            <a:ext cx="9875520" cy="518556"/>
          </a:xfrm>
        </p:spPr>
        <p:txBody>
          <a:bodyPr>
            <a:normAutofit fontScale="90000"/>
          </a:bodyPr>
          <a:lstStyle/>
          <a:p>
            <a:r>
              <a:rPr lang="fr-FR" dirty="0"/>
              <a:t>Remerciements</a:t>
            </a:r>
          </a:p>
        </p:txBody>
      </p:sp>
      <p:sp>
        <p:nvSpPr>
          <p:cNvPr id="3" name="Content Placeholder 2">
            <a:extLst>
              <a:ext uri="{FF2B5EF4-FFF2-40B4-BE49-F238E27FC236}">
                <a16:creationId xmlns:a16="http://schemas.microsoft.com/office/drawing/2014/main" id="{7B1F2629-B480-458C-B055-E0435A58E469}"/>
              </a:ext>
            </a:extLst>
          </p:cNvPr>
          <p:cNvSpPr>
            <a:spLocks noGrp="1"/>
          </p:cNvSpPr>
          <p:nvPr>
            <p:ph idx="1"/>
          </p:nvPr>
        </p:nvSpPr>
        <p:spPr>
          <a:xfrm>
            <a:off x="1143000" y="1254903"/>
            <a:ext cx="9872871" cy="4860966"/>
          </a:xfrm>
        </p:spPr>
        <p:txBody>
          <a:bodyPr>
            <a:normAutofit/>
          </a:bodyPr>
          <a:lstStyle/>
          <a:p>
            <a:r>
              <a:rPr lang="fr-FR" dirty="0"/>
              <a:t>Je tiens à remercier l'AFPA, pour m'avoir donné ma chance en validant ma candidature pour la formation.</a:t>
            </a:r>
          </a:p>
          <a:p>
            <a:r>
              <a:rPr lang="fr-FR" dirty="0"/>
              <a:t>Je remercie également Moussa Camara, mon formateur qui, par la qualité de son enseignement et sa pédagogie, m'a permis d'acquérir des bases solides en m'aidant pendant les cours et en consacrant son temps libre.</a:t>
            </a:r>
          </a:p>
          <a:p>
            <a:r>
              <a:rPr lang="fr-FR" sz="2400" dirty="0"/>
              <a:t>Un mot en particulier sur notre professeur d’anglais </a:t>
            </a:r>
            <a:r>
              <a:rPr lang="fr-FR" sz="2400" dirty="0" err="1"/>
              <a:t>Susannah</a:t>
            </a:r>
            <a:r>
              <a:rPr lang="fr-FR" sz="2400" dirty="0"/>
              <a:t> pour ses cours intelligents et intéressants.</a:t>
            </a:r>
          </a:p>
          <a:p>
            <a:endParaRPr lang="fr-FR" dirty="0"/>
          </a:p>
        </p:txBody>
      </p:sp>
      <p:sp>
        <p:nvSpPr>
          <p:cNvPr id="4" name="Slide Number Placeholder 3">
            <a:extLst>
              <a:ext uri="{FF2B5EF4-FFF2-40B4-BE49-F238E27FC236}">
                <a16:creationId xmlns:a16="http://schemas.microsoft.com/office/drawing/2014/main" id="{8DEA1AC9-502E-4FE3-8191-EB446B5C1922}"/>
              </a:ext>
            </a:extLst>
          </p:cNvPr>
          <p:cNvSpPr>
            <a:spLocks noGrp="1"/>
          </p:cNvSpPr>
          <p:nvPr>
            <p:ph type="sldNum" sz="quarter" idx="12"/>
          </p:nvPr>
        </p:nvSpPr>
        <p:spPr/>
        <p:txBody>
          <a:bodyPr/>
          <a:lstStyle/>
          <a:p>
            <a:fld id="{C52ED629-2BC0-4D25-969E-9ED78B40D7C7}" type="slidenum">
              <a:rPr lang="fr-FR" smtClean="0"/>
              <a:t>3</a:t>
            </a:fld>
            <a:endParaRPr lang="fr-FR"/>
          </a:p>
        </p:txBody>
      </p:sp>
    </p:spTree>
    <p:extLst>
      <p:ext uri="{BB962C8B-B14F-4D97-AF65-F5344CB8AC3E}">
        <p14:creationId xmlns:p14="http://schemas.microsoft.com/office/powerpoint/2010/main" val="23331992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6D5C5-2AC4-4117-8590-264770E3C377}"/>
              </a:ext>
            </a:extLst>
          </p:cNvPr>
          <p:cNvSpPr>
            <a:spLocks noGrp="1"/>
          </p:cNvSpPr>
          <p:nvPr>
            <p:ph type="title"/>
          </p:nvPr>
        </p:nvSpPr>
        <p:spPr>
          <a:xfrm>
            <a:off x="929640" y="609600"/>
            <a:ext cx="9875520" cy="601683"/>
          </a:xfrm>
        </p:spPr>
        <p:txBody>
          <a:bodyPr>
            <a:normAutofit fontScale="90000"/>
          </a:bodyPr>
          <a:lstStyle/>
          <a:p>
            <a:r>
              <a:rPr lang="fr-FR" dirty="0"/>
              <a:t>Introduction</a:t>
            </a:r>
          </a:p>
        </p:txBody>
      </p:sp>
      <p:sp>
        <p:nvSpPr>
          <p:cNvPr id="3" name="Content Placeholder 2">
            <a:extLst>
              <a:ext uri="{FF2B5EF4-FFF2-40B4-BE49-F238E27FC236}">
                <a16:creationId xmlns:a16="http://schemas.microsoft.com/office/drawing/2014/main" id="{BB9EDE2B-5897-4AF5-812D-59D3FD9A2C31}"/>
              </a:ext>
            </a:extLst>
          </p:cNvPr>
          <p:cNvSpPr>
            <a:spLocks noGrp="1"/>
          </p:cNvSpPr>
          <p:nvPr>
            <p:ph idx="1"/>
          </p:nvPr>
        </p:nvSpPr>
        <p:spPr>
          <a:xfrm>
            <a:off x="762000" y="1456659"/>
            <a:ext cx="10753060" cy="4639341"/>
          </a:xfrm>
        </p:spPr>
        <p:txBody>
          <a:bodyPr>
            <a:normAutofit/>
          </a:bodyPr>
          <a:lstStyle/>
          <a:p>
            <a:r>
              <a:rPr lang="fr-FR" sz="2000" b="1" dirty="0"/>
              <a:t>Période pré</a:t>
            </a:r>
            <a:r>
              <a:rPr lang="en-US" sz="2000" b="1" dirty="0"/>
              <a:t>formation</a:t>
            </a:r>
            <a:r>
              <a:rPr lang="fr-FR" sz="2000" b="1" dirty="0"/>
              <a:t>: </a:t>
            </a:r>
            <a:r>
              <a:rPr lang="fr-FR" dirty="0"/>
              <a:t>Ayant déjà les connaissances en informatique j’avais décidé de les approfondir par l'inscription en formation.  Parmi celles que j’ai trouvées, la formation “Concepteur Développeur d’Applications” proposée par l’AFPA m’a semblé être la plus prometteuse, et le centre Paris 12eme était la plus proche de chez moi.</a:t>
            </a:r>
          </a:p>
          <a:p>
            <a:r>
              <a:rPr lang="fr-FR" sz="2000" b="1" dirty="0"/>
              <a:t>Période de recherche de stage</a:t>
            </a:r>
            <a:r>
              <a:rPr lang="en-US" b="1" dirty="0"/>
              <a:t>: </a:t>
            </a:r>
            <a:r>
              <a:rPr lang="fr-FR" dirty="0"/>
              <a:t>Malgré mes recherches, je n’ai pas trouvé d’entreprise d’accueil pour effectuer un stage. J’ai donc dû entreprendre la création d’un projet afin de le présenter le jour de l’examen. Sous les conseils de mon formateur, j’ai décidé de continuer le travail sur mon dernier projet en formation de type réseau sociale. Ce type de projet était tout indiqué pour exposer l’ensemble des capacités que j‘ai acquises pendant la formation.</a:t>
            </a:r>
          </a:p>
          <a:p>
            <a:pPr algn="just"/>
            <a:endParaRPr lang="fr-FR" sz="2000" b="1" dirty="0"/>
          </a:p>
          <a:p>
            <a:pPr algn="just"/>
            <a:endParaRPr lang="fr-FR" sz="2000" b="1" dirty="0"/>
          </a:p>
        </p:txBody>
      </p:sp>
      <p:sp>
        <p:nvSpPr>
          <p:cNvPr id="4" name="Slide Number Placeholder 3">
            <a:extLst>
              <a:ext uri="{FF2B5EF4-FFF2-40B4-BE49-F238E27FC236}">
                <a16:creationId xmlns:a16="http://schemas.microsoft.com/office/drawing/2014/main" id="{7A305ADC-D76A-4E94-98C1-162BCA99ECF7}"/>
              </a:ext>
            </a:extLst>
          </p:cNvPr>
          <p:cNvSpPr>
            <a:spLocks noGrp="1"/>
          </p:cNvSpPr>
          <p:nvPr>
            <p:ph type="sldNum" sz="quarter" idx="12"/>
          </p:nvPr>
        </p:nvSpPr>
        <p:spPr/>
        <p:txBody>
          <a:bodyPr/>
          <a:lstStyle/>
          <a:p>
            <a:fld id="{C52ED629-2BC0-4D25-969E-9ED78B40D7C7}" type="slidenum">
              <a:rPr lang="fr-FR" smtClean="0"/>
              <a:t>4</a:t>
            </a:fld>
            <a:endParaRPr lang="fr-FR"/>
          </a:p>
        </p:txBody>
      </p:sp>
    </p:spTree>
    <p:extLst>
      <p:ext uri="{BB962C8B-B14F-4D97-AF65-F5344CB8AC3E}">
        <p14:creationId xmlns:p14="http://schemas.microsoft.com/office/powerpoint/2010/main" val="28203537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63AF-EE9A-4457-841C-AFF7F98F0055}"/>
              </a:ext>
            </a:extLst>
          </p:cNvPr>
          <p:cNvSpPr>
            <a:spLocks noGrp="1"/>
          </p:cNvSpPr>
          <p:nvPr>
            <p:ph type="title"/>
          </p:nvPr>
        </p:nvSpPr>
        <p:spPr/>
        <p:txBody>
          <a:bodyPr/>
          <a:lstStyle/>
          <a:p>
            <a:r>
              <a:rPr lang="fr-FR" sz="5400" dirty="0"/>
              <a:t>Environnement</a:t>
            </a:r>
            <a:br>
              <a:rPr lang="fr-FR" sz="5400" dirty="0"/>
            </a:br>
            <a:r>
              <a:rPr lang="fr-FR" sz="5400" dirty="0"/>
              <a:t>de travail</a:t>
            </a:r>
          </a:p>
        </p:txBody>
      </p:sp>
      <p:sp>
        <p:nvSpPr>
          <p:cNvPr id="4" name="Slide Number Placeholder 3">
            <a:extLst>
              <a:ext uri="{FF2B5EF4-FFF2-40B4-BE49-F238E27FC236}">
                <a16:creationId xmlns:a16="http://schemas.microsoft.com/office/drawing/2014/main" id="{686D546D-9B45-459C-BCB5-7716F4007464}"/>
              </a:ext>
            </a:extLst>
          </p:cNvPr>
          <p:cNvSpPr>
            <a:spLocks noGrp="1"/>
          </p:cNvSpPr>
          <p:nvPr>
            <p:ph type="sldNum" sz="quarter" idx="12"/>
          </p:nvPr>
        </p:nvSpPr>
        <p:spPr/>
        <p:txBody>
          <a:bodyPr/>
          <a:lstStyle/>
          <a:p>
            <a:fld id="{C52ED629-2BC0-4D25-969E-9ED78B40D7C7}" type="slidenum">
              <a:rPr lang="fr-FR" smtClean="0"/>
              <a:t>5</a:t>
            </a:fld>
            <a:endParaRPr lang="fr-FR"/>
          </a:p>
        </p:txBody>
      </p:sp>
    </p:spTree>
    <p:extLst>
      <p:ext uri="{BB962C8B-B14F-4D97-AF65-F5344CB8AC3E}">
        <p14:creationId xmlns:p14="http://schemas.microsoft.com/office/powerpoint/2010/main" val="28668292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014833-EAED-4F94-97B5-CE7807DCD355}"/>
              </a:ext>
            </a:extLst>
          </p:cNvPr>
          <p:cNvSpPr>
            <a:spLocks noGrp="1"/>
          </p:cNvSpPr>
          <p:nvPr>
            <p:ph type="title"/>
          </p:nvPr>
        </p:nvSpPr>
        <p:spPr>
          <a:xfrm>
            <a:off x="1143000" y="609600"/>
            <a:ext cx="9875520" cy="590550"/>
          </a:xfrm>
        </p:spPr>
        <p:txBody>
          <a:bodyPr>
            <a:normAutofit fontScale="90000"/>
          </a:bodyPr>
          <a:lstStyle/>
          <a:p>
            <a:r>
              <a:rPr lang="fr-FR" b="1" dirty="0"/>
              <a:t>Langages et base de données</a:t>
            </a:r>
            <a:endParaRPr lang="fr-FR" dirty="0"/>
          </a:p>
        </p:txBody>
      </p:sp>
      <p:sp>
        <p:nvSpPr>
          <p:cNvPr id="4" name="Content Placeholder 3">
            <a:extLst>
              <a:ext uri="{FF2B5EF4-FFF2-40B4-BE49-F238E27FC236}">
                <a16:creationId xmlns:a16="http://schemas.microsoft.com/office/drawing/2014/main" id="{A8E9D2FE-4B6D-45C3-BA83-A1FE5E4E95D8}"/>
              </a:ext>
            </a:extLst>
          </p:cNvPr>
          <p:cNvSpPr>
            <a:spLocks noGrp="1"/>
          </p:cNvSpPr>
          <p:nvPr>
            <p:ph idx="1"/>
          </p:nvPr>
        </p:nvSpPr>
        <p:spPr>
          <a:xfrm>
            <a:off x="1143000" y="1754125"/>
            <a:ext cx="9872871" cy="4052315"/>
          </a:xfrm>
        </p:spPr>
        <p:txBody>
          <a:bodyPr>
            <a:normAutofit/>
          </a:bodyPr>
          <a:lstStyle/>
          <a:p>
            <a:r>
              <a:rPr lang="fr-FR" sz="2000" b="1" dirty="0"/>
              <a:t>Java SE 11: </a:t>
            </a:r>
            <a:r>
              <a:rPr lang="fr-FR" sz="2000" dirty="0"/>
              <a:t>un</a:t>
            </a:r>
            <a:r>
              <a:rPr lang="fr-FR" sz="2000" b="1" dirty="0"/>
              <a:t> </a:t>
            </a:r>
            <a:r>
              <a:rPr lang="fr-FR" sz="2000" dirty="0"/>
              <a:t>langage de programmation orienté objet.</a:t>
            </a:r>
            <a:endParaRPr lang="fr-FR" sz="2000" b="1" dirty="0"/>
          </a:p>
          <a:p>
            <a:r>
              <a:rPr lang="en-US" sz="1800" b="1" dirty="0"/>
              <a:t>Typescript 4: </a:t>
            </a:r>
            <a:r>
              <a:rPr lang="fr-FR" sz="1800" dirty="0"/>
              <a:t>un langage de programmation libre et open source qui a pour but d'améliorer et de sécuriser la production de code JavaScript.</a:t>
            </a:r>
            <a:endParaRPr lang="en-US" sz="1800" b="1" dirty="0"/>
          </a:p>
          <a:p>
            <a:r>
              <a:rPr lang="fr-FR" sz="1800" b="1" dirty="0"/>
              <a:t>HTML5 et CSS3</a:t>
            </a:r>
          </a:p>
          <a:p>
            <a:r>
              <a:rPr lang="en-US" sz="1800" b="1" dirty="0"/>
              <a:t>MySQL 8 - </a:t>
            </a:r>
            <a:r>
              <a:rPr lang="fr-FR" sz="1800" dirty="0"/>
              <a:t>système de gestion de bases de données relationnelles .</a:t>
            </a:r>
          </a:p>
        </p:txBody>
      </p:sp>
      <p:sp>
        <p:nvSpPr>
          <p:cNvPr id="2" name="Slide Number Placeholder 1">
            <a:extLst>
              <a:ext uri="{FF2B5EF4-FFF2-40B4-BE49-F238E27FC236}">
                <a16:creationId xmlns:a16="http://schemas.microsoft.com/office/drawing/2014/main" id="{D83612C9-D660-4358-B2F9-F3A36163A4B7}"/>
              </a:ext>
            </a:extLst>
          </p:cNvPr>
          <p:cNvSpPr>
            <a:spLocks noGrp="1"/>
          </p:cNvSpPr>
          <p:nvPr>
            <p:ph type="sldNum" sz="quarter" idx="12"/>
          </p:nvPr>
        </p:nvSpPr>
        <p:spPr/>
        <p:txBody>
          <a:bodyPr/>
          <a:lstStyle/>
          <a:p>
            <a:fld id="{C52ED629-2BC0-4D25-969E-9ED78B40D7C7}" type="slidenum">
              <a:rPr lang="fr-FR" smtClean="0"/>
              <a:t>6</a:t>
            </a:fld>
            <a:endParaRPr lang="fr-FR" dirty="0"/>
          </a:p>
        </p:txBody>
      </p:sp>
    </p:spTree>
    <p:extLst>
      <p:ext uri="{BB962C8B-B14F-4D97-AF65-F5344CB8AC3E}">
        <p14:creationId xmlns:p14="http://schemas.microsoft.com/office/powerpoint/2010/main" val="42201908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56DC3-A6E2-40AB-8684-36FEA7D1FE7A}"/>
              </a:ext>
            </a:extLst>
          </p:cNvPr>
          <p:cNvSpPr>
            <a:spLocks noGrp="1"/>
          </p:cNvSpPr>
          <p:nvPr>
            <p:ph type="title"/>
          </p:nvPr>
        </p:nvSpPr>
        <p:spPr>
          <a:xfrm>
            <a:off x="1143000" y="609600"/>
            <a:ext cx="9875520" cy="609600"/>
          </a:xfrm>
        </p:spPr>
        <p:txBody>
          <a:bodyPr>
            <a:normAutofit fontScale="90000"/>
          </a:bodyPr>
          <a:lstStyle/>
          <a:p>
            <a:r>
              <a:rPr lang="fr-FR" b="1" dirty="0" err="1"/>
              <a:t>Frameworks</a:t>
            </a:r>
            <a:r>
              <a:rPr lang="fr-FR" b="1" dirty="0"/>
              <a:t> et </a:t>
            </a:r>
            <a:r>
              <a:rPr lang="fr-FR" b="1" dirty="0">
                <a:solidFill>
                  <a:srgbClr val="4A66AC"/>
                </a:solidFill>
              </a:rPr>
              <a:t>bibliothèques</a:t>
            </a:r>
            <a:endParaRPr lang="fr-FR" dirty="0">
              <a:solidFill>
                <a:srgbClr val="4A66AC"/>
              </a:solidFill>
            </a:endParaRPr>
          </a:p>
        </p:txBody>
      </p:sp>
      <p:sp>
        <p:nvSpPr>
          <p:cNvPr id="3" name="Content Placeholder 2">
            <a:extLst>
              <a:ext uri="{FF2B5EF4-FFF2-40B4-BE49-F238E27FC236}">
                <a16:creationId xmlns:a16="http://schemas.microsoft.com/office/drawing/2014/main" id="{C9F31EAD-B0E1-4BB1-AD82-1E167F8369B4}"/>
              </a:ext>
            </a:extLst>
          </p:cNvPr>
          <p:cNvSpPr>
            <a:spLocks noGrp="1"/>
          </p:cNvSpPr>
          <p:nvPr>
            <p:ph idx="1"/>
          </p:nvPr>
        </p:nvSpPr>
        <p:spPr>
          <a:xfrm>
            <a:off x="1143000" y="1424762"/>
            <a:ext cx="10001250" cy="4671237"/>
          </a:xfrm>
        </p:spPr>
        <p:txBody>
          <a:bodyPr>
            <a:normAutofit/>
          </a:bodyPr>
          <a:lstStyle/>
          <a:p>
            <a:r>
              <a:rPr lang="fr-FR" sz="1900" b="1" dirty="0" err="1"/>
              <a:t>Springboot</a:t>
            </a:r>
            <a:r>
              <a:rPr lang="fr-FR" sz="1900" b="1" dirty="0"/>
              <a:t> 2.5.4</a:t>
            </a:r>
            <a:r>
              <a:rPr lang="fr-FR" sz="1900" dirty="0"/>
              <a:t> </a:t>
            </a:r>
            <a:r>
              <a:rPr lang="fr-FR" sz="2000" dirty="0"/>
              <a:t>—</a:t>
            </a:r>
            <a:r>
              <a:rPr lang="fr-FR" sz="1900" dirty="0"/>
              <a:t> Un </a:t>
            </a:r>
            <a:r>
              <a:rPr lang="fr-FR" sz="1900" dirty="0" err="1"/>
              <a:t>framework</a:t>
            </a:r>
            <a:r>
              <a:rPr lang="fr-FR" sz="1900" dirty="0"/>
              <a:t> open source qui prisse en charge la création d’objets et la mise en relation d’objets par l’intermédiaire d’un fichier de configuration.</a:t>
            </a:r>
            <a:endParaRPr lang="fr-FR" sz="2200" dirty="0">
              <a:solidFill>
                <a:srgbClr val="4A66AC"/>
              </a:solidFill>
            </a:endParaRPr>
          </a:p>
          <a:p>
            <a:pPr marL="274320" lvl="1" indent="0">
              <a:buNone/>
            </a:pPr>
            <a:endParaRPr lang="fr-FR" dirty="0">
              <a:solidFill>
                <a:srgbClr val="4A66AC"/>
              </a:solidFill>
            </a:endParaRPr>
          </a:p>
          <a:p>
            <a:pPr marL="274320" lvl="1" indent="0">
              <a:buNone/>
            </a:pPr>
            <a:r>
              <a:rPr lang="fr-FR" dirty="0">
                <a:solidFill>
                  <a:srgbClr val="4A66AC"/>
                </a:solidFill>
              </a:rPr>
              <a:t>Les </a:t>
            </a:r>
            <a:r>
              <a:rPr lang="fr-FR" dirty="0" err="1">
                <a:solidFill>
                  <a:srgbClr val="4A66AC"/>
                </a:solidFill>
              </a:rPr>
              <a:t>libraries</a:t>
            </a:r>
            <a:r>
              <a:rPr lang="fr-FR" dirty="0">
                <a:solidFill>
                  <a:srgbClr val="4A66AC"/>
                </a:solidFill>
              </a:rPr>
              <a:t> utilisées</a:t>
            </a:r>
            <a:r>
              <a:rPr lang="fr-FR" sz="2200" dirty="0">
                <a:solidFill>
                  <a:srgbClr val="4A66AC"/>
                </a:solidFill>
              </a:rPr>
              <a:t>:</a:t>
            </a:r>
          </a:p>
          <a:p>
            <a:pPr lvl="2">
              <a:buFont typeface="Courier New" panose="02070309020205020404" pitchFamily="49" charset="0"/>
              <a:buChar char="o"/>
            </a:pPr>
            <a:r>
              <a:rPr lang="fr-FR" dirty="0"/>
              <a:t>MySQL </a:t>
            </a:r>
            <a:r>
              <a:rPr lang="fr-FR" dirty="0" err="1"/>
              <a:t>Connector</a:t>
            </a:r>
            <a:r>
              <a:rPr lang="fr-FR" dirty="0"/>
              <a:t> — Pilote JDBC qui permet la connexion à la base de données MySQL.</a:t>
            </a:r>
          </a:p>
          <a:p>
            <a:pPr lvl="2">
              <a:buFont typeface="Courier New" panose="02070309020205020404" pitchFamily="49" charset="0"/>
              <a:buChar char="o"/>
            </a:pPr>
            <a:r>
              <a:rPr lang="fr-FR" dirty="0"/>
              <a:t>JJWT (</a:t>
            </a:r>
            <a:r>
              <a:rPr lang="fr-FR" dirty="0" err="1"/>
              <a:t>Json</a:t>
            </a:r>
            <a:r>
              <a:rPr lang="fr-FR" dirty="0"/>
              <a:t> Web </a:t>
            </a:r>
            <a:r>
              <a:rPr lang="fr-FR" dirty="0" err="1"/>
              <a:t>Token</a:t>
            </a:r>
            <a:r>
              <a:rPr lang="fr-FR" dirty="0"/>
              <a:t>) — Bibliothèque la plus facile à utiliser et à comprendre pour créer et vérifier des jetons Web JSON (JWT) sur la JVM. </a:t>
            </a:r>
          </a:p>
          <a:p>
            <a:pPr marL="45720" indent="0">
              <a:buNone/>
            </a:pPr>
            <a:r>
              <a:rPr lang="fr-FR" sz="2000" b="1" dirty="0" err="1">
                <a:solidFill>
                  <a:srgbClr val="4A66AC"/>
                </a:solidFill>
              </a:rPr>
              <a:t>Angular</a:t>
            </a:r>
            <a:r>
              <a:rPr lang="fr-FR" sz="2000" b="1" dirty="0">
                <a:solidFill>
                  <a:srgbClr val="4A66AC"/>
                </a:solidFill>
              </a:rPr>
              <a:t> 12</a:t>
            </a:r>
            <a:r>
              <a:rPr lang="fr-FR" sz="2000" dirty="0">
                <a:solidFill>
                  <a:srgbClr val="4A66AC"/>
                </a:solidFill>
              </a:rPr>
              <a:t> </a:t>
            </a:r>
            <a:r>
              <a:rPr lang="fr-FR" sz="2000" dirty="0"/>
              <a:t>— </a:t>
            </a:r>
            <a:r>
              <a:rPr lang="en-US" sz="2000" dirty="0"/>
              <a:t>framework </a:t>
            </a:r>
            <a:r>
              <a:rPr lang="fr-FR" sz="2000" dirty="0"/>
              <a:t>côté client, open source, qui permet la création d’applications Web et plus particulièrement de ce qu’on appelle des « </a:t>
            </a:r>
            <a:r>
              <a:rPr lang="fr-FR" sz="2000" i="1" dirty="0"/>
              <a:t>Single Page Applications</a:t>
            </a:r>
            <a:r>
              <a:rPr lang="fr-FR" sz="2000" dirty="0"/>
              <a:t> ».</a:t>
            </a:r>
          </a:p>
          <a:p>
            <a:pPr marL="45720" indent="0">
              <a:buNone/>
            </a:pPr>
            <a:r>
              <a:rPr lang="en-US" sz="2000" dirty="0"/>
              <a:t>    Les libraries </a:t>
            </a:r>
            <a:r>
              <a:rPr lang="en-US" sz="2000" dirty="0" err="1"/>
              <a:t>utilis</a:t>
            </a:r>
            <a:r>
              <a:rPr lang="fr-FR" sz="2000" dirty="0" err="1"/>
              <a:t>ées</a:t>
            </a:r>
            <a:r>
              <a:rPr lang="en-US" sz="2000" dirty="0"/>
              <a:t>:</a:t>
            </a:r>
            <a:endParaRPr lang="fr-FR" sz="2000" dirty="0"/>
          </a:p>
          <a:p>
            <a:pPr lvl="2">
              <a:buFont typeface="Courier New" panose="02070309020205020404" pitchFamily="49" charset="0"/>
              <a:buChar char="o"/>
            </a:pPr>
            <a:r>
              <a:rPr lang="en-US" sz="1600" dirty="0"/>
              <a:t>Angular Material </a:t>
            </a:r>
            <a:r>
              <a:rPr lang="fr-FR" sz="1600" dirty="0"/>
              <a:t>— Bibliothèque de composants UI</a:t>
            </a:r>
          </a:p>
          <a:p>
            <a:pPr lvl="2">
              <a:buFont typeface="Courier New" panose="02070309020205020404" pitchFamily="49" charset="0"/>
              <a:buChar char="o"/>
            </a:pPr>
            <a:r>
              <a:rPr lang="en-US" sz="1600" dirty="0"/>
              <a:t>ng-infinite-scroll </a:t>
            </a:r>
            <a:r>
              <a:rPr lang="fr-FR" sz="1600" dirty="0"/>
              <a:t>— Directive "</a:t>
            </a:r>
            <a:r>
              <a:rPr lang="fr-FR" sz="1600" dirty="0" err="1"/>
              <a:t>Infinite</a:t>
            </a:r>
            <a:r>
              <a:rPr lang="fr-FR" sz="1600" dirty="0"/>
              <a:t> Scroll" pour </a:t>
            </a:r>
            <a:r>
              <a:rPr lang="fr-FR" sz="1600" dirty="0" err="1"/>
              <a:t>Angular</a:t>
            </a:r>
            <a:r>
              <a:rPr lang="fr-FR" sz="1600" dirty="0"/>
              <a:t> </a:t>
            </a:r>
          </a:p>
          <a:p>
            <a:pPr lvl="2">
              <a:buFont typeface="Courier New" panose="02070309020205020404" pitchFamily="49" charset="0"/>
              <a:buChar char="o"/>
            </a:pPr>
            <a:r>
              <a:rPr lang="en-US" sz="1600" dirty="0"/>
              <a:t>angular-</a:t>
            </a:r>
            <a:r>
              <a:rPr lang="en-US" sz="1600" dirty="0" err="1"/>
              <a:t>timesince</a:t>
            </a:r>
            <a:r>
              <a:rPr lang="en-US" sz="1600" dirty="0"/>
              <a:t> </a:t>
            </a:r>
            <a:r>
              <a:rPr lang="fr-FR" sz="1600" dirty="0"/>
              <a:t>—  une bibliothèque simple et légère qui rend une date </a:t>
            </a:r>
            <a:r>
              <a:rPr lang="fr-FR" sz="1600" dirty="0" err="1"/>
              <a:t>json</a:t>
            </a:r>
            <a:r>
              <a:rPr lang="fr-FR" sz="1600" dirty="0"/>
              <a:t> lisible par l'homme</a:t>
            </a:r>
            <a:endParaRPr lang="en-US" sz="1600" dirty="0"/>
          </a:p>
        </p:txBody>
      </p:sp>
      <p:sp>
        <p:nvSpPr>
          <p:cNvPr id="4" name="Slide Number Placeholder 3">
            <a:extLst>
              <a:ext uri="{FF2B5EF4-FFF2-40B4-BE49-F238E27FC236}">
                <a16:creationId xmlns:a16="http://schemas.microsoft.com/office/drawing/2014/main" id="{3F4DE33F-9A44-42B6-BA87-BEBDD6058ED1}"/>
              </a:ext>
            </a:extLst>
          </p:cNvPr>
          <p:cNvSpPr>
            <a:spLocks noGrp="1"/>
          </p:cNvSpPr>
          <p:nvPr>
            <p:ph type="sldNum" sz="quarter" idx="12"/>
          </p:nvPr>
        </p:nvSpPr>
        <p:spPr/>
        <p:txBody>
          <a:bodyPr/>
          <a:lstStyle/>
          <a:p>
            <a:fld id="{C52ED629-2BC0-4D25-969E-9ED78B40D7C7}" type="slidenum">
              <a:rPr lang="fr-FR" smtClean="0"/>
              <a:t>7</a:t>
            </a:fld>
            <a:endParaRPr lang="fr-FR"/>
          </a:p>
        </p:txBody>
      </p:sp>
    </p:spTree>
    <p:extLst>
      <p:ext uri="{BB962C8B-B14F-4D97-AF65-F5344CB8AC3E}">
        <p14:creationId xmlns:p14="http://schemas.microsoft.com/office/powerpoint/2010/main" val="27919917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59B6F-5366-4464-8C1F-4386036338E1}"/>
              </a:ext>
            </a:extLst>
          </p:cNvPr>
          <p:cNvSpPr>
            <a:spLocks noGrp="1"/>
          </p:cNvSpPr>
          <p:nvPr>
            <p:ph type="title"/>
          </p:nvPr>
        </p:nvSpPr>
        <p:spPr>
          <a:xfrm>
            <a:off x="1143000" y="609600"/>
            <a:ext cx="9875520" cy="1133475"/>
          </a:xfrm>
        </p:spPr>
        <p:txBody>
          <a:bodyPr/>
          <a:lstStyle/>
          <a:p>
            <a:r>
              <a:rPr lang="fr-FR" b="1" dirty="0"/>
              <a:t>Git &amp; GitHub</a:t>
            </a:r>
            <a:endParaRPr lang="fr-FR" dirty="0"/>
          </a:p>
        </p:txBody>
      </p:sp>
      <p:sp>
        <p:nvSpPr>
          <p:cNvPr id="3" name="Content Placeholder 2">
            <a:extLst>
              <a:ext uri="{FF2B5EF4-FFF2-40B4-BE49-F238E27FC236}">
                <a16:creationId xmlns:a16="http://schemas.microsoft.com/office/drawing/2014/main" id="{01D7A3BE-A211-40CE-80F9-FBA7DFBC6086}"/>
              </a:ext>
            </a:extLst>
          </p:cNvPr>
          <p:cNvSpPr>
            <a:spLocks noGrp="1"/>
          </p:cNvSpPr>
          <p:nvPr>
            <p:ph idx="1"/>
          </p:nvPr>
        </p:nvSpPr>
        <p:spPr>
          <a:xfrm>
            <a:off x="1143000" y="1658679"/>
            <a:ext cx="10210800" cy="4437321"/>
          </a:xfrm>
        </p:spPr>
        <p:txBody>
          <a:bodyPr>
            <a:normAutofit/>
          </a:bodyPr>
          <a:lstStyle/>
          <a:p>
            <a:r>
              <a:rPr lang="fr-FR" sz="1900" b="1" dirty="0"/>
              <a:t>Git</a:t>
            </a:r>
            <a:r>
              <a:rPr lang="fr-FR" sz="1900" dirty="0">
                <a:solidFill>
                  <a:schemeClr val="tx2">
                    <a:lumMod val="60000"/>
                    <a:lumOff val="40000"/>
                  </a:schemeClr>
                </a:solidFill>
              </a:rPr>
              <a:t> </a:t>
            </a:r>
            <a:r>
              <a:rPr lang="fr-FR" sz="1900" b="1" dirty="0">
                <a:solidFill>
                  <a:schemeClr val="tx2">
                    <a:lumMod val="60000"/>
                    <a:lumOff val="40000"/>
                  </a:schemeClr>
                </a:solidFill>
              </a:rPr>
              <a:t>2.33.0</a:t>
            </a:r>
            <a:r>
              <a:rPr lang="fr-FR" sz="1900" dirty="0">
                <a:solidFill>
                  <a:schemeClr val="tx2">
                    <a:lumMod val="60000"/>
                    <a:lumOff val="40000"/>
                  </a:schemeClr>
                </a:solidFill>
              </a:rPr>
              <a:t> : </a:t>
            </a:r>
            <a:r>
              <a:rPr lang="fr-FR" sz="1900" dirty="0"/>
              <a:t>Un logiciel de gestion de versions.</a:t>
            </a:r>
            <a:br>
              <a:rPr lang="fr-FR" sz="1900" dirty="0"/>
            </a:br>
            <a:br>
              <a:rPr lang="fr-FR" sz="1900" dirty="0"/>
            </a:br>
            <a:r>
              <a:rPr lang="fr-FR" sz="1900" dirty="0"/>
              <a:t>Outils complémentaires venant avec Git :</a:t>
            </a:r>
            <a:br>
              <a:rPr lang="fr-FR" sz="1900" dirty="0"/>
            </a:br>
            <a:endParaRPr lang="fr-FR" sz="1900" dirty="0"/>
          </a:p>
          <a:p>
            <a:pPr lvl="1">
              <a:buFont typeface="Courier New" panose="02070309020205020404" pitchFamily="49" charset="0"/>
              <a:buChar char="o"/>
            </a:pPr>
            <a:r>
              <a:rPr lang="fr-FR" sz="1900" b="1" dirty="0"/>
              <a:t>Git Bash</a:t>
            </a:r>
            <a:r>
              <a:rPr lang="fr-FR" sz="1900" dirty="0"/>
              <a:t> : Une variante du BASH d'Unix pour utiliser Git via les lignes de commandes, un "commande-line interpreter » (CLI) ou un « Shell ». Une interface utilisateur via les lignes de commande.</a:t>
            </a:r>
            <a:br>
              <a:rPr lang="fr-FR" sz="1900" dirty="0"/>
            </a:br>
            <a:endParaRPr lang="fr-FR" sz="1900" dirty="0"/>
          </a:p>
          <a:p>
            <a:pPr lvl="1">
              <a:buFont typeface="Courier New" panose="02070309020205020404" pitchFamily="49" charset="0"/>
              <a:buChar char="o"/>
            </a:pPr>
            <a:r>
              <a:rPr lang="fr-FR" sz="1900" b="1" dirty="0"/>
              <a:t>Git Gui</a:t>
            </a:r>
            <a:r>
              <a:rPr lang="fr-FR" sz="1900" dirty="0"/>
              <a:t> : L'équivalent graphique de Git BASH. Un "Graphical User Interface » (GUI).</a:t>
            </a:r>
            <a:br>
              <a:rPr lang="fr-FR" sz="1900" dirty="0"/>
            </a:br>
            <a:endParaRPr lang="fr-FR" sz="1900" dirty="0"/>
          </a:p>
          <a:p>
            <a:pPr lvl="1">
              <a:buFont typeface="Courier New" panose="02070309020205020404" pitchFamily="49" charset="0"/>
              <a:buChar char="o"/>
            </a:pPr>
            <a:r>
              <a:rPr lang="fr-FR" sz="1900" b="1" dirty="0"/>
              <a:t>Gitk</a:t>
            </a:r>
            <a:r>
              <a:rPr lang="fr-FR" sz="1900" dirty="0"/>
              <a:t> : L’outil de visualisation graphique de l’historique d’un projet. Il permet de voir l’arbre historique de notre </a:t>
            </a:r>
            <a:r>
              <a:rPr lang="fr-FR" sz="1900" dirty="0" err="1"/>
              <a:t>depot</a:t>
            </a:r>
            <a:r>
              <a:rPr lang="fr-FR" sz="1900" dirty="0"/>
              <a:t>, les informations d’un commit (Id (SHA-1), auteur, le message, la liste de tags), les fichiers d’un commit, la différence d’un fichier entre deux </a:t>
            </a:r>
            <a:r>
              <a:rPr lang="fr-FR" sz="1900" dirty="0" err="1"/>
              <a:t>commits</a:t>
            </a:r>
            <a:r>
              <a:rPr lang="fr-FR" sz="1900" dirty="0"/>
              <a:t>, etc.</a:t>
            </a:r>
          </a:p>
          <a:p>
            <a:pPr lvl="0"/>
            <a:r>
              <a:rPr lang="fr-FR" sz="1900" b="1" dirty="0"/>
              <a:t>GitHub</a:t>
            </a:r>
            <a:r>
              <a:rPr lang="fr-FR" sz="1900" dirty="0"/>
              <a:t> : La plateforme pour stocker, partager ou collaborer sur des projets.</a:t>
            </a:r>
          </a:p>
          <a:p>
            <a:endParaRPr lang="fr-FR" dirty="0"/>
          </a:p>
        </p:txBody>
      </p:sp>
      <p:sp>
        <p:nvSpPr>
          <p:cNvPr id="4" name="Slide Number Placeholder 3">
            <a:extLst>
              <a:ext uri="{FF2B5EF4-FFF2-40B4-BE49-F238E27FC236}">
                <a16:creationId xmlns:a16="http://schemas.microsoft.com/office/drawing/2014/main" id="{1D24D361-3AAB-484B-8A2F-E5C37AB5EB8E}"/>
              </a:ext>
            </a:extLst>
          </p:cNvPr>
          <p:cNvSpPr>
            <a:spLocks noGrp="1"/>
          </p:cNvSpPr>
          <p:nvPr>
            <p:ph type="sldNum" sz="quarter" idx="12"/>
          </p:nvPr>
        </p:nvSpPr>
        <p:spPr/>
        <p:txBody>
          <a:bodyPr/>
          <a:lstStyle/>
          <a:p>
            <a:fld id="{C52ED629-2BC0-4D25-969E-9ED78B40D7C7}" type="slidenum">
              <a:rPr lang="fr-FR" smtClean="0"/>
              <a:t>8</a:t>
            </a:fld>
            <a:endParaRPr lang="fr-FR"/>
          </a:p>
        </p:txBody>
      </p:sp>
    </p:spTree>
    <p:extLst>
      <p:ext uri="{BB962C8B-B14F-4D97-AF65-F5344CB8AC3E}">
        <p14:creationId xmlns:p14="http://schemas.microsoft.com/office/powerpoint/2010/main" val="3281351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CECB-C13E-4AE3-9CB9-330D1FD37B09}"/>
              </a:ext>
            </a:extLst>
          </p:cNvPr>
          <p:cNvSpPr>
            <a:spLocks noGrp="1"/>
          </p:cNvSpPr>
          <p:nvPr>
            <p:ph type="title"/>
          </p:nvPr>
        </p:nvSpPr>
        <p:spPr/>
        <p:txBody>
          <a:bodyPr/>
          <a:lstStyle/>
          <a:p>
            <a:r>
              <a:rPr lang="fr-FR" b="1" dirty="0"/>
              <a:t>Les </a:t>
            </a:r>
            <a:r>
              <a:rPr lang="fr-FR" b="1" dirty="0" err="1"/>
              <a:t>editeurs</a:t>
            </a:r>
            <a:r>
              <a:rPr lang="fr-FR" b="1" dirty="0"/>
              <a:t> de </a:t>
            </a:r>
            <a:r>
              <a:rPr lang="fr-FR" b="1" dirty="0" err="1"/>
              <a:t>text</a:t>
            </a:r>
            <a:r>
              <a:rPr lang="fr-FR" b="1" dirty="0"/>
              <a:t>, outils et IDE</a:t>
            </a:r>
            <a:endParaRPr lang="fr-FR" dirty="0"/>
          </a:p>
        </p:txBody>
      </p:sp>
      <p:sp>
        <p:nvSpPr>
          <p:cNvPr id="3" name="Content Placeholder 2">
            <a:extLst>
              <a:ext uri="{FF2B5EF4-FFF2-40B4-BE49-F238E27FC236}">
                <a16:creationId xmlns:a16="http://schemas.microsoft.com/office/drawing/2014/main" id="{8CD728F4-BF17-4852-B32D-2EA640C93AE6}"/>
              </a:ext>
            </a:extLst>
          </p:cNvPr>
          <p:cNvSpPr>
            <a:spLocks noGrp="1"/>
          </p:cNvSpPr>
          <p:nvPr>
            <p:ph idx="1"/>
          </p:nvPr>
        </p:nvSpPr>
        <p:spPr>
          <a:xfrm>
            <a:off x="1203960" y="2057400"/>
            <a:ext cx="9872871" cy="4038600"/>
          </a:xfrm>
        </p:spPr>
        <p:txBody>
          <a:bodyPr/>
          <a:lstStyle/>
          <a:p>
            <a:pPr algn="just"/>
            <a:r>
              <a:rPr lang="en-US" sz="2000" b="1" dirty="0"/>
              <a:t>Eclipse IDE </a:t>
            </a:r>
            <a:r>
              <a:rPr lang="fr-FR" sz="2000" dirty="0"/>
              <a:t>— pour </a:t>
            </a:r>
            <a:r>
              <a:rPr lang="fr-FR" sz="2000" dirty="0" err="1"/>
              <a:t>gerer</a:t>
            </a:r>
            <a:r>
              <a:rPr lang="fr-FR" sz="2000" dirty="0"/>
              <a:t> la partie back-end en Java.</a:t>
            </a:r>
          </a:p>
          <a:p>
            <a:pPr algn="just"/>
            <a:r>
              <a:rPr lang="en-US" sz="2000" b="1" dirty="0" err="1"/>
              <a:t>VSCodium</a:t>
            </a:r>
            <a:r>
              <a:rPr lang="en-US" sz="2000" b="1" dirty="0"/>
              <a:t> </a:t>
            </a:r>
            <a:r>
              <a:rPr lang="fr-FR" sz="2000" dirty="0"/>
              <a:t>— un </a:t>
            </a:r>
            <a:r>
              <a:rPr lang="fr-FR" sz="2000" dirty="0" err="1"/>
              <a:t>editeur</a:t>
            </a:r>
            <a:r>
              <a:rPr lang="fr-FR" sz="2000" dirty="0"/>
              <a:t> </a:t>
            </a:r>
            <a:r>
              <a:rPr lang="fr-FR" sz="2000" dirty="0" err="1"/>
              <a:t>text</a:t>
            </a:r>
            <a:r>
              <a:rPr lang="fr-FR" sz="2000" dirty="0"/>
              <a:t>, qui permet de </a:t>
            </a:r>
            <a:r>
              <a:rPr lang="fr-FR" sz="2000" dirty="0" err="1"/>
              <a:t>gerer</a:t>
            </a:r>
            <a:r>
              <a:rPr lang="fr-FR" sz="2000" dirty="0"/>
              <a:t> tout types de fichiers, il vient avec le support </a:t>
            </a:r>
            <a:r>
              <a:rPr lang="fr-FR" sz="2000" dirty="0" err="1"/>
              <a:t>integré</a:t>
            </a:r>
            <a:r>
              <a:rPr lang="fr-FR" sz="2000" dirty="0"/>
              <a:t> d</a:t>
            </a:r>
            <a:r>
              <a:rPr lang="en-US" sz="2000" dirty="0"/>
              <a:t>’un terminal et </a:t>
            </a:r>
            <a:r>
              <a:rPr lang="en-US" sz="2000" dirty="0" err="1"/>
              <a:t>git</a:t>
            </a:r>
            <a:r>
              <a:rPr lang="en-US" sz="2000" dirty="0"/>
              <a:t>. </a:t>
            </a:r>
            <a:r>
              <a:rPr lang="fr-FR" sz="2000" dirty="0"/>
              <a:t>Je l’avais utilisé pour </a:t>
            </a:r>
            <a:r>
              <a:rPr lang="fr-FR" sz="2000" dirty="0" err="1"/>
              <a:t>developpeur</a:t>
            </a:r>
            <a:r>
              <a:rPr lang="fr-FR" sz="2000" dirty="0"/>
              <a:t> l</a:t>
            </a:r>
            <a:r>
              <a:rPr lang="en-US" sz="2000" dirty="0"/>
              <a:t>a </a:t>
            </a:r>
            <a:r>
              <a:rPr lang="en-US" sz="2000" dirty="0" err="1"/>
              <a:t>partie</a:t>
            </a:r>
            <a:r>
              <a:rPr lang="en-US" sz="2000" dirty="0"/>
              <a:t> front-end de mon </a:t>
            </a:r>
            <a:r>
              <a:rPr lang="en-US" sz="2000" dirty="0" err="1"/>
              <a:t>projet</a:t>
            </a:r>
            <a:r>
              <a:rPr lang="en-US" sz="2000" dirty="0"/>
              <a:t> (html/</a:t>
            </a:r>
            <a:r>
              <a:rPr lang="en-US" sz="2000" dirty="0" err="1"/>
              <a:t>css</a:t>
            </a:r>
            <a:r>
              <a:rPr lang="en-US" sz="2000" dirty="0"/>
              <a:t>/typescript).</a:t>
            </a:r>
            <a:endParaRPr lang="fr-FR" sz="2000" b="1" dirty="0"/>
          </a:p>
        </p:txBody>
      </p:sp>
      <p:sp>
        <p:nvSpPr>
          <p:cNvPr id="4" name="Slide Number Placeholder 3">
            <a:extLst>
              <a:ext uri="{FF2B5EF4-FFF2-40B4-BE49-F238E27FC236}">
                <a16:creationId xmlns:a16="http://schemas.microsoft.com/office/drawing/2014/main" id="{001B16C0-1416-4473-B0E9-8246756D35EB}"/>
              </a:ext>
            </a:extLst>
          </p:cNvPr>
          <p:cNvSpPr>
            <a:spLocks noGrp="1"/>
          </p:cNvSpPr>
          <p:nvPr>
            <p:ph type="sldNum" sz="quarter" idx="12"/>
          </p:nvPr>
        </p:nvSpPr>
        <p:spPr/>
        <p:txBody>
          <a:bodyPr/>
          <a:lstStyle/>
          <a:p>
            <a:fld id="{C52ED629-2BC0-4D25-969E-9ED78B40D7C7}" type="slidenum">
              <a:rPr lang="fr-FR" smtClean="0"/>
              <a:t>9</a:t>
            </a:fld>
            <a:endParaRPr lang="fr-FR"/>
          </a:p>
        </p:txBody>
      </p:sp>
    </p:spTree>
    <p:extLst>
      <p:ext uri="{BB962C8B-B14F-4D97-AF65-F5344CB8AC3E}">
        <p14:creationId xmlns:p14="http://schemas.microsoft.com/office/powerpoint/2010/main" val="1378096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5DEFF-0561-493F-BA7D-3517A06F09E7}"/>
              </a:ext>
            </a:extLst>
          </p:cNvPr>
          <p:cNvSpPr>
            <a:spLocks noGrp="1"/>
          </p:cNvSpPr>
          <p:nvPr>
            <p:ph type="title"/>
          </p:nvPr>
        </p:nvSpPr>
        <p:spPr/>
        <p:txBody>
          <a:bodyPr/>
          <a:lstStyle/>
          <a:p>
            <a:r>
              <a:rPr lang="fr-FR" sz="5400" dirty="0"/>
              <a:t>Développement incrémental et itératif</a:t>
            </a:r>
          </a:p>
        </p:txBody>
      </p:sp>
      <p:sp>
        <p:nvSpPr>
          <p:cNvPr id="4" name="Slide Number Placeholder 3">
            <a:extLst>
              <a:ext uri="{FF2B5EF4-FFF2-40B4-BE49-F238E27FC236}">
                <a16:creationId xmlns:a16="http://schemas.microsoft.com/office/drawing/2014/main" id="{086F5EFD-C8B9-4BE3-B76E-BDF4DD9553B2}"/>
              </a:ext>
            </a:extLst>
          </p:cNvPr>
          <p:cNvSpPr>
            <a:spLocks noGrp="1"/>
          </p:cNvSpPr>
          <p:nvPr>
            <p:ph type="sldNum" sz="quarter" idx="12"/>
          </p:nvPr>
        </p:nvSpPr>
        <p:spPr/>
        <p:txBody>
          <a:bodyPr/>
          <a:lstStyle/>
          <a:p>
            <a:fld id="{C52ED629-2BC0-4D25-969E-9ED78B40D7C7}" type="slidenum">
              <a:rPr lang="fr-FR" smtClean="0"/>
              <a:t>10</a:t>
            </a:fld>
            <a:endParaRPr lang="fr-FR"/>
          </a:p>
        </p:txBody>
      </p:sp>
    </p:spTree>
    <p:extLst>
      <p:ext uri="{BB962C8B-B14F-4D97-AF65-F5344CB8AC3E}">
        <p14:creationId xmlns:p14="http://schemas.microsoft.com/office/powerpoint/2010/main" val="37069778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1FE9B-7245-486A-87D3-5D6EBC210D54}"/>
              </a:ext>
            </a:extLst>
          </p:cNvPr>
          <p:cNvSpPr>
            <a:spLocks noGrp="1"/>
          </p:cNvSpPr>
          <p:nvPr>
            <p:ph type="title"/>
          </p:nvPr>
        </p:nvSpPr>
        <p:spPr>
          <a:xfrm>
            <a:off x="1143000" y="609600"/>
            <a:ext cx="9875520" cy="365125"/>
          </a:xfrm>
        </p:spPr>
        <p:txBody>
          <a:bodyPr>
            <a:normAutofit fontScale="90000"/>
          </a:bodyPr>
          <a:lstStyle/>
          <a:p>
            <a:r>
              <a:rPr lang="fr-FR" dirty="0"/>
              <a:t>Plusieurs versions</a:t>
            </a:r>
          </a:p>
        </p:txBody>
      </p:sp>
      <p:sp>
        <p:nvSpPr>
          <p:cNvPr id="3" name="Content Placeholder 2">
            <a:extLst>
              <a:ext uri="{FF2B5EF4-FFF2-40B4-BE49-F238E27FC236}">
                <a16:creationId xmlns:a16="http://schemas.microsoft.com/office/drawing/2014/main" id="{BBDCB16B-E8C3-4199-87AF-8AE734E49359}"/>
              </a:ext>
            </a:extLst>
          </p:cNvPr>
          <p:cNvSpPr>
            <a:spLocks noGrp="1"/>
          </p:cNvSpPr>
          <p:nvPr>
            <p:ph idx="1"/>
          </p:nvPr>
        </p:nvSpPr>
        <p:spPr>
          <a:xfrm>
            <a:off x="1143000" y="1209674"/>
            <a:ext cx="9872871" cy="5038725"/>
          </a:xfrm>
        </p:spPr>
        <p:txBody>
          <a:bodyPr>
            <a:normAutofit fontScale="70000" lnSpcReduction="20000"/>
          </a:bodyPr>
          <a:lstStyle/>
          <a:p>
            <a:pPr marL="45720" indent="0" algn="just">
              <a:buNone/>
            </a:pPr>
            <a:r>
              <a:rPr lang="fr-FR" dirty="0"/>
              <a:t>Le développement s’est fait en plusieurs étapes (capture d’écran du dépôt GitHub à la page suivante). Une première version avec la structure minimale mise en ligne, une fois stable, de nouveaux composants ont été ajoutés, d'abord dans leurs propres branches, et une fois confirmés fonctionnels, fusionnés dans la branche </a:t>
            </a:r>
            <a:r>
              <a:rPr lang="fr-FR" dirty="0" err="1"/>
              <a:t>principale.Les</a:t>
            </a:r>
            <a:r>
              <a:rPr lang="fr-FR" dirty="0"/>
              <a:t> versions :</a:t>
            </a:r>
            <a:br>
              <a:rPr lang="fr-FR" dirty="0"/>
            </a:br>
            <a:endParaRPr lang="fr-FR" dirty="0"/>
          </a:p>
          <a:p>
            <a:pPr lvl="1">
              <a:buFont typeface="Wingdings" panose="05000000000000000000" pitchFamily="2" charset="2"/>
              <a:buChar char="§"/>
            </a:pPr>
            <a:r>
              <a:rPr lang="fr-FR" dirty="0"/>
              <a:t>Squelette de base du projet. Interfaces requises, composants pour la page de connexion, la page d'inscription, la page d'accueil et la page de profil. Services pour les composants qui doivent communiquer avec le </a:t>
            </a:r>
            <a:r>
              <a:rPr lang="fr-FR" dirty="0" err="1"/>
              <a:t>backend</a:t>
            </a:r>
            <a:r>
              <a:rPr lang="fr-FR" dirty="0"/>
              <a:t>.</a:t>
            </a:r>
            <a:br>
              <a:rPr lang="fr-FR" dirty="0"/>
            </a:br>
            <a:endParaRPr lang="fr-FR" dirty="0"/>
          </a:p>
          <a:p>
            <a:pPr lvl="1">
              <a:buFont typeface="Wingdings" panose="05000000000000000000" pitchFamily="2" charset="2"/>
              <a:buChar char="§"/>
            </a:pPr>
            <a:r>
              <a:rPr lang="fr-FR" dirty="0"/>
              <a:t>Ajout de la possibilité de se connecter. </a:t>
            </a:r>
            <a:r>
              <a:rPr lang="fr-FR" dirty="0" err="1"/>
              <a:t>Frontend</a:t>
            </a:r>
            <a:r>
              <a:rPr lang="fr-FR" dirty="0"/>
              <a:t> : ajout d'un intercepteur de requêtes http pour ajouter des en-têtes d'authentification à chaque requête, et sur le </a:t>
            </a:r>
            <a:r>
              <a:rPr lang="fr-FR" dirty="0" err="1"/>
              <a:t>backend</a:t>
            </a:r>
            <a:r>
              <a:rPr lang="fr-FR" dirty="0"/>
              <a:t> : filtres et points d'entrée, pour générer, valider et envoyer des jetons d'authentification au </a:t>
            </a:r>
            <a:r>
              <a:rPr lang="fr-FR" dirty="0" err="1"/>
              <a:t>client.Ajout</a:t>
            </a:r>
            <a:r>
              <a:rPr lang="fr-FR" dirty="0"/>
              <a:t> d’une tâche de fonds périodique (</a:t>
            </a:r>
            <a:r>
              <a:rPr lang="fr-FR" b="1" dirty="0"/>
              <a:t>scheduler</a:t>
            </a:r>
            <a:r>
              <a:rPr lang="fr-FR" dirty="0"/>
              <a:t>) et mise en ligne.</a:t>
            </a:r>
            <a:br>
              <a:rPr lang="fr-FR" dirty="0"/>
            </a:br>
            <a:endParaRPr lang="fr-FR" dirty="0"/>
          </a:p>
          <a:p>
            <a:pPr lvl="1">
              <a:buFont typeface="Wingdings" panose="05000000000000000000" pitchFamily="2" charset="2"/>
              <a:buChar char="§"/>
            </a:pPr>
            <a:r>
              <a:rPr lang="fr-FR" dirty="0"/>
              <a:t>Ajout d'un gestionnaire d'exception pour gérer les exceptions qui sont lancées par l'application pendant le traitement des demandes, ce qui permet au client de recevoir des erreurs d'api lisibles par l'homme.</a:t>
            </a:r>
            <a:br>
              <a:rPr lang="fr-FR" dirty="0"/>
            </a:br>
            <a:endParaRPr lang="fr-FR" dirty="0"/>
          </a:p>
          <a:p>
            <a:pPr lvl="1">
              <a:buFont typeface="Wingdings" panose="05000000000000000000" pitchFamily="2" charset="2"/>
              <a:buChar char="§"/>
            </a:pPr>
            <a:r>
              <a:rPr lang="fr-FR" dirty="0"/>
              <a:t>Ajouter la possibilité de télécharger des photos, d'aimer les photos et de laisser des commentaires.</a:t>
            </a:r>
            <a:br>
              <a:rPr lang="fr-FR" dirty="0"/>
            </a:br>
            <a:endParaRPr lang="fr-FR" dirty="0"/>
          </a:p>
          <a:p>
            <a:pPr lvl="1">
              <a:buFont typeface="Wingdings" panose="05000000000000000000" pitchFamily="2" charset="2"/>
              <a:buChar char="§"/>
            </a:pPr>
            <a:r>
              <a:rPr lang="fr-FR" dirty="0"/>
              <a:t>Ajout de la possibilité de supprimer les photos, de s'abonner et de se désabonner, ainsi que de visualiser les photos aimées et les informations de base de l'utilisateur. Ainsi changer le photo de profil.</a:t>
            </a:r>
            <a:br>
              <a:rPr lang="fr-FR" dirty="0"/>
            </a:br>
            <a:endParaRPr lang="fr-FR" dirty="0"/>
          </a:p>
          <a:p>
            <a:pPr lvl="1">
              <a:buFont typeface="Wingdings" panose="05000000000000000000" pitchFamily="2" charset="2"/>
              <a:buChar char="§"/>
            </a:pPr>
            <a:r>
              <a:rPr lang="fr-FR" dirty="0"/>
              <a:t>Ajout de la pagination.</a:t>
            </a:r>
          </a:p>
          <a:p>
            <a:pPr lvl="1">
              <a:buFont typeface="Wingdings" panose="05000000000000000000" pitchFamily="2" charset="2"/>
              <a:buChar char="§"/>
            </a:pPr>
            <a:endParaRPr lang="fr-FR" dirty="0"/>
          </a:p>
          <a:p>
            <a:pPr lvl="1">
              <a:buFont typeface="Wingdings" panose="05000000000000000000" pitchFamily="2" charset="2"/>
              <a:buChar char="§"/>
            </a:pPr>
            <a:r>
              <a:rPr lang="fr-FR" dirty="0"/>
              <a:t>Ajouter des tâches pour s'occuper des publications ou les photos de profil supprimées.</a:t>
            </a:r>
          </a:p>
          <a:p>
            <a:pPr marL="45720" indent="0">
              <a:buNone/>
            </a:pPr>
            <a:br>
              <a:rPr lang="fr-FR" dirty="0"/>
            </a:br>
            <a:r>
              <a:rPr lang="fr-FR" dirty="0"/>
              <a:t>La version utilisée pour le rapport du stage est avec MySQL.</a:t>
            </a:r>
          </a:p>
          <a:p>
            <a:pPr>
              <a:buFont typeface="Wingdings" panose="05000000000000000000" pitchFamily="2" charset="2"/>
              <a:buChar char="§"/>
            </a:pPr>
            <a:endParaRPr lang="fr-FR" dirty="0"/>
          </a:p>
          <a:p>
            <a:pPr>
              <a:buFont typeface="Wingdings" panose="05000000000000000000" pitchFamily="2" charset="2"/>
              <a:buChar char="§"/>
            </a:pPr>
            <a:endParaRPr lang="fr-FR" dirty="0"/>
          </a:p>
        </p:txBody>
      </p:sp>
      <p:sp>
        <p:nvSpPr>
          <p:cNvPr id="4" name="Slide Number Placeholder 3">
            <a:extLst>
              <a:ext uri="{FF2B5EF4-FFF2-40B4-BE49-F238E27FC236}">
                <a16:creationId xmlns:a16="http://schemas.microsoft.com/office/drawing/2014/main" id="{5D7A6A0C-2735-4C02-9464-FDAB22D93FC1}"/>
              </a:ext>
            </a:extLst>
          </p:cNvPr>
          <p:cNvSpPr>
            <a:spLocks noGrp="1"/>
          </p:cNvSpPr>
          <p:nvPr>
            <p:ph type="sldNum" sz="quarter" idx="12"/>
          </p:nvPr>
        </p:nvSpPr>
        <p:spPr/>
        <p:txBody>
          <a:bodyPr/>
          <a:lstStyle/>
          <a:p>
            <a:fld id="{C52ED629-2BC0-4D25-969E-9ED78B40D7C7}" type="slidenum">
              <a:rPr lang="fr-FR" smtClean="0"/>
              <a:t>11</a:t>
            </a:fld>
            <a:endParaRPr lang="fr-FR"/>
          </a:p>
        </p:txBody>
      </p:sp>
    </p:spTree>
    <p:extLst>
      <p:ext uri="{BB962C8B-B14F-4D97-AF65-F5344CB8AC3E}">
        <p14:creationId xmlns:p14="http://schemas.microsoft.com/office/powerpoint/2010/main" val="10845136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915B9B-5A66-4E4C-8C87-8521891BBFF8}"/>
              </a:ext>
            </a:extLst>
          </p:cNvPr>
          <p:cNvSpPr>
            <a:spLocks noGrp="1"/>
          </p:cNvSpPr>
          <p:nvPr>
            <p:ph type="sldNum" sz="quarter" idx="12"/>
          </p:nvPr>
        </p:nvSpPr>
        <p:spPr/>
        <p:txBody>
          <a:bodyPr/>
          <a:lstStyle/>
          <a:p>
            <a:fld id="{C52ED629-2BC0-4D25-969E-9ED78B40D7C7}" type="slidenum">
              <a:rPr lang="fr-FR" smtClean="0"/>
              <a:t>12</a:t>
            </a:fld>
            <a:endParaRPr lang="fr-FR"/>
          </a:p>
        </p:txBody>
      </p:sp>
      <p:sp>
        <p:nvSpPr>
          <p:cNvPr id="2" name="TextBox 1">
            <a:extLst>
              <a:ext uri="{FF2B5EF4-FFF2-40B4-BE49-F238E27FC236}">
                <a16:creationId xmlns:a16="http://schemas.microsoft.com/office/drawing/2014/main" id="{8281BB1B-E923-4466-B72C-A6EB7A8FC4AF}"/>
              </a:ext>
            </a:extLst>
          </p:cNvPr>
          <p:cNvSpPr txBox="1"/>
          <p:nvPr/>
        </p:nvSpPr>
        <p:spPr>
          <a:xfrm>
            <a:off x="2741377" y="6156244"/>
            <a:ext cx="6208657" cy="307777"/>
          </a:xfrm>
          <a:prstGeom prst="rect">
            <a:avLst/>
          </a:prstGeom>
          <a:noFill/>
        </p:spPr>
        <p:txBody>
          <a:bodyPr wrap="square" rtlCol="0">
            <a:spAutoFit/>
          </a:bodyPr>
          <a:lstStyle/>
          <a:p>
            <a:r>
              <a:rPr lang="fr-FR" sz="1400" i="1" dirty="0">
                <a:solidFill>
                  <a:srgbClr val="4A66AC"/>
                </a:solidFill>
              </a:rPr>
              <a:t>Dépôt GitHub avec les différentes versions de l’application, et les exercices</a:t>
            </a:r>
          </a:p>
        </p:txBody>
      </p:sp>
      <p:pic>
        <p:nvPicPr>
          <p:cNvPr id="3" name="Image 2"/>
          <p:cNvPicPr>
            <a:picLocks noChangeAspect="1"/>
          </p:cNvPicPr>
          <p:nvPr/>
        </p:nvPicPr>
        <p:blipFill>
          <a:blip r:embed="rId2"/>
          <a:stretch>
            <a:fillRect/>
          </a:stretch>
        </p:blipFill>
        <p:spPr>
          <a:xfrm>
            <a:off x="329514" y="1309550"/>
            <a:ext cx="11409981" cy="3810532"/>
          </a:xfrm>
          <a:prstGeom prst="rect">
            <a:avLst/>
          </a:prstGeom>
        </p:spPr>
      </p:pic>
    </p:spTree>
    <p:extLst>
      <p:ext uri="{BB962C8B-B14F-4D97-AF65-F5344CB8AC3E}">
        <p14:creationId xmlns:p14="http://schemas.microsoft.com/office/powerpoint/2010/main" val="1052336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24CB8-D3CB-48A3-A7D2-8AB8E812496C}"/>
              </a:ext>
            </a:extLst>
          </p:cNvPr>
          <p:cNvSpPr>
            <a:spLocks noGrp="1"/>
          </p:cNvSpPr>
          <p:nvPr>
            <p:ph type="title"/>
          </p:nvPr>
        </p:nvSpPr>
        <p:spPr/>
        <p:txBody>
          <a:bodyPr/>
          <a:lstStyle/>
          <a:p>
            <a:r>
              <a:rPr lang="fr-FR" dirty="0"/>
              <a:t>apprentissage</a:t>
            </a:r>
          </a:p>
        </p:txBody>
      </p:sp>
      <p:sp>
        <p:nvSpPr>
          <p:cNvPr id="4" name="Slide Number Placeholder 3">
            <a:extLst>
              <a:ext uri="{FF2B5EF4-FFF2-40B4-BE49-F238E27FC236}">
                <a16:creationId xmlns:a16="http://schemas.microsoft.com/office/drawing/2014/main" id="{B029867E-37D7-4A56-AEB0-A4CB9067AFB6}"/>
              </a:ext>
            </a:extLst>
          </p:cNvPr>
          <p:cNvSpPr>
            <a:spLocks noGrp="1"/>
          </p:cNvSpPr>
          <p:nvPr>
            <p:ph type="sldNum" sz="quarter" idx="12"/>
          </p:nvPr>
        </p:nvSpPr>
        <p:spPr/>
        <p:txBody>
          <a:bodyPr/>
          <a:lstStyle/>
          <a:p>
            <a:fld id="{C52ED629-2BC0-4D25-969E-9ED78B40D7C7}" type="slidenum">
              <a:rPr lang="fr-FR" smtClean="0"/>
              <a:t>13</a:t>
            </a:fld>
            <a:endParaRPr lang="fr-FR"/>
          </a:p>
        </p:txBody>
      </p:sp>
    </p:spTree>
    <p:extLst>
      <p:ext uri="{BB962C8B-B14F-4D97-AF65-F5344CB8AC3E}">
        <p14:creationId xmlns:p14="http://schemas.microsoft.com/office/powerpoint/2010/main" val="16346845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C9263-670C-4D20-991E-E33F630D0FB9}"/>
              </a:ext>
            </a:extLst>
          </p:cNvPr>
          <p:cNvSpPr>
            <a:spLocks noGrp="1"/>
          </p:cNvSpPr>
          <p:nvPr>
            <p:ph type="title"/>
          </p:nvPr>
        </p:nvSpPr>
        <p:spPr/>
        <p:txBody>
          <a:bodyPr/>
          <a:lstStyle/>
          <a:p>
            <a:r>
              <a:rPr lang="fr-FR" dirty="0" err="1"/>
              <a:t>Spring</a:t>
            </a:r>
            <a:r>
              <a:rPr lang="fr-FR" dirty="0"/>
              <a:t> Boot et </a:t>
            </a:r>
            <a:r>
              <a:rPr lang="fr-FR" dirty="0" err="1"/>
              <a:t>Angular</a:t>
            </a:r>
            <a:endParaRPr lang="fr-FR" dirty="0"/>
          </a:p>
        </p:txBody>
      </p:sp>
      <p:sp>
        <p:nvSpPr>
          <p:cNvPr id="3" name="Content Placeholder 2">
            <a:extLst>
              <a:ext uri="{FF2B5EF4-FFF2-40B4-BE49-F238E27FC236}">
                <a16:creationId xmlns:a16="http://schemas.microsoft.com/office/drawing/2014/main" id="{49BD936F-7CD7-416F-B4C6-63BF41F4D114}"/>
              </a:ext>
            </a:extLst>
          </p:cNvPr>
          <p:cNvSpPr>
            <a:spLocks noGrp="1"/>
          </p:cNvSpPr>
          <p:nvPr>
            <p:ph idx="1"/>
          </p:nvPr>
        </p:nvSpPr>
        <p:spPr>
          <a:xfrm>
            <a:off x="1143000" y="1871330"/>
            <a:ext cx="9791700" cy="4234830"/>
          </a:xfrm>
        </p:spPr>
        <p:txBody>
          <a:bodyPr>
            <a:normAutofit/>
          </a:bodyPr>
          <a:lstStyle/>
          <a:p>
            <a:pPr marL="45720" indent="0" algn="just">
              <a:buNone/>
            </a:pPr>
            <a:r>
              <a:rPr lang="fr-FR" dirty="0"/>
              <a:t>J'ai passé les trois premières semaines à me familiariser avec </a:t>
            </a:r>
            <a:r>
              <a:rPr lang="fr-FR" dirty="0" err="1"/>
              <a:t>springboot</a:t>
            </a:r>
            <a:r>
              <a:rPr lang="fr-FR" dirty="0"/>
              <a:t> et le </a:t>
            </a:r>
            <a:r>
              <a:rPr lang="fr-FR" dirty="0" err="1"/>
              <a:t>framework</a:t>
            </a:r>
            <a:r>
              <a:rPr lang="fr-FR" dirty="0"/>
              <a:t> </a:t>
            </a:r>
            <a:r>
              <a:rPr lang="fr-FR" dirty="0" err="1"/>
              <a:t>Angular</a:t>
            </a:r>
            <a:r>
              <a:rPr lang="fr-FR" dirty="0"/>
              <a:t>. J'ai lu beaucoup de documentation pour comprendre comment chacun d'eux fonctionne indépendamment et comment les faire fonctionner ensemble. La documentation facile à comprendre, les exemples et les guides disponibles sur le web m'ont beaucoup aidé à créer ce projet. </a:t>
            </a:r>
          </a:p>
          <a:p>
            <a:r>
              <a:rPr lang="fr-FR" dirty="0"/>
              <a:t>la meilleure façon de mapper les entités</a:t>
            </a:r>
          </a:p>
          <a:p>
            <a:r>
              <a:rPr lang="fr-FR" dirty="0"/>
              <a:t>transfert de la logique aux services</a:t>
            </a:r>
          </a:p>
          <a:p>
            <a:r>
              <a:rPr lang="fr-FR" dirty="0"/>
              <a:t>traitement des exceptions et des réponses api</a:t>
            </a:r>
          </a:p>
          <a:p>
            <a:r>
              <a:rPr lang="fr-FR" dirty="0"/>
              <a:t>observables </a:t>
            </a:r>
            <a:r>
              <a:rPr lang="fr-FR" dirty="0" err="1"/>
              <a:t>rxjs</a:t>
            </a:r>
            <a:endParaRPr lang="fr-FR" dirty="0"/>
          </a:p>
        </p:txBody>
      </p:sp>
      <p:sp>
        <p:nvSpPr>
          <p:cNvPr id="4" name="Slide Number Placeholder 3">
            <a:extLst>
              <a:ext uri="{FF2B5EF4-FFF2-40B4-BE49-F238E27FC236}">
                <a16:creationId xmlns:a16="http://schemas.microsoft.com/office/drawing/2014/main" id="{49A30F42-1817-4B40-AFA9-9A7A2B63CAD0}"/>
              </a:ext>
            </a:extLst>
          </p:cNvPr>
          <p:cNvSpPr>
            <a:spLocks noGrp="1"/>
          </p:cNvSpPr>
          <p:nvPr>
            <p:ph type="sldNum" sz="quarter" idx="12"/>
          </p:nvPr>
        </p:nvSpPr>
        <p:spPr/>
        <p:txBody>
          <a:bodyPr/>
          <a:lstStyle/>
          <a:p>
            <a:fld id="{C52ED629-2BC0-4D25-969E-9ED78B40D7C7}" type="slidenum">
              <a:rPr lang="fr-FR" smtClean="0"/>
              <a:t>14</a:t>
            </a:fld>
            <a:endParaRPr lang="fr-FR"/>
          </a:p>
        </p:txBody>
      </p:sp>
    </p:spTree>
    <p:extLst>
      <p:ext uri="{BB962C8B-B14F-4D97-AF65-F5344CB8AC3E}">
        <p14:creationId xmlns:p14="http://schemas.microsoft.com/office/powerpoint/2010/main" val="3451861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92C0F-125E-416C-9194-F5E3E981F89A}"/>
              </a:ext>
            </a:extLst>
          </p:cNvPr>
          <p:cNvSpPr>
            <a:spLocks noGrp="1"/>
          </p:cNvSpPr>
          <p:nvPr>
            <p:ph type="title"/>
          </p:nvPr>
        </p:nvSpPr>
        <p:spPr/>
        <p:txBody>
          <a:bodyPr/>
          <a:lstStyle/>
          <a:p>
            <a:r>
              <a:rPr lang="fr-FR" dirty="0"/>
              <a:t>conception</a:t>
            </a:r>
          </a:p>
        </p:txBody>
      </p:sp>
      <p:sp>
        <p:nvSpPr>
          <p:cNvPr id="4" name="Slide Number Placeholder 3">
            <a:extLst>
              <a:ext uri="{FF2B5EF4-FFF2-40B4-BE49-F238E27FC236}">
                <a16:creationId xmlns:a16="http://schemas.microsoft.com/office/drawing/2014/main" id="{873FF4AA-EF9F-4BDD-97AA-6AED43896DDA}"/>
              </a:ext>
            </a:extLst>
          </p:cNvPr>
          <p:cNvSpPr>
            <a:spLocks noGrp="1"/>
          </p:cNvSpPr>
          <p:nvPr>
            <p:ph type="sldNum" sz="quarter" idx="12"/>
          </p:nvPr>
        </p:nvSpPr>
        <p:spPr/>
        <p:txBody>
          <a:bodyPr/>
          <a:lstStyle/>
          <a:p>
            <a:fld id="{C52ED629-2BC0-4D25-969E-9ED78B40D7C7}" type="slidenum">
              <a:rPr lang="fr-FR" smtClean="0"/>
              <a:t>15</a:t>
            </a:fld>
            <a:endParaRPr lang="fr-FR"/>
          </a:p>
        </p:txBody>
      </p:sp>
    </p:spTree>
    <p:extLst>
      <p:ext uri="{BB962C8B-B14F-4D97-AF65-F5344CB8AC3E}">
        <p14:creationId xmlns:p14="http://schemas.microsoft.com/office/powerpoint/2010/main" val="34076700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CDD8B-FEB2-4BEA-ABB1-B01F1837C3C4}"/>
              </a:ext>
            </a:extLst>
          </p:cNvPr>
          <p:cNvSpPr>
            <a:spLocks noGrp="1"/>
          </p:cNvSpPr>
          <p:nvPr>
            <p:ph type="title"/>
          </p:nvPr>
        </p:nvSpPr>
        <p:spPr>
          <a:xfrm>
            <a:off x="695744" y="470380"/>
            <a:ext cx="10322776" cy="398789"/>
          </a:xfrm>
        </p:spPr>
        <p:txBody>
          <a:bodyPr>
            <a:normAutofit fontScale="90000"/>
          </a:bodyPr>
          <a:lstStyle/>
          <a:p>
            <a:r>
              <a:rPr lang="fr-FR" dirty="0"/>
              <a:t>Architecture</a:t>
            </a:r>
          </a:p>
        </p:txBody>
      </p:sp>
      <p:sp>
        <p:nvSpPr>
          <p:cNvPr id="3" name="Content Placeholder 2">
            <a:extLst>
              <a:ext uri="{FF2B5EF4-FFF2-40B4-BE49-F238E27FC236}">
                <a16:creationId xmlns:a16="http://schemas.microsoft.com/office/drawing/2014/main" id="{79BDEE36-A0ED-4FF3-B511-F9E648FF8B4A}"/>
              </a:ext>
            </a:extLst>
          </p:cNvPr>
          <p:cNvSpPr>
            <a:spLocks noGrp="1"/>
          </p:cNvSpPr>
          <p:nvPr>
            <p:ph idx="1"/>
          </p:nvPr>
        </p:nvSpPr>
        <p:spPr>
          <a:xfrm>
            <a:off x="563664" y="1074474"/>
            <a:ext cx="11023034" cy="4993818"/>
          </a:xfrm>
        </p:spPr>
        <p:txBody>
          <a:bodyPr/>
          <a:lstStyle/>
          <a:p>
            <a:pPr marL="45720" indent="0">
              <a:buNone/>
            </a:pPr>
            <a:endParaRPr lang="fr-FR" dirty="0"/>
          </a:p>
        </p:txBody>
      </p:sp>
      <p:sp>
        <p:nvSpPr>
          <p:cNvPr id="4" name="Slide Number Placeholder 3">
            <a:extLst>
              <a:ext uri="{FF2B5EF4-FFF2-40B4-BE49-F238E27FC236}">
                <a16:creationId xmlns:a16="http://schemas.microsoft.com/office/drawing/2014/main" id="{49F4B51B-EDA4-47C9-99AE-8B4B349EBE9D}"/>
              </a:ext>
            </a:extLst>
          </p:cNvPr>
          <p:cNvSpPr>
            <a:spLocks noGrp="1"/>
          </p:cNvSpPr>
          <p:nvPr>
            <p:ph type="sldNum" sz="quarter" idx="12"/>
          </p:nvPr>
        </p:nvSpPr>
        <p:spPr/>
        <p:txBody>
          <a:bodyPr/>
          <a:lstStyle/>
          <a:p>
            <a:fld id="{C52ED629-2BC0-4D25-969E-9ED78B40D7C7}" type="slidenum">
              <a:rPr lang="fr-FR" smtClean="0"/>
              <a:t>16</a:t>
            </a:fld>
            <a:endParaRPr lang="fr-FR"/>
          </a:p>
        </p:txBody>
      </p:sp>
      <p:sp>
        <p:nvSpPr>
          <p:cNvPr id="5" name="Rectangle 4">
            <a:extLst>
              <a:ext uri="{FF2B5EF4-FFF2-40B4-BE49-F238E27FC236}">
                <a16:creationId xmlns:a16="http://schemas.microsoft.com/office/drawing/2014/main" id="{1EDE560B-2C26-4C30-9BF2-C88A0FDA509A}"/>
              </a:ext>
            </a:extLst>
          </p:cNvPr>
          <p:cNvSpPr/>
          <p:nvPr/>
        </p:nvSpPr>
        <p:spPr>
          <a:xfrm>
            <a:off x="7236926" y="1004227"/>
            <a:ext cx="4440555" cy="5219601"/>
          </a:xfrm>
          <a:prstGeom prst="rect">
            <a:avLst/>
          </a:prstGeom>
          <a:solidFill>
            <a:srgbClr val="FFFFFF"/>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pic>
        <p:nvPicPr>
          <p:cNvPr id="21" name="Content Placeholder 8" descr="Database">
            <a:extLst>
              <a:ext uri="{FF2B5EF4-FFF2-40B4-BE49-F238E27FC236}">
                <a16:creationId xmlns:a16="http://schemas.microsoft.com/office/drawing/2014/main" id="{DCB89EA9-CDFD-461D-8AFE-589B97D3463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64332" y="5629512"/>
            <a:ext cx="426575" cy="365778"/>
          </a:xfrm>
          <a:prstGeom prst="rect">
            <a:avLst/>
          </a:prstGeom>
        </p:spPr>
      </p:pic>
      <p:sp>
        <p:nvSpPr>
          <p:cNvPr id="24" name="Rectangle: Rounded Corners 23">
            <a:extLst>
              <a:ext uri="{FF2B5EF4-FFF2-40B4-BE49-F238E27FC236}">
                <a16:creationId xmlns:a16="http://schemas.microsoft.com/office/drawing/2014/main" id="{D8E5A6F8-CC44-48CB-AE9F-B11804FDF7DD}"/>
              </a:ext>
            </a:extLst>
          </p:cNvPr>
          <p:cNvSpPr/>
          <p:nvPr/>
        </p:nvSpPr>
        <p:spPr>
          <a:xfrm>
            <a:off x="8071404" y="2067455"/>
            <a:ext cx="1080000" cy="182827"/>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contrôleur</a:t>
            </a:r>
          </a:p>
        </p:txBody>
      </p:sp>
      <p:sp>
        <p:nvSpPr>
          <p:cNvPr id="25" name="Rectangle: Rounded Corners 24">
            <a:extLst>
              <a:ext uri="{FF2B5EF4-FFF2-40B4-BE49-F238E27FC236}">
                <a16:creationId xmlns:a16="http://schemas.microsoft.com/office/drawing/2014/main" id="{B642F7D8-B369-4105-9619-9816ACCCE7C5}"/>
              </a:ext>
            </a:extLst>
          </p:cNvPr>
          <p:cNvSpPr/>
          <p:nvPr/>
        </p:nvSpPr>
        <p:spPr>
          <a:xfrm>
            <a:off x="9033391" y="4770574"/>
            <a:ext cx="1080000" cy="191663"/>
          </a:xfrm>
          <a:prstGeom prst="roundRect">
            <a:avLst/>
          </a:prstGeom>
          <a:solidFill>
            <a:srgbClr val="DB521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entités</a:t>
            </a:r>
          </a:p>
        </p:txBody>
      </p:sp>
      <p:sp>
        <p:nvSpPr>
          <p:cNvPr id="26" name="Rectangle: Rounded Corners 25">
            <a:extLst>
              <a:ext uri="{FF2B5EF4-FFF2-40B4-BE49-F238E27FC236}">
                <a16:creationId xmlns:a16="http://schemas.microsoft.com/office/drawing/2014/main" id="{57875CFC-A968-4D8C-BDB8-7AC522A4723E}"/>
              </a:ext>
            </a:extLst>
          </p:cNvPr>
          <p:cNvSpPr/>
          <p:nvPr/>
        </p:nvSpPr>
        <p:spPr>
          <a:xfrm>
            <a:off x="8841897" y="2966551"/>
            <a:ext cx="1080000" cy="191662"/>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service</a:t>
            </a:r>
          </a:p>
        </p:txBody>
      </p:sp>
      <p:sp>
        <p:nvSpPr>
          <p:cNvPr id="27" name="TextBox 26">
            <a:extLst>
              <a:ext uri="{FF2B5EF4-FFF2-40B4-BE49-F238E27FC236}">
                <a16:creationId xmlns:a16="http://schemas.microsoft.com/office/drawing/2014/main" id="{71391783-9FEF-4E91-B554-AB698BB7AECD}"/>
              </a:ext>
            </a:extLst>
          </p:cNvPr>
          <p:cNvSpPr txBox="1"/>
          <p:nvPr/>
        </p:nvSpPr>
        <p:spPr>
          <a:xfrm>
            <a:off x="9557043" y="5728785"/>
            <a:ext cx="567506" cy="246221"/>
          </a:xfrm>
          <a:prstGeom prst="rect">
            <a:avLst/>
          </a:prstGeom>
          <a:noFill/>
        </p:spPr>
        <p:txBody>
          <a:bodyPr wrap="square" rtlCol="0">
            <a:spAutoFit/>
          </a:bodyPr>
          <a:lstStyle/>
          <a:p>
            <a:r>
              <a:rPr lang="fr-FR" sz="1000" b="1" dirty="0"/>
              <a:t>BDD</a:t>
            </a:r>
          </a:p>
        </p:txBody>
      </p:sp>
      <p:cxnSp>
        <p:nvCxnSpPr>
          <p:cNvPr id="43" name="Straight Arrow Connector 42">
            <a:extLst>
              <a:ext uri="{FF2B5EF4-FFF2-40B4-BE49-F238E27FC236}">
                <a16:creationId xmlns:a16="http://schemas.microsoft.com/office/drawing/2014/main" id="{E91BC24B-29DE-4C52-8C6B-0DA480344470}"/>
              </a:ext>
            </a:extLst>
          </p:cNvPr>
          <p:cNvCxnSpPr/>
          <p:nvPr/>
        </p:nvCxnSpPr>
        <p:spPr>
          <a:xfrm>
            <a:off x="9527674" y="5051511"/>
            <a:ext cx="0" cy="477502"/>
          </a:xfrm>
          <a:prstGeom prst="straightConnector1">
            <a:avLst/>
          </a:prstGeom>
          <a:ln w="19050">
            <a:headEnd w="lg" len="med"/>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97E9EC8A-0914-462A-BB77-DCC47836F5A8}"/>
              </a:ext>
            </a:extLst>
          </p:cNvPr>
          <p:cNvCxnSpPr>
            <a:cxnSpLocks/>
          </p:cNvCxnSpPr>
          <p:nvPr/>
        </p:nvCxnSpPr>
        <p:spPr>
          <a:xfrm flipV="1">
            <a:off x="9722134" y="5051511"/>
            <a:ext cx="0" cy="4876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D6CE13B-F633-41D3-BA55-B9995637C3F5}"/>
              </a:ext>
            </a:extLst>
          </p:cNvPr>
          <p:cNvCxnSpPr/>
          <p:nvPr/>
        </p:nvCxnSpPr>
        <p:spPr>
          <a:xfrm>
            <a:off x="9488696" y="4165262"/>
            <a:ext cx="22021" cy="55324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636297" y="4177917"/>
            <a:ext cx="24992" cy="5675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4" name="TextBox 133">
            <a:extLst>
              <a:ext uri="{FF2B5EF4-FFF2-40B4-BE49-F238E27FC236}">
                <a16:creationId xmlns:a16="http://schemas.microsoft.com/office/drawing/2014/main" id="{BF92659B-57E9-40E5-8A42-67AF2CCAAB8D}"/>
              </a:ext>
            </a:extLst>
          </p:cNvPr>
          <p:cNvSpPr txBox="1"/>
          <p:nvPr/>
        </p:nvSpPr>
        <p:spPr>
          <a:xfrm>
            <a:off x="8726438" y="1124106"/>
            <a:ext cx="1984120" cy="369332"/>
          </a:xfrm>
          <a:prstGeom prst="rect">
            <a:avLst/>
          </a:prstGeom>
          <a:noFill/>
        </p:spPr>
        <p:txBody>
          <a:bodyPr wrap="square" rtlCol="0">
            <a:spAutoFit/>
          </a:bodyPr>
          <a:lstStyle/>
          <a:p>
            <a:r>
              <a:rPr lang="fr-FR" i="1" dirty="0">
                <a:solidFill>
                  <a:schemeClr val="tx2">
                    <a:lumMod val="60000"/>
                    <a:lumOff val="40000"/>
                  </a:schemeClr>
                </a:solidFill>
              </a:rPr>
              <a:t>« REST API »</a:t>
            </a:r>
          </a:p>
        </p:txBody>
      </p:sp>
      <p:sp>
        <p:nvSpPr>
          <p:cNvPr id="56" name="Rectangle: Rounded Corners 24">
            <a:extLst>
              <a:ext uri="{FF2B5EF4-FFF2-40B4-BE49-F238E27FC236}">
                <a16:creationId xmlns:a16="http://schemas.microsoft.com/office/drawing/2014/main" id="{B642F7D8-B369-4105-9619-9816ACCCE7C5}"/>
              </a:ext>
            </a:extLst>
          </p:cNvPr>
          <p:cNvSpPr/>
          <p:nvPr/>
        </p:nvSpPr>
        <p:spPr>
          <a:xfrm>
            <a:off x="9044549" y="3911636"/>
            <a:ext cx="1080000" cy="191663"/>
          </a:xfrm>
          <a:prstGeom prst="round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dao</a:t>
            </a:r>
          </a:p>
        </p:txBody>
      </p:sp>
      <p:cxnSp>
        <p:nvCxnSpPr>
          <p:cNvPr id="57"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527674" y="3283386"/>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1">
            <a:extLst>
              <a:ext uri="{FF2B5EF4-FFF2-40B4-BE49-F238E27FC236}">
                <a16:creationId xmlns:a16="http://schemas.microsoft.com/office/drawing/2014/main" id="{FD6CE13B-F633-41D3-BA55-B9995637C3F5}"/>
              </a:ext>
            </a:extLst>
          </p:cNvPr>
          <p:cNvCxnSpPr/>
          <p:nvPr/>
        </p:nvCxnSpPr>
        <p:spPr>
          <a:xfrm>
            <a:off x="9357259" y="3283386"/>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7" name="Rectangle à coins arrondis 36"/>
          <p:cNvSpPr/>
          <p:nvPr/>
        </p:nvSpPr>
        <p:spPr>
          <a:xfrm>
            <a:off x="840259" y="1983537"/>
            <a:ext cx="1318055" cy="739649"/>
          </a:xfrm>
          <a:prstGeom prst="roundRect">
            <a:avLst/>
          </a:prstGeom>
          <a:solidFill>
            <a:schemeClr val="bg1"/>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ZoneTexte 37"/>
          <p:cNvSpPr txBox="1"/>
          <p:nvPr/>
        </p:nvSpPr>
        <p:spPr>
          <a:xfrm>
            <a:off x="878847" y="2169189"/>
            <a:ext cx="1335828" cy="369332"/>
          </a:xfrm>
          <a:prstGeom prst="rect">
            <a:avLst/>
          </a:prstGeom>
          <a:noFill/>
        </p:spPr>
        <p:txBody>
          <a:bodyPr wrap="square" rtlCol="0">
            <a:spAutoFit/>
          </a:bodyPr>
          <a:lstStyle/>
          <a:p>
            <a:r>
              <a:rPr lang="en-US" dirty="0" err="1"/>
              <a:t>Navigateur</a:t>
            </a:r>
            <a:endParaRPr lang="fr-FR" dirty="0"/>
          </a:p>
        </p:txBody>
      </p:sp>
      <p:sp>
        <p:nvSpPr>
          <p:cNvPr id="40" name="Rectangle à coins arrondis 39"/>
          <p:cNvSpPr/>
          <p:nvPr/>
        </p:nvSpPr>
        <p:spPr>
          <a:xfrm>
            <a:off x="840259" y="3494537"/>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1" name="ZoneTexte 40"/>
          <p:cNvSpPr txBox="1"/>
          <p:nvPr/>
        </p:nvSpPr>
        <p:spPr>
          <a:xfrm>
            <a:off x="973013" y="3815830"/>
            <a:ext cx="1165318" cy="646331"/>
          </a:xfrm>
          <a:prstGeom prst="rect">
            <a:avLst/>
          </a:prstGeom>
          <a:noFill/>
        </p:spPr>
        <p:txBody>
          <a:bodyPr wrap="square" rtlCol="0">
            <a:spAutoFit/>
          </a:bodyPr>
          <a:lstStyle/>
          <a:p>
            <a:pPr algn="ctr"/>
            <a:r>
              <a:rPr lang="en-US" dirty="0"/>
              <a:t>HTML</a:t>
            </a:r>
          </a:p>
          <a:p>
            <a:pPr algn="ctr"/>
            <a:r>
              <a:rPr lang="en-US" dirty="0"/>
              <a:t>Template</a:t>
            </a:r>
            <a:endParaRPr lang="fr-FR" dirty="0"/>
          </a:p>
        </p:txBody>
      </p:sp>
      <p:sp>
        <p:nvSpPr>
          <p:cNvPr id="42" name="Rectangle à coins arrondis 41"/>
          <p:cNvSpPr/>
          <p:nvPr/>
        </p:nvSpPr>
        <p:spPr>
          <a:xfrm>
            <a:off x="2494892" y="3493770"/>
            <a:ext cx="1256068" cy="570858"/>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4" name="ZoneTexte 43"/>
          <p:cNvSpPr txBox="1"/>
          <p:nvPr/>
        </p:nvSpPr>
        <p:spPr>
          <a:xfrm>
            <a:off x="2469958" y="3585475"/>
            <a:ext cx="1365107" cy="369332"/>
          </a:xfrm>
          <a:prstGeom prst="rect">
            <a:avLst/>
          </a:prstGeom>
          <a:noFill/>
        </p:spPr>
        <p:txBody>
          <a:bodyPr wrap="square" rtlCol="0">
            <a:spAutoFit/>
          </a:bodyPr>
          <a:lstStyle/>
          <a:p>
            <a:r>
              <a:rPr lang="en-US" dirty="0"/>
              <a:t>Component</a:t>
            </a:r>
            <a:endParaRPr lang="fr-FR" dirty="0"/>
          </a:p>
        </p:txBody>
      </p:sp>
      <p:sp>
        <p:nvSpPr>
          <p:cNvPr id="48" name="Rectangle à coins arrondis 47"/>
          <p:cNvSpPr/>
          <p:nvPr/>
        </p:nvSpPr>
        <p:spPr>
          <a:xfrm>
            <a:off x="4061024" y="3493770"/>
            <a:ext cx="923928" cy="1422395"/>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ZoneTexte 49"/>
          <p:cNvSpPr txBox="1"/>
          <p:nvPr/>
        </p:nvSpPr>
        <p:spPr>
          <a:xfrm>
            <a:off x="4104635" y="3992399"/>
            <a:ext cx="882375" cy="369332"/>
          </a:xfrm>
          <a:prstGeom prst="rect">
            <a:avLst/>
          </a:prstGeom>
          <a:noFill/>
        </p:spPr>
        <p:txBody>
          <a:bodyPr wrap="square" rtlCol="0">
            <a:spAutoFit/>
          </a:bodyPr>
          <a:lstStyle/>
          <a:p>
            <a:r>
              <a:rPr lang="en-US" dirty="0"/>
              <a:t>Service</a:t>
            </a:r>
            <a:endParaRPr lang="fr-FR" dirty="0"/>
          </a:p>
        </p:txBody>
      </p:sp>
      <p:sp>
        <p:nvSpPr>
          <p:cNvPr id="51" name="Rectangle à coins arrondis 50"/>
          <p:cNvSpPr/>
          <p:nvPr/>
        </p:nvSpPr>
        <p:spPr>
          <a:xfrm>
            <a:off x="2479140" y="4344050"/>
            <a:ext cx="1256068" cy="526533"/>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Interface</a:t>
            </a:r>
            <a:endParaRPr lang="fr-FR" dirty="0">
              <a:solidFill>
                <a:schemeClr val="tx1"/>
              </a:solidFill>
            </a:endParaRPr>
          </a:p>
        </p:txBody>
      </p:sp>
      <p:sp>
        <p:nvSpPr>
          <p:cNvPr id="73" name="Rectangle à coins arrondis 72"/>
          <p:cNvSpPr/>
          <p:nvPr/>
        </p:nvSpPr>
        <p:spPr>
          <a:xfrm>
            <a:off x="5238049" y="3516846"/>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Interceptor</a:t>
            </a:r>
            <a:endParaRPr lang="fr-FR" dirty="0">
              <a:solidFill>
                <a:schemeClr val="tx1"/>
              </a:solidFill>
            </a:endParaRPr>
          </a:p>
        </p:txBody>
      </p:sp>
      <p:sp>
        <p:nvSpPr>
          <p:cNvPr id="59" name="Rectangle à coins arrondis 58"/>
          <p:cNvSpPr/>
          <p:nvPr/>
        </p:nvSpPr>
        <p:spPr>
          <a:xfrm>
            <a:off x="681911" y="3109525"/>
            <a:ext cx="6186039" cy="2146263"/>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62" name="Connecteur droit avec flèche 61"/>
          <p:cNvCxnSpPr>
            <a:endCxn id="44" idx="1"/>
          </p:cNvCxnSpPr>
          <p:nvPr/>
        </p:nvCxnSpPr>
        <p:spPr>
          <a:xfrm>
            <a:off x="2227121" y="3770141"/>
            <a:ext cx="2428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Connecteur droit avec flèche 74"/>
          <p:cNvCxnSpPr>
            <a:stCxn id="42" idx="2"/>
            <a:endCxn id="51" idx="0"/>
          </p:cNvCxnSpPr>
          <p:nvPr/>
        </p:nvCxnSpPr>
        <p:spPr>
          <a:xfrm flipH="1">
            <a:off x="3107174" y="4064628"/>
            <a:ext cx="15752" cy="27942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Connecteur droit avec flèche 80"/>
          <p:cNvCxnSpPr/>
          <p:nvPr/>
        </p:nvCxnSpPr>
        <p:spPr>
          <a:xfrm>
            <a:off x="3744636" y="3698850"/>
            <a:ext cx="327761" cy="9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eur droit avec flèche 90"/>
          <p:cNvCxnSpPr>
            <a:stCxn id="50" idx="3"/>
          </p:cNvCxnSpPr>
          <p:nvPr/>
        </p:nvCxnSpPr>
        <p:spPr>
          <a:xfrm>
            <a:off x="4987010" y="4177065"/>
            <a:ext cx="36691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necteur droit avec flèche 95"/>
          <p:cNvCxnSpPr/>
          <p:nvPr/>
        </p:nvCxnSpPr>
        <p:spPr>
          <a:xfrm>
            <a:off x="1499286" y="2723186"/>
            <a:ext cx="0" cy="8908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necteur droit avec flèche 100"/>
          <p:cNvCxnSpPr>
            <a:stCxn id="73" idx="3"/>
            <a:endCxn id="24" idx="1"/>
          </p:cNvCxnSpPr>
          <p:nvPr/>
        </p:nvCxnSpPr>
        <p:spPr>
          <a:xfrm flipV="1">
            <a:off x="6624911" y="2158869"/>
            <a:ext cx="1446493" cy="20460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5" name="Connecteur droit avec flèche 104"/>
          <p:cNvCxnSpPr/>
          <p:nvPr/>
        </p:nvCxnSpPr>
        <p:spPr>
          <a:xfrm flipH="1">
            <a:off x="6624912" y="2250282"/>
            <a:ext cx="1559213" cy="20937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Rectangle à coins arrondis 105"/>
          <p:cNvSpPr/>
          <p:nvPr/>
        </p:nvSpPr>
        <p:spPr>
          <a:xfrm>
            <a:off x="7937856" y="1511458"/>
            <a:ext cx="3018468" cy="4712370"/>
          </a:xfrm>
          <a:prstGeom prst="round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13"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215194" y="2368804"/>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51">
            <a:extLst>
              <a:ext uri="{FF2B5EF4-FFF2-40B4-BE49-F238E27FC236}">
                <a16:creationId xmlns:a16="http://schemas.microsoft.com/office/drawing/2014/main" id="{FD6CE13B-F633-41D3-BA55-B9995637C3F5}"/>
              </a:ext>
            </a:extLst>
          </p:cNvPr>
          <p:cNvCxnSpPr/>
          <p:nvPr/>
        </p:nvCxnSpPr>
        <p:spPr>
          <a:xfrm>
            <a:off x="9033391" y="2341272"/>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51945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p:txBody>
          <a:bodyPr/>
          <a:lstStyle/>
          <a:p>
            <a:fld id="{C52ED629-2BC0-4D25-969E-9ED78B40D7C7}" type="slidenum">
              <a:rPr lang="fr-FR" smtClean="0"/>
              <a:t>17</a:t>
            </a:fld>
            <a:endParaRPr lang="fr-FR"/>
          </a:p>
        </p:txBody>
      </p:sp>
      <p:sp>
        <p:nvSpPr>
          <p:cNvPr id="7" name="Title 4">
            <a:extLst>
              <a:ext uri="{FF2B5EF4-FFF2-40B4-BE49-F238E27FC236}">
                <a16:creationId xmlns:a16="http://schemas.microsoft.com/office/drawing/2014/main" id="{A4B4D787-12B7-43E2-B14C-F3027937EB2D}"/>
              </a:ext>
            </a:extLst>
          </p:cNvPr>
          <p:cNvSpPr txBox="1">
            <a:spLocks/>
          </p:cNvSpPr>
          <p:nvPr/>
        </p:nvSpPr>
        <p:spPr>
          <a:xfrm>
            <a:off x="337751" y="409483"/>
            <a:ext cx="11524735" cy="45308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a:p>
          <a:p>
            <a:pPr algn="ctr"/>
            <a:r>
              <a:rPr lang="fr-FR" sz="3200" dirty="0"/>
              <a:t>Structure de Back-End</a:t>
            </a:r>
          </a:p>
          <a:p>
            <a:endParaRPr lang="fr-FR" sz="3200" dirty="0"/>
          </a:p>
        </p:txBody>
      </p:sp>
      <p:sp>
        <p:nvSpPr>
          <p:cNvPr id="8" name="Title 4">
            <a:extLst>
              <a:ext uri="{FF2B5EF4-FFF2-40B4-BE49-F238E27FC236}">
                <a16:creationId xmlns:a16="http://schemas.microsoft.com/office/drawing/2014/main" id="{A4B4D787-12B7-43E2-B14C-F3027937EB2D}"/>
              </a:ext>
            </a:extLst>
          </p:cNvPr>
          <p:cNvSpPr txBox="1">
            <a:spLocks/>
          </p:cNvSpPr>
          <p:nvPr/>
        </p:nvSpPr>
        <p:spPr>
          <a:xfrm>
            <a:off x="4611882" y="1134174"/>
            <a:ext cx="2489135" cy="527221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a:p>
          <a:p>
            <a:endParaRPr lang="fr-FR" sz="3200" dirty="0"/>
          </a:p>
        </p:txBody>
      </p:sp>
      <p:pic>
        <p:nvPicPr>
          <p:cNvPr id="2" name="Image 1"/>
          <p:cNvPicPr>
            <a:picLocks noChangeAspect="1"/>
          </p:cNvPicPr>
          <p:nvPr/>
        </p:nvPicPr>
        <p:blipFill>
          <a:blip r:embed="rId2"/>
          <a:stretch>
            <a:fillRect/>
          </a:stretch>
        </p:blipFill>
        <p:spPr>
          <a:xfrm>
            <a:off x="4222407" y="1462029"/>
            <a:ext cx="3467100" cy="4362450"/>
          </a:xfrm>
          <a:prstGeom prst="rect">
            <a:avLst/>
          </a:prstGeom>
        </p:spPr>
      </p:pic>
      <p:cxnSp>
        <p:nvCxnSpPr>
          <p:cNvPr id="6" name="Connecteur droit avec flèche 5"/>
          <p:cNvCxnSpPr/>
          <p:nvPr/>
        </p:nvCxnSpPr>
        <p:spPr>
          <a:xfrm flipH="1" flipV="1">
            <a:off x="3534032" y="1878227"/>
            <a:ext cx="1713472" cy="238897"/>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1" name="ZoneTexte 10"/>
          <p:cNvSpPr txBox="1"/>
          <p:nvPr/>
        </p:nvSpPr>
        <p:spPr>
          <a:xfrm>
            <a:off x="460933" y="1417420"/>
            <a:ext cx="3288699" cy="830997"/>
          </a:xfrm>
          <a:prstGeom prst="rect">
            <a:avLst/>
          </a:prstGeom>
          <a:noFill/>
        </p:spPr>
        <p:txBody>
          <a:bodyPr wrap="square" rtlCol="0">
            <a:spAutoFit/>
          </a:bodyPr>
          <a:lstStyle/>
          <a:p>
            <a:r>
              <a:rPr lang="fr-FR" sz="1200" dirty="0">
                <a:solidFill>
                  <a:schemeClr val="accent1">
                    <a:lumMod val="75000"/>
                  </a:schemeClr>
                </a:solidFill>
              </a:rPr>
              <a:t>contient des écouteurs d'événements et des événements qui sont publiés lorsque l'utilisateur a terminé l'enregistrement ou demandé une réinitialisation du mot de passe</a:t>
            </a:r>
            <a:endParaRPr lang="fr-FR" sz="1200" b="1" dirty="0">
              <a:solidFill>
                <a:schemeClr val="accent1">
                  <a:lumMod val="75000"/>
                </a:schemeClr>
              </a:solidFill>
            </a:endParaRPr>
          </a:p>
        </p:txBody>
      </p:sp>
      <p:sp>
        <p:nvSpPr>
          <p:cNvPr id="16" name="ZoneTexte 15"/>
          <p:cNvSpPr txBox="1"/>
          <p:nvPr/>
        </p:nvSpPr>
        <p:spPr>
          <a:xfrm>
            <a:off x="460933" y="2368631"/>
            <a:ext cx="3379316" cy="1015663"/>
          </a:xfrm>
          <a:prstGeom prst="rect">
            <a:avLst/>
          </a:prstGeom>
          <a:noFill/>
        </p:spPr>
        <p:txBody>
          <a:bodyPr wrap="square" rtlCol="0">
            <a:spAutoFit/>
          </a:bodyPr>
          <a:lstStyle/>
          <a:p>
            <a:r>
              <a:rPr lang="fr-FR" sz="1200" dirty="0">
                <a:solidFill>
                  <a:schemeClr val="accent1">
                    <a:lumMod val="75000"/>
                  </a:schemeClr>
                </a:solidFill>
              </a:rPr>
              <a:t>contient des filtres de requête, des points d'entrée d'authentification, un objet de réponse </a:t>
            </a:r>
            <a:r>
              <a:rPr lang="fr-FR" sz="1200" dirty="0" err="1">
                <a:solidFill>
                  <a:schemeClr val="accent1">
                    <a:lumMod val="75000"/>
                  </a:schemeClr>
                </a:solidFill>
              </a:rPr>
              <a:t>jwt</a:t>
            </a:r>
            <a:r>
              <a:rPr lang="fr-FR" sz="1200" dirty="0">
                <a:solidFill>
                  <a:schemeClr val="accent1">
                    <a:lumMod val="75000"/>
                  </a:schemeClr>
                </a:solidFill>
              </a:rPr>
              <a:t> et des utilitaires pour générer des jetons d'authentification </a:t>
            </a:r>
            <a:r>
              <a:rPr lang="fr-FR" sz="1200" dirty="0" err="1">
                <a:solidFill>
                  <a:schemeClr val="accent1">
                    <a:lumMod val="75000"/>
                  </a:schemeClr>
                </a:solidFill>
              </a:rPr>
              <a:t>jwt</a:t>
            </a:r>
            <a:r>
              <a:rPr lang="fr-FR" sz="1200" dirty="0">
                <a:solidFill>
                  <a:schemeClr val="accent1">
                    <a:lumMod val="75000"/>
                  </a:schemeClr>
                </a:solidFill>
              </a:rPr>
              <a:t>, les envoyer à l'utilisateur, et lire et valider à partir des en-têtes de requête</a:t>
            </a:r>
          </a:p>
        </p:txBody>
      </p:sp>
      <p:cxnSp>
        <p:nvCxnSpPr>
          <p:cNvPr id="18" name="Connecteur droit avec flèche 17"/>
          <p:cNvCxnSpPr/>
          <p:nvPr/>
        </p:nvCxnSpPr>
        <p:spPr>
          <a:xfrm flipH="1">
            <a:off x="3749632" y="2529535"/>
            <a:ext cx="1868573" cy="46080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dk1"/>
          </a:lnRef>
          <a:fillRef idx="0">
            <a:schemeClr val="dk1"/>
          </a:fillRef>
          <a:effectRef idx="0">
            <a:schemeClr val="dk1"/>
          </a:effectRef>
          <a:fontRef idx="minor">
            <a:schemeClr val="tx1"/>
          </a:fontRef>
        </p:style>
      </p:cxnSp>
      <p:sp>
        <p:nvSpPr>
          <p:cNvPr id="19" name="ZoneTexte 18"/>
          <p:cNvSpPr txBox="1"/>
          <p:nvPr/>
        </p:nvSpPr>
        <p:spPr>
          <a:xfrm>
            <a:off x="451581" y="3497222"/>
            <a:ext cx="2850292" cy="1015663"/>
          </a:xfrm>
          <a:prstGeom prst="rect">
            <a:avLst/>
          </a:prstGeom>
          <a:noFill/>
        </p:spPr>
        <p:txBody>
          <a:bodyPr wrap="square" rtlCol="0">
            <a:spAutoFit/>
          </a:bodyPr>
          <a:lstStyle/>
          <a:p>
            <a:r>
              <a:rPr lang="fr-FR" sz="1200" dirty="0">
                <a:solidFill>
                  <a:schemeClr val="accent1">
                    <a:lumMod val="75000"/>
                  </a:schemeClr>
                </a:solidFill>
              </a:rPr>
              <a:t>contient des entités, qui sont stockées dans la base de données, et le dao (</a:t>
            </a:r>
            <a:r>
              <a:rPr lang="fr-FR" sz="1200" dirty="0" err="1">
                <a:solidFill>
                  <a:schemeClr val="accent1">
                    <a:lumMod val="75000"/>
                  </a:schemeClr>
                </a:solidFill>
              </a:rPr>
              <a:t>repository</a:t>
            </a:r>
            <a:r>
              <a:rPr lang="fr-FR" sz="1200" dirty="0">
                <a:solidFill>
                  <a:schemeClr val="accent1">
                    <a:lumMod val="75000"/>
                  </a:schemeClr>
                </a:solidFill>
              </a:rPr>
              <a:t>) - mécanisme pour encapsuler le stockage, la récupération et le comportement de recherche</a:t>
            </a:r>
          </a:p>
        </p:txBody>
      </p:sp>
      <p:cxnSp>
        <p:nvCxnSpPr>
          <p:cNvPr id="21" name="Connecteur droit avec flèche 20"/>
          <p:cNvCxnSpPr/>
          <p:nvPr/>
        </p:nvCxnSpPr>
        <p:spPr>
          <a:xfrm flipH="1">
            <a:off x="3301873" y="2876462"/>
            <a:ext cx="2279778" cy="100356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4" name="ZoneTexte 23"/>
          <p:cNvSpPr txBox="1"/>
          <p:nvPr/>
        </p:nvSpPr>
        <p:spPr>
          <a:xfrm>
            <a:off x="451581" y="4633099"/>
            <a:ext cx="2817341" cy="646331"/>
          </a:xfrm>
          <a:prstGeom prst="rect">
            <a:avLst/>
          </a:prstGeom>
          <a:noFill/>
        </p:spPr>
        <p:txBody>
          <a:bodyPr wrap="square" rtlCol="0">
            <a:spAutoFit/>
          </a:bodyPr>
          <a:lstStyle/>
          <a:p>
            <a:r>
              <a:rPr lang="fr-FR" sz="1200" dirty="0">
                <a:solidFill>
                  <a:schemeClr val="accent1">
                    <a:lumMod val="75000"/>
                  </a:schemeClr>
                </a:solidFill>
              </a:rPr>
              <a:t>contient des services qui sont utilisés pour écrire la logique dans une couche différente, séparée des contrôleurs REST</a:t>
            </a:r>
          </a:p>
        </p:txBody>
      </p:sp>
      <p:cxnSp>
        <p:nvCxnSpPr>
          <p:cNvPr id="26" name="Connecteur droit avec flèche 25"/>
          <p:cNvCxnSpPr/>
          <p:nvPr/>
        </p:nvCxnSpPr>
        <p:spPr>
          <a:xfrm flipH="1">
            <a:off x="3212757" y="3497222"/>
            <a:ext cx="2368894" cy="1437243"/>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7" name="ZoneTexte 26"/>
          <p:cNvSpPr txBox="1"/>
          <p:nvPr/>
        </p:nvSpPr>
        <p:spPr>
          <a:xfrm>
            <a:off x="460933" y="5279430"/>
            <a:ext cx="2840940" cy="1015663"/>
          </a:xfrm>
          <a:prstGeom prst="rect">
            <a:avLst/>
          </a:prstGeom>
          <a:noFill/>
        </p:spPr>
        <p:txBody>
          <a:bodyPr wrap="square" rtlCol="0">
            <a:spAutoFit/>
          </a:bodyPr>
          <a:lstStyle/>
          <a:p>
            <a:r>
              <a:rPr lang="fr-FR" sz="1200" dirty="0">
                <a:solidFill>
                  <a:schemeClr val="accent1">
                    <a:lumMod val="75000"/>
                  </a:schemeClr>
                </a:solidFill>
              </a:rPr>
              <a:t>contient des configurations </a:t>
            </a:r>
            <a:r>
              <a:rPr lang="fr-FR" sz="1200" dirty="0" err="1">
                <a:solidFill>
                  <a:schemeClr val="accent1">
                    <a:lumMod val="75000"/>
                  </a:schemeClr>
                </a:solidFill>
              </a:rPr>
              <a:t>Spring</a:t>
            </a:r>
            <a:r>
              <a:rPr lang="fr-FR" sz="1200" dirty="0">
                <a:solidFill>
                  <a:schemeClr val="accent1">
                    <a:lumMod val="75000"/>
                  </a:schemeClr>
                </a:solidFill>
              </a:rPr>
              <a:t>. Une configuration Web pour permettre l'accès aux contrôleurs en fonction des autorisations, et la configuration qui permet la planification des tâches</a:t>
            </a:r>
          </a:p>
        </p:txBody>
      </p:sp>
      <p:cxnSp>
        <p:nvCxnSpPr>
          <p:cNvPr id="29" name="Connecteur droit avec flèche 28"/>
          <p:cNvCxnSpPr/>
          <p:nvPr/>
        </p:nvCxnSpPr>
        <p:spPr>
          <a:xfrm flipH="1">
            <a:off x="3155092" y="3880022"/>
            <a:ext cx="2463114" cy="188166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1" name="ZoneTexte 30"/>
          <p:cNvSpPr txBox="1"/>
          <p:nvPr/>
        </p:nvSpPr>
        <p:spPr>
          <a:xfrm>
            <a:off x="8221908" y="1134174"/>
            <a:ext cx="3303373" cy="830997"/>
          </a:xfrm>
          <a:prstGeom prst="rect">
            <a:avLst/>
          </a:prstGeom>
          <a:noFill/>
        </p:spPr>
        <p:txBody>
          <a:bodyPr wrap="square" rtlCol="0">
            <a:spAutoFit/>
          </a:bodyPr>
          <a:lstStyle/>
          <a:p>
            <a:r>
              <a:rPr lang="fr-FR" sz="1200" dirty="0">
                <a:solidFill>
                  <a:schemeClr val="accent1">
                    <a:lumMod val="75000"/>
                  </a:schemeClr>
                </a:solidFill>
              </a:rPr>
              <a:t>contient des tâches de planification qui prennent en charge la suppression des fichiers, qui ne sont plus référencés dans la base de données, du stockage du serveur</a:t>
            </a:r>
          </a:p>
        </p:txBody>
      </p:sp>
      <p:cxnSp>
        <p:nvCxnSpPr>
          <p:cNvPr id="33" name="Connecteur droit avec flèche 32"/>
          <p:cNvCxnSpPr/>
          <p:nvPr/>
        </p:nvCxnSpPr>
        <p:spPr>
          <a:xfrm flipV="1">
            <a:off x="6109754" y="1771135"/>
            <a:ext cx="2111608" cy="225716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4" name="ZoneTexte 33"/>
          <p:cNvSpPr txBox="1"/>
          <p:nvPr/>
        </p:nvSpPr>
        <p:spPr>
          <a:xfrm>
            <a:off x="8216196" y="2042745"/>
            <a:ext cx="3171568" cy="830997"/>
          </a:xfrm>
          <a:prstGeom prst="rect">
            <a:avLst/>
          </a:prstGeom>
          <a:noFill/>
        </p:spPr>
        <p:txBody>
          <a:bodyPr wrap="square" rtlCol="0">
            <a:spAutoFit/>
          </a:bodyPr>
          <a:lstStyle/>
          <a:p>
            <a:r>
              <a:rPr lang="fr-FR" sz="1200" dirty="0">
                <a:solidFill>
                  <a:schemeClr val="accent1">
                    <a:lumMod val="75000"/>
                  </a:schemeClr>
                </a:solidFill>
              </a:rPr>
              <a:t>contient des validateurs de contraintes, utilisés pour valider les demandes d'inscription, les demandes de connexion et les jetons de récupération de mot de passe</a:t>
            </a:r>
          </a:p>
        </p:txBody>
      </p:sp>
      <p:cxnSp>
        <p:nvCxnSpPr>
          <p:cNvPr id="36" name="Connecteur droit avec flèche 35"/>
          <p:cNvCxnSpPr/>
          <p:nvPr/>
        </p:nvCxnSpPr>
        <p:spPr>
          <a:xfrm flipV="1">
            <a:off x="6532605" y="2759935"/>
            <a:ext cx="1683591" cy="145590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7" name="ZoneTexte 36"/>
          <p:cNvSpPr txBox="1"/>
          <p:nvPr/>
        </p:nvSpPr>
        <p:spPr>
          <a:xfrm>
            <a:off x="8254313" y="2951316"/>
            <a:ext cx="3100499" cy="646331"/>
          </a:xfrm>
          <a:prstGeom prst="rect">
            <a:avLst/>
          </a:prstGeom>
          <a:noFill/>
        </p:spPr>
        <p:txBody>
          <a:bodyPr wrap="square" rtlCol="0">
            <a:spAutoFit/>
          </a:bodyPr>
          <a:lstStyle/>
          <a:p>
            <a:r>
              <a:rPr lang="fr-FR" sz="1200" dirty="0">
                <a:solidFill>
                  <a:schemeClr val="accent1">
                    <a:lumMod val="75000"/>
                  </a:schemeClr>
                </a:solidFill>
              </a:rPr>
              <a:t>contient les objets d'erreur d'api et d'erreur de validation utilisés par le gestionnaire d'exception</a:t>
            </a:r>
          </a:p>
        </p:txBody>
      </p:sp>
      <p:cxnSp>
        <p:nvCxnSpPr>
          <p:cNvPr id="39" name="Connecteur droit avec flèche 38"/>
          <p:cNvCxnSpPr/>
          <p:nvPr/>
        </p:nvCxnSpPr>
        <p:spPr>
          <a:xfrm flipV="1">
            <a:off x="6672649" y="3487889"/>
            <a:ext cx="1581664" cy="114521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0" name="ZoneTexte 39"/>
          <p:cNvSpPr txBox="1"/>
          <p:nvPr/>
        </p:nvSpPr>
        <p:spPr>
          <a:xfrm>
            <a:off x="8283324" y="3741522"/>
            <a:ext cx="3001644" cy="276999"/>
          </a:xfrm>
          <a:prstGeom prst="rect">
            <a:avLst/>
          </a:prstGeom>
          <a:noFill/>
        </p:spPr>
        <p:txBody>
          <a:bodyPr wrap="square" rtlCol="0">
            <a:spAutoFit/>
          </a:bodyPr>
          <a:lstStyle/>
          <a:p>
            <a:r>
              <a:rPr lang="en-US" sz="1200" dirty="0" err="1">
                <a:solidFill>
                  <a:schemeClr val="accent1">
                    <a:lumMod val="75000"/>
                  </a:schemeClr>
                </a:solidFill>
              </a:rPr>
              <a:t>contient</a:t>
            </a:r>
            <a:r>
              <a:rPr lang="en-US" sz="1200" dirty="0">
                <a:solidFill>
                  <a:schemeClr val="accent1">
                    <a:lumMod val="75000"/>
                  </a:schemeClr>
                </a:solidFill>
              </a:rPr>
              <a:t> les </a:t>
            </a:r>
            <a:r>
              <a:rPr lang="en-US" sz="1200" dirty="0" err="1">
                <a:solidFill>
                  <a:schemeClr val="accent1">
                    <a:lumMod val="75000"/>
                  </a:schemeClr>
                </a:solidFill>
              </a:rPr>
              <a:t>contrôleurs</a:t>
            </a:r>
            <a:r>
              <a:rPr lang="en-US" sz="1200" dirty="0">
                <a:solidFill>
                  <a:schemeClr val="accent1">
                    <a:lumMod val="75000"/>
                  </a:schemeClr>
                </a:solidFill>
              </a:rPr>
              <a:t> REST</a:t>
            </a:r>
            <a:endParaRPr lang="fr-FR" sz="1200" dirty="0">
              <a:solidFill>
                <a:schemeClr val="accent1">
                  <a:lumMod val="75000"/>
                </a:schemeClr>
              </a:solidFill>
            </a:endParaRPr>
          </a:p>
        </p:txBody>
      </p:sp>
      <p:cxnSp>
        <p:nvCxnSpPr>
          <p:cNvPr id="42" name="Connecteur droit avec flèche 41"/>
          <p:cNvCxnSpPr/>
          <p:nvPr/>
        </p:nvCxnSpPr>
        <p:spPr>
          <a:xfrm flipV="1">
            <a:off x="6870357" y="4005053"/>
            <a:ext cx="1491048" cy="815803"/>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3" name="ZoneTexte 42"/>
          <p:cNvSpPr txBox="1"/>
          <p:nvPr/>
        </p:nvSpPr>
        <p:spPr>
          <a:xfrm>
            <a:off x="8310496" y="4162396"/>
            <a:ext cx="2734963" cy="1015663"/>
          </a:xfrm>
          <a:prstGeom prst="rect">
            <a:avLst/>
          </a:prstGeom>
          <a:noFill/>
        </p:spPr>
        <p:txBody>
          <a:bodyPr wrap="square" rtlCol="0">
            <a:spAutoFit/>
          </a:bodyPr>
          <a:lstStyle/>
          <a:p>
            <a:r>
              <a:rPr lang="fr-FR" sz="1200" dirty="0">
                <a:solidFill>
                  <a:schemeClr val="accent1">
                    <a:lumMod val="75000"/>
                  </a:schemeClr>
                </a:solidFill>
              </a:rPr>
              <a:t>des objets de transfert de données qui ne contiennent pas de logique mais des mécanismes de sérialisation et de </a:t>
            </a:r>
            <a:r>
              <a:rPr lang="fr-FR" sz="1200" dirty="0" err="1">
                <a:solidFill>
                  <a:schemeClr val="accent1">
                    <a:lumMod val="75000"/>
                  </a:schemeClr>
                </a:solidFill>
              </a:rPr>
              <a:t>désérialisation</a:t>
            </a:r>
            <a:r>
              <a:rPr lang="fr-FR" sz="1200" dirty="0">
                <a:solidFill>
                  <a:schemeClr val="accent1">
                    <a:lumMod val="75000"/>
                  </a:schemeClr>
                </a:solidFill>
              </a:rPr>
              <a:t> pour le transfert de données.</a:t>
            </a:r>
          </a:p>
        </p:txBody>
      </p:sp>
      <p:cxnSp>
        <p:nvCxnSpPr>
          <p:cNvPr id="45" name="Connecteur droit avec flèche 44"/>
          <p:cNvCxnSpPr/>
          <p:nvPr/>
        </p:nvCxnSpPr>
        <p:spPr>
          <a:xfrm flipV="1">
            <a:off x="6450227" y="4934465"/>
            <a:ext cx="1804086" cy="2179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6" name="ZoneTexte 45"/>
          <p:cNvSpPr txBox="1"/>
          <p:nvPr/>
        </p:nvSpPr>
        <p:spPr>
          <a:xfrm>
            <a:off x="8310496" y="5174127"/>
            <a:ext cx="2674342" cy="1384995"/>
          </a:xfrm>
          <a:prstGeom prst="rect">
            <a:avLst/>
          </a:prstGeom>
          <a:noFill/>
        </p:spPr>
        <p:txBody>
          <a:bodyPr wrap="square" rtlCol="0">
            <a:spAutoFit/>
          </a:bodyPr>
          <a:lstStyle/>
          <a:p>
            <a:r>
              <a:rPr lang="fr-FR" sz="1200" dirty="0">
                <a:solidFill>
                  <a:schemeClr val="accent1">
                    <a:lumMod val="75000"/>
                  </a:schemeClr>
                </a:solidFill>
              </a:rPr>
              <a:t>contient les exceptions qui sont lancées pendant le traitement des demandes, et un gestionnaire d'exception, qui gère toutes les exceptions et envoie au client une erreur lisible par l'homme au lieu d'un </a:t>
            </a:r>
            <a:r>
              <a:rPr lang="fr-FR" sz="1200" dirty="0" err="1">
                <a:solidFill>
                  <a:schemeClr val="accent1">
                    <a:lumMod val="75000"/>
                  </a:schemeClr>
                </a:solidFill>
              </a:rPr>
              <a:t>backtrace</a:t>
            </a:r>
            <a:r>
              <a:rPr lang="fr-FR" sz="1200" dirty="0">
                <a:solidFill>
                  <a:schemeClr val="accent1">
                    <a:lumMod val="75000"/>
                  </a:schemeClr>
                </a:solidFill>
              </a:rPr>
              <a:t>, en utilisant l'objet </a:t>
            </a:r>
            <a:r>
              <a:rPr lang="fr-FR" sz="1200" dirty="0" err="1">
                <a:solidFill>
                  <a:schemeClr val="accent1">
                    <a:lumMod val="75000"/>
                  </a:schemeClr>
                </a:solidFill>
              </a:rPr>
              <a:t>ApiError</a:t>
            </a:r>
            <a:r>
              <a:rPr lang="fr-FR" sz="1200" dirty="0">
                <a:solidFill>
                  <a:schemeClr val="accent1">
                    <a:lumMod val="75000"/>
                  </a:schemeClr>
                </a:solidFill>
              </a:rPr>
              <a:t>.</a:t>
            </a:r>
          </a:p>
        </p:txBody>
      </p:sp>
      <p:cxnSp>
        <p:nvCxnSpPr>
          <p:cNvPr id="48" name="Connecteur droit avec flèche 47"/>
          <p:cNvCxnSpPr/>
          <p:nvPr/>
        </p:nvCxnSpPr>
        <p:spPr>
          <a:xfrm>
            <a:off x="6763265" y="5552303"/>
            <a:ext cx="1598140" cy="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9" name="ZoneTexte 48"/>
          <p:cNvSpPr txBox="1"/>
          <p:nvPr/>
        </p:nvSpPr>
        <p:spPr>
          <a:xfrm>
            <a:off x="4222407" y="5935421"/>
            <a:ext cx="3417667" cy="646331"/>
          </a:xfrm>
          <a:prstGeom prst="rect">
            <a:avLst/>
          </a:prstGeom>
          <a:noFill/>
        </p:spPr>
        <p:txBody>
          <a:bodyPr wrap="square" rtlCol="0">
            <a:spAutoFit/>
          </a:bodyPr>
          <a:lstStyle/>
          <a:p>
            <a:r>
              <a:rPr lang="fr-FR" sz="1200" dirty="0">
                <a:solidFill>
                  <a:schemeClr val="accent1">
                    <a:lumMod val="75000"/>
                  </a:schemeClr>
                </a:solidFill>
              </a:rPr>
              <a:t>contient les propriétés de l'application (propriétés de la source de données, propriétés du servlet, propriétés du serveur et minuteries </a:t>
            </a:r>
            <a:r>
              <a:rPr lang="fr-FR" sz="1200" dirty="0" err="1">
                <a:solidFill>
                  <a:schemeClr val="accent1">
                    <a:lumMod val="75000"/>
                  </a:schemeClr>
                </a:solidFill>
              </a:rPr>
              <a:t>cron</a:t>
            </a:r>
            <a:r>
              <a:rPr lang="fr-FR" sz="1200" dirty="0">
                <a:solidFill>
                  <a:schemeClr val="accent1">
                    <a:lumMod val="75000"/>
                  </a:schemeClr>
                </a:solidFill>
              </a:rPr>
              <a:t>).</a:t>
            </a:r>
          </a:p>
        </p:txBody>
      </p:sp>
      <p:cxnSp>
        <p:nvCxnSpPr>
          <p:cNvPr id="51" name="Connecteur droit avec flèche 50"/>
          <p:cNvCxnSpPr/>
          <p:nvPr/>
        </p:nvCxnSpPr>
        <p:spPr>
          <a:xfrm>
            <a:off x="5016843" y="5761690"/>
            <a:ext cx="8238" cy="276645"/>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806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F52EC-C20E-4E3C-91D3-167F89E25C90}"/>
              </a:ext>
            </a:extLst>
          </p:cNvPr>
          <p:cNvSpPr>
            <a:spLocks noGrp="1"/>
          </p:cNvSpPr>
          <p:nvPr>
            <p:ph type="title"/>
          </p:nvPr>
        </p:nvSpPr>
        <p:spPr>
          <a:xfrm>
            <a:off x="1143000" y="609600"/>
            <a:ext cx="9875520" cy="506681"/>
          </a:xfrm>
        </p:spPr>
        <p:txBody>
          <a:bodyPr>
            <a:normAutofit fontScale="90000"/>
          </a:bodyPr>
          <a:lstStyle/>
          <a:p>
            <a:r>
              <a:rPr lang="fr-FR" dirty="0"/>
              <a:t>Schéma de la base de données</a:t>
            </a:r>
          </a:p>
        </p:txBody>
      </p:sp>
      <p:sp>
        <p:nvSpPr>
          <p:cNvPr id="4" name="Slide Number Placeholder 3">
            <a:extLst>
              <a:ext uri="{FF2B5EF4-FFF2-40B4-BE49-F238E27FC236}">
                <a16:creationId xmlns:a16="http://schemas.microsoft.com/office/drawing/2014/main" id="{40E66638-12E8-4994-A405-492C611D8059}"/>
              </a:ext>
            </a:extLst>
          </p:cNvPr>
          <p:cNvSpPr>
            <a:spLocks noGrp="1"/>
          </p:cNvSpPr>
          <p:nvPr>
            <p:ph type="sldNum" sz="quarter" idx="12"/>
          </p:nvPr>
        </p:nvSpPr>
        <p:spPr/>
        <p:txBody>
          <a:bodyPr/>
          <a:lstStyle/>
          <a:p>
            <a:fld id="{C52ED629-2BC0-4D25-969E-9ED78B40D7C7}" type="slidenum">
              <a:rPr lang="fr-FR" smtClean="0"/>
              <a:t>18</a:t>
            </a:fld>
            <a:endParaRPr lang="fr-FR"/>
          </a:p>
        </p:txBody>
      </p:sp>
      <p:sp>
        <p:nvSpPr>
          <p:cNvPr id="7" name="TextBox 6">
            <a:extLst>
              <a:ext uri="{FF2B5EF4-FFF2-40B4-BE49-F238E27FC236}">
                <a16:creationId xmlns:a16="http://schemas.microsoft.com/office/drawing/2014/main" id="{B3A1DF8E-2464-45B3-91A5-093C69B6084C}"/>
              </a:ext>
            </a:extLst>
          </p:cNvPr>
          <p:cNvSpPr txBox="1"/>
          <p:nvPr/>
        </p:nvSpPr>
        <p:spPr>
          <a:xfrm>
            <a:off x="6757637" y="5723854"/>
            <a:ext cx="4504318" cy="369332"/>
          </a:xfrm>
          <a:prstGeom prst="rect">
            <a:avLst/>
          </a:prstGeom>
          <a:noFill/>
        </p:spPr>
        <p:txBody>
          <a:bodyPr wrap="square" rtlCol="0">
            <a:spAutoFit/>
          </a:bodyPr>
          <a:lstStyle/>
          <a:p>
            <a:r>
              <a:rPr lang="fr-FR" i="1" dirty="0">
                <a:solidFill>
                  <a:schemeClr val="tx2">
                    <a:lumMod val="60000"/>
                    <a:lumOff val="40000"/>
                  </a:schemeClr>
                </a:solidFill>
              </a:rPr>
              <a:t>Modèle Conceptuel de Données « MCD »</a:t>
            </a:r>
          </a:p>
        </p:txBody>
      </p:sp>
      <p:pic>
        <p:nvPicPr>
          <p:cNvPr id="8" name="Espace réservé du contenu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96829" y="1274806"/>
            <a:ext cx="8884919" cy="4038600"/>
          </a:xfrm>
        </p:spPr>
      </p:pic>
    </p:spTree>
    <p:extLst>
      <p:ext uri="{BB962C8B-B14F-4D97-AF65-F5344CB8AC3E}">
        <p14:creationId xmlns:p14="http://schemas.microsoft.com/office/powerpoint/2010/main" val="6020288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D39DE-DC97-4226-82AF-47857CD035AC}"/>
              </a:ext>
            </a:extLst>
          </p:cNvPr>
          <p:cNvSpPr>
            <a:spLocks noGrp="1"/>
          </p:cNvSpPr>
          <p:nvPr>
            <p:ph type="title"/>
          </p:nvPr>
        </p:nvSpPr>
        <p:spPr>
          <a:xfrm>
            <a:off x="1143000" y="609600"/>
            <a:ext cx="9875520" cy="772160"/>
          </a:xfrm>
        </p:spPr>
        <p:txBody>
          <a:bodyPr/>
          <a:lstStyle/>
          <a:p>
            <a:r>
              <a:rPr lang="fr-FR" dirty="0"/>
              <a:t>Diagrammes des Classes</a:t>
            </a:r>
          </a:p>
        </p:txBody>
      </p:sp>
      <p:sp>
        <p:nvSpPr>
          <p:cNvPr id="4" name="Slide Number Placeholder 3">
            <a:extLst>
              <a:ext uri="{FF2B5EF4-FFF2-40B4-BE49-F238E27FC236}">
                <a16:creationId xmlns:a16="http://schemas.microsoft.com/office/drawing/2014/main" id="{F28D95E7-7B92-440D-BBB2-C042C7C55031}"/>
              </a:ext>
            </a:extLst>
          </p:cNvPr>
          <p:cNvSpPr>
            <a:spLocks noGrp="1"/>
          </p:cNvSpPr>
          <p:nvPr>
            <p:ph type="sldNum" sz="quarter" idx="12"/>
          </p:nvPr>
        </p:nvSpPr>
        <p:spPr/>
        <p:txBody>
          <a:bodyPr/>
          <a:lstStyle/>
          <a:p>
            <a:fld id="{C52ED629-2BC0-4D25-969E-9ED78B40D7C7}" type="slidenum">
              <a:rPr lang="fr-FR" smtClean="0"/>
              <a:t>19</a:t>
            </a:fld>
            <a:endParaRPr lang="fr-FR"/>
          </a:p>
        </p:txBody>
      </p:sp>
      <p:sp>
        <p:nvSpPr>
          <p:cNvPr id="13" name="TextBox 12">
            <a:extLst>
              <a:ext uri="{FF2B5EF4-FFF2-40B4-BE49-F238E27FC236}">
                <a16:creationId xmlns:a16="http://schemas.microsoft.com/office/drawing/2014/main" id="{7481DFEA-0967-46E8-96F9-CA8464D6F3AD}"/>
              </a:ext>
            </a:extLst>
          </p:cNvPr>
          <p:cNvSpPr txBox="1"/>
          <p:nvPr/>
        </p:nvSpPr>
        <p:spPr>
          <a:xfrm>
            <a:off x="7006069" y="6223828"/>
            <a:ext cx="3863967" cy="369332"/>
          </a:xfrm>
          <a:prstGeom prst="rect">
            <a:avLst/>
          </a:prstGeom>
          <a:noFill/>
        </p:spPr>
        <p:txBody>
          <a:bodyPr wrap="square" rtlCol="0">
            <a:spAutoFit/>
          </a:bodyPr>
          <a:lstStyle/>
          <a:p>
            <a:r>
              <a:rPr lang="fr-FR" i="1" dirty="0">
                <a:solidFill>
                  <a:srgbClr val="4A66AC"/>
                </a:solidFill>
              </a:rPr>
              <a:t>Classes Mapping Objet-Relationnel</a:t>
            </a:r>
          </a:p>
        </p:txBody>
      </p:sp>
      <p:pic>
        <p:nvPicPr>
          <p:cNvPr id="11" name="Image 1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73902" y="1406258"/>
            <a:ext cx="8192736" cy="4793072"/>
          </a:xfrm>
          <a:prstGeom prst="rect">
            <a:avLst/>
          </a:prstGeom>
        </p:spPr>
      </p:pic>
    </p:spTree>
    <p:extLst>
      <p:ext uri="{BB962C8B-B14F-4D97-AF65-F5344CB8AC3E}">
        <p14:creationId xmlns:p14="http://schemas.microsoft.com/office/powerpoint/2010/main" val="1802499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B67C934-97E0-490F-A04F-9A696566CBCE}"/>
              </a:ext>
            </a:extLst>
          </p:cNvPr>
          <p:cNvSpPr>
            <a:spLocks noGrp="1"/>
          </p:cNvSpPr>
          <p:nvPr>
            <p:ph type="sldNum" sz="quarter" idx="12"/>
          </p:nvPr>
        </p:nvSpPr>
        <p:spPr/>
        <p:txBody>
          <a:bodyPr/>
          <a:lstStyle/>
          <a:p>
            <a:fld id="{C52ED629-2BC0-4D25-969E-9ED78B40D7C7}" type="slidenum">
              <a:rPr lang="fr-FR" smtClean="0"/>
              <a:t>20</a:t>
            </a:fld>
            <a:endParaRPr lang="fr-FR"/>
          </a:p>
        </p:txBody>
      </p:sp>
      <p:pic>
        <p:nvPicPr>
          <p:cNvPr id="18" name="Content Placeholder 17">
            <a:extLst>
              <a:ext uri="{FF2B5EF4-FFF2-40B4-BE49-F238E27FC236}">
                <a16:creationId xmlns:a16="http://schemas.microsoft.com/office/drawing/2014/main" id="{E0E7A415-6D31-4F53-92D1-DED93E534F36}"/>
              </a:ext>
            </a:extLst>
          </p:cNvPr>
          <p:cNvPicPr>
            <a:picLocks noGrp="1" noChangeAspect="1"/>
          </p:cNvPicPr>
          <p:nvPr>
            <p:ph sz="half" idx="4294967295"/>
          </p:nvPr>
        </p:nvPicPr>
        <p:blipFill>
          <a:blip r:embed="rId2"/>
          <a:stretch>
            <a:fillRect/>
          </a:stretch>
        </p:blipFill>
        <p:spPr>
          <a:xfrm>
            <a:off x="0" y="2516188"/>
            <a:ext cx="3686175" cy="2051050"/>
          </a:xfrm>
        </p:spPr>
      </p:pic>
      <p:pic>
        <p:nvPicPr>
          <p:cNvPr id="36" name="Content Placeholder 35">
            <a:extLst>
              <a:ext uri="{FF2B5EF4-FFF2-40B4-BE49-F238E27FC236}">
                <a16:creationId xmlns:a16="http://schemas.microsoft.com/office/drawing/2014/main" id="{28813DFD-F216-455F-80C8-213CC306BCF0}"/>
              </a:ext>
            </a:extLst>
          </p:cNvPr>
          <p:cNvPicPr>
            <a:picLocks noGrp="1" noChangeAspect="1"/>
          </p:cNvPicPr>
          <p:nvPr>
            <p:ph sz="half" idx="4294967295"/>
          </p:nvPr>
        </p:nvPicPr>
        <p:blipFill>
          <a:blip r:embed="rId3"/>
          <a:stretch>
            <a:fillRect/>
          </a:stretch>
        </p:blipFill>
        <p:spPr>
          <a:xfrm>
            <a:off x="7588250" y="1273175"/>
            <a:ext cx="4603750" cy="4537075"/>
          </a:xfrm>
        </p:spPr>
      </p:pic>
      <p:sp>
        <p:nvSpPr>
          <p:cNvPr id="15" name="Rectangle 14">
            <a:extLst>
              <a:ext uri="{FF2B5EF4-FFF2-40B4-BE49-F238E27FC236}">
                <a16:creationId xmlns:a16="http://schemas.microsoft.com/office/drawing/2014/main" id="{967D2BBB-0B04-4C85-B81A-506E056BA635}"/>
              </a:ext>
            </a:extLst>
          </p:cNvPr>
          <p:cNvSpPr/>
          <p:nvPr/>
        </p:nvSpPr>
        <p:spPr>
          <a:xfrm>
            <a:off x="772168" y="800100"/>
            <a:ext cx="4399272" cy="5423728"/>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16" name="Rectangle 15">
            <a:extLst>
              <a:ext uri="{FF2B5EF4-FFF2-40B4-BE49-F238E27FC236}">
                <a16:creationId xmlns:a16="http://schemas.microsoft.com/office/drawing/2014/main" id="{58AE085C-19BC-4104-A0C0-7FDCDBA96CE7}"/>
              </a:ext>
            </a:extLst>
          </p:cNvPr>
          <p:cNvSpPr/>
          <p:nvPr/>
        </p:nvSpPr>
        <p:spPr>
          <a:xfrm>
            <a:off x="5763260" y="824672"/>
            <a:ext cx="5717539" cy="5423728"/>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Arrow: Right 29">
            <a:extLst>
              <a:ext uri="{FF2B5EF4-FFF2-40B4-BE49-F238E27FC236}">
                <a16:creationId xmlns:a16="http://schemas.microsoft.com/office/drawing/2014/main" id="{80CE0D6C-4B60-4281-9718-C883CE0D2479}"/>
              </a:ext>
            </a:extLst>
          </p:cNvPr>
          <p:cNvSpPr/>
          <p:nvPr/>
        </p:nvSpPr>
        <p:spPr>
          <a:xfrm>
            <a:off x="4687580" y="3541760"/>
            <a:ext cx="1089653" cy="252000"/>
          </a:xfrm>
          <a:prstGeom prst="rightArrow">
            <a:avLst>
              <a:gd name="adj1" fmla="val 58063"/>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TextBox 30">
            <a:extLst>
              <a:ext uri="{FF2B5EF4-FFF2-40B4-BE49-F238E27FC236}">
                <a16:creationId xmlns:a16="http://schemas.microsoft.com/office/drawing/2014/main" id="{BC53E1B6-E13F-413E-8570-7A54A8EE3CD3}"/>
              </a:ext>
            </a:extLst>
          </p:cNvPr>
          <p:cNvSpPr txBox="1"/>
          <p:nvPr/>
        </p:nvSpPr>
        <p:spPr>
          <a:xfrm>
            <a:off x="2068195" y="952501"/>
            <a:ext cx="1940560" cy="276999"/>
          </a:xfrm>
          <a:prstGeom prst="rect">
            <a:avLst/>
          </a:prstGeom>
          <a:noFill/>
        </p:spPr>
        <p:txBody>
          <a:bodyPr wrap="square" rtlCol="0">
            <a:spAutoFit/>
          </a:bodyPr>
          <a:lstStyle/>
          <a:p>
            <a:r>
              <a:rPr lang="fr-FR" sz="1200" i="1" dirty="0">
                <a:solidFill>
                  <a:srgbClr val="4A66AC"/>
                </a:solidFill>
              </a:rPr>
              <a:t>Diagramme de packages</a:t>
            </a:r>
          </a:p>
        </p:txBody>
      </p:sp>
      <p:sp>
        <p:nvSpPr>
          <p:cNvPr id="32" name="TextBox 31">
            <a:extLst>
              <a:ext uri="{FF2B5EF4-FFF2-40B4-BE49-F238E27FC236}">
                <a16:creationId xmlns:a16="http://schemas.microsoft.com/office/drawing/2014/main" id="{D5E26461-1273-4296-8E63-D3267FFD9492}"/>
              </a:ext>
            </a:extLst>
          </p:cNvPr>
          <p:cNvSpPr txBox="1"/>
          <p:nvPr/>
        </p:nvSpPr>
        <p:spPr>
          <a:xfrm>
            <a:off x="6553200" y="958215"/>
            <a:ext cx="4846320" cy="276999"/>
          </a:xfrm>
          <a:prstGeom prst="rect">
            <a:avLst/>
          </a:prstGeom>
          <a:noFill/>
        </p:spPr>
        <p:txBody>
          <a:bodyPr wrap="square" rtlCol="0">
            <a:spAutoFit/>
          </a:bodyPr>
          <a:lstStyle/>
          <a:p>
            <a:r>
              <a:rPr lang="fr-FR" sz="1200" i="1" dirty="0">
                <a:solidFill>
                  <a:srgbClr val="4A66AC"/>
                </a:solidFill>
              </a:rPr>
              <a:t>Diagramme de cas d’utilisations du package « Consultation »</a:t>
            </a:r>
          </a:p>
        </p:txBody>
      </p:sp>
    </p:spTree>
    <p:extLst>
      <p:ext uri="{BB962C8B-B14F-4D97-AF65-F5344CB8AC3E}">
        <p14:creationId xmlns:p14="http://schemas.microsoft.com/office/powerpoint/2010/main" val="15072878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E580A3E-6CEB-4116-9FE2-20FA30465974}"/>
              </a:ext>
            </a:extLst>
          </p:cNvPr>
          <p:cNvSpPr>
            <a:spLocks noGrp="1"/>
          </p:cNvSpPr>
          <p:nvPr>
            <p:ph type="title"/>
          </p:nvPr>
        </p:nvSpPr>
        <p:spPr/>
        <p:txBody>
          <a:bodyPr/>
          <a:lstStyle/>
          <a:p>
            <a:r>
              <a:rPr lang="fr-FR" dirty="0"/>
              <a:t>implémentation</a:t>
            </a:r>
          </a:p>
        </p:txBody>
      </p:sp>
      <p:sp>
        <p:nvSpPr>
          <p:cNvPr id="5" name="Slide Number Placeholder 4">
            <a:extLst>
              <a:ext uri="{FF2B5EF4-FFF2-40B4-BE49-F238E27FC236}">
                <a16:creationId xmlns:a16="http://schemas.microsoft.com/office/drawing/2014/main" id="{D114C4F2-23AE-4BE4-BCF3-BCDE63E4887D}"/>
              </a:ext>
            </a:extLst>
          </p:cNvPr>
          <p:cNvSpPr>
            <a:spLocks noGrp="1"/>
          </p:cNvSpPr>
          <p:nvPr>
            <p:ph type="sldNum" sz="quarter" idx="12"/>
          </p:nvPr>
        </p:nvSpPr>
        <p:spPr/>
        <p:txBody>
          <a:bodyPr/>
          <a:lstStyle/>
          <a:p>
            <a:fld id="{C52ED629-2BC0-4D25-969E-9ED78B40D7C7}" type="slidenum">
              <a:rPr lang="fr-FR" smtClean="0"/>
              <a:t>21</a:t>
            </a:fld>
            <a:endParaRPr lang="fr-FR"/>
          </a:p>
        </p:txBody>
      </p:sp>
    </p:spTree>
    <p:extLst>
      <p:ext uri="{BB962C8B-B14F-4D97-AF65-F5344CB8AC3E}">
        <p14:creationId xmlns:p14="http://schemas.microsoft.com/office/powerpoint/2010/main" val="2823048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CDF0B49-DFFF-4F07-A69C-15C9675C177D}"/>
              </a:ext>
            </a:extLst>
          </p:cNvPr>
          <p:cNvSpPr>
            <a:spLocks noGrp="1"/>
          </p:cNvSpPr>
          <p:nvPr>
            <p:ph type="title"/>
          </p:nvPr>
        </p:nvSpPr>
        <p:spPr>
          <a:xfrm>
            <a:off x="1028699" y="1001583"/>
            <a:ext cx="4048125" cy="1737360"/>
          </a:xfrm>
        </p:spPr>
        <p:txBody>
          <a:bodyPr/>
          <a:lstStyle/>
          <a:p>
            <a:r>
              <a:rPr lang="fr-FR" sz="3200" dirty="0"/>
              <a:t>Les Classes ORM</a:t>
            </a:r>
          </a:p>
        </p:txBody>
      </p:sp>
      <p:sp>
        <p:nvSpPr>
          <p:cNvPr id="7" name="Text Placeholder 6">
            <a:extLst>
              <a:ext uri="{FF2B5EF4-FFF2-40B4-BE49-F238E27FC236}">
                <a16:creationId xmlns:a16="http://schemas.microsoft.com/office/drawing/2014/main" id="{9D7F3D95-B628-49D2-A8CC-AA330A076C71}"/>
              </a:ext>
            </a:extLst>
          </p:cNvPr>
          <p:cNvSpPr>
            <a:spLocks noGrp="1"/>
          </p:cNvSpPr>
          <p:nvPr>
            <p:ph type="body" sz="half" idx="2"/>
          </p:nvPr>
        </p:nvSpPr>
        <p:spPr>
          <a:xfrm>
            <a:off x="1076325" y="2866539"/>
            <a:ext cx="4048124" cy="2428475"/>
          </a:xfrm>
        </p:spPr>
        <p:txBody>
          <a:bodyPr/>
          <a:lstStyle/>
          <a:p>
            <a:r>
              <a:rPr lang="fr-FR" dirty="0"/>
              <a:t>Module models.py</a:t>
            </a:r>
            <a:endParaRPr lang="fr-FR" dirty="0">
              <a:highlight>
                <a:srgbClr val="FFFF00"/>
              </a:highlight>
            </a:endParaRPr>
          </a:p>
          <a:p>
            <a:r>
              <a:rPr lang="fr-FR" dirty="0" err="1"/>
              <a:t>db</a:t>
            </a:r>
            <a:r>
              <a:rPr lang="fr-FR" dirty="0"/>
              <a:t> est une instance de </a:t>
            </a:r>
            <a:r>
              <a:rPr lang="fr-FR" dirty="0" err="1"/>
              <a:t>SQLAlchemy</a:t>
            </a:r>
            <a:r>
              <a:rPr lang="fr-FR" dirty="0"/>
              <a:t> créé dans le module database.py </a:t>
            </a:r>
          </a:p>
          <a:p>
            <a:pPr algn="just"/>
            <a:r>
              <a:rPr lang="fr-FR" dirty="0"/>
              <a:t>Model est la classe base déclarative de </a:t>
            </a:r>
            <a:r>
              <a:rPr lang="fr-FR" dirty="0" err="1"/>
              <a:t>SQLAlchemy</a:t>
            </a:r>
            <a:r>
              <a:rPr lang="fr-FR" dirty="0"/>
              <a:t> qui contient toutes les classes ORM et leurs relations.</a:t>
            </a:r>
          </a:p>
        </p:txBody>
      </p:sp>
      <p:sp>
        <p:nvSpPr>
          <p:cNvPr id="4" name="Slide Number Placeholder 3">
            <a:extLst>
              <a:ext uri="{FF2B5EF4-FFF2-40B4-BE49-F238E27FC236}">
                <a16:creationId xmlns:a16="http://schemas.microsoft.com/office/drawing/2014/main" id="{679FED70-8373-4B7B-9939-9D42BBF449F0}"/>
              </a:ext>
            </a:extLst>
          </p:cNvPr>
          <p:cNvSpPr>
            <a:spLocks noGrp="1"/>
          </p:cNvSpPr>
          <p:nvPr>
            <p:ph type="sldNum" sz="quarter" idx="12"/>
          </p:nvPr>
        </p:nvSpPr>
        <p:spPr/>
        <p:txBody>
          <a:bodyPr/>
          <a:lstStyle/>
          <a:p>
            <a:fld id="{C52ED629-2BC0-4D25-969E-9ED78B40D7C7}" type="slidenum">
              <a:rPr lang="fr-FR" smtClean="0"/>
              <a:t>22</a:t>
            </a:fld>
            <a:endParaRPr lang="fr-FR"/>
          </a:p>
        </p:txBody>
      </p:sp>
      <p:pic>
        <p:nvPicPr>
          <p:cNvPr id="3" name="Picture 2">
            <a:extLst>
              <a:ext uri="{FF2B5EF4-FFF2-40B4-BE49-F238E27FC236}">
                <a16:creationId xmlns:a16="http://schemas.microsoft.com/office/drawing/2014/main" id="{AE1D7377-0B8D-44F6-899E-E9F64866F450}"/>
              </a:ext>
            </a:extLst>
          </p:cNvPr>
          <p:cNvPicPr>
            <a:picLocks noChangeAspect="1"/>
          </p:cNvPicPr>
          <p:nvPr/>
        </p:nvPicPr>
        <p:blipFill>
          <a:blip r:embed="rId3"/>
          <a:stretch>
            <a:fillRect/>
          </a:stretch>
        </p:blipFill>
        <p:spPr>
          <a:xfrm>
            <a:off x="5434243" y="1211455"/>
            <a:ext cx="5919807" cy="4320000"/>
          </a:xfrm>
          <a:prstGeom prst="rect">
            <a:avLst/>
          </a:prstGeom>
        </p:spPr>
      </p:pic>
    </p:spTree>
    <p:extLst>
      <p:ext uri="{BB962C8B-B14F-4D97-AF65-F5344CB8AC3E}">
        <p14:creationId xmlns:p14="http://schemas.microsoft.com/office/powerpoint/2010/main" val="186098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515A5-C6F5-497C-94E5-39E954224069}"/>
              </a:ext>
            </a:extLst>
          </p:cNvPr>
          <p:cNvSpPr>
            <a:spLocks noGrp="1"/>
          </p:cNvSpPr>
          <p:nvPr>
            <p:ph type="title"/>
          </p:nvPr>
        </p:nvSpPr>
        <p:spPr>
          <a:xfrm>
            <a:off x="1132367" y="1009339"/>
            <a:ext cx="3931920" cy="1737360"/>
          </a:xfrm>
        </p:spPr>
        <p:txBody>
          <a:bodyPr/>
          <a:lstStyle/>
          <a:p>
            <a:r>
              <a:rPr lang="fr-FR" sz="3200" dirty="0"/>
              <a:t>Migrations</a:t>
            </a:r>
          </a:p>
        </p:txBody>
      </p:sp>
      <p:sp>
        <p:nvSpPr>
          <p:cNvPr id="4" name="Text Placeholder 3">
            <a:extLst>
              <a:ext uri="{FF2B5EF4-FFF2-40B4-BE49-F238E27FC236}">
                <a16:creationId xmlns:a16="http://schemas.microsoft.com/office/drawing/2014/main" id="{346A3C87-2BEC-4F72-BB95-2A1DC946926A}"/>
              </a:ext>
            </a:extLst>
          </p:cNvPr>
          <p:cNvSpPr>
            <a:spLocks noGrp="1"/>
          </p:cNvSpPr>
          <p:nvPr>
            <p:ph type="body" sz="half" idx="2"/>
          </p:nvPr>
        </p:nvSpPr>
        <p:spPr>
          <a:xfrm>
            <a:off x="1143000" y="2866539"/>
            <a:ext cx="2620926" cy="1545973"/>
          </a:xfrm>
        </p:spPr>
        <p:txBody>
          <a:bodyPr>
            <a:normAutofit/>
          </a:bodyPr>
          <a:lstStyle/>
          <a:p>
            <a:r>
              <a:rPr lang="fr-FR" dirty="0"/>
              <a:t>Dossier migrations/</a:t>
            </a:r>
          </a:p>
          <a:p>
            <a:pPr algn="just"/>
            <a:r>
              <a:rPr lang="fr-FR" dirty="0"/>
              <a:t>Exemples de scripts de modifications de la base de données.</a:t>
            </a:r>
          </a:p>
        </p:txBody>
      </p:sp>
      <p:sp>
        <p:nvSpPr>
          <p:cNvPr id="5" name="Slide Number Placeholder 4">
            <a:extLst>
              <a:ext uri="{FF2B5EF4-FFF2-40B4-BE49-F238E27FC236}">
                <a16:creationId xmlns:a16="http://schemas.microsoft.com/office/drawing/2014/main" id="{8A03AB9E-C1EF-4514-8365-049366EC9E89}"/>
              </a:ext>
            </a:extLst>
          </p:cNvPr>
          <p:cNvSpPr>
            <a:spLocks noGrp="1"/>
          </p:cNvSpPr>
          <p:nvPr>
            <p:ph type="sldNum" sz="quarter" idx="12"/>
          </p:nvPr>
        </p:nvSpPr>
        <p:spPr/>
        <p:txBody>
          <a:bodyPr/>
          <a:lstStyle/>
          <a:p>
            <a:fld id="{C52ED629-2BC0-4D25-969E-9ED78B40D7C7}" type="slidenum">
              <a:rPr lang="fr-FR" smtClean="0"/>
              <a:t>23</a:t>
            </a:fld>
            <a:endParaRPr lang="fr-FR"/>
          </a:p>
        </p:txBody>
      </p:sp>
      <p:sp>
        <p:nvSpPr>
          <p:cNvPr id="10" name="TextBox 9">
            <a:extLst>
              <a:ext uri="{FF2B5EF4-FFF2-40B4-BE49-F238E27FC236}">
                <a16:creationId xmlns:a16="http://schemas.microsoft.com/office/drawing/2014/main" id="{9DAEBB5B-9244-4D7F-9925-F785F4D45A39}"/>
              </a:ext>
            </a:extLst>
          </p:cNvPr>
          <p:cNvSpPr txBox="1"/>
          <p:nvPr/>
        </p:nvSpPr>
        <p:spPr>
          <a:xfrm>
            <a:off x="5231440" y="3714138"/>
            <a:ext cx="3790951" cy="353943"/>
          </a:xfrm>
          <a:prstGeom prst="rect">
            <a:avLst/>
          </a:prstGeom>
          <a:noFill/>
        </p:spPr>
        <p:txBody>
          <a:bodyPr wrap="square" rtlCol="0">
            <a:spAutoFit/>
          </a:bodyPr>
          <a:lstStyle/>
          <a:p>
            <a:r>
              <a:rPr lang="fr-FR" sz="1600" i="1" dirty="0" err="1">
                <a:solidFill>
                  <a:srgbClr val="4A66AC"/>
                </a:solidFill>
              </a:rPr>
              <a:t>Version</a:t>
            </a:r>
            <a:r>
              <a:rPr lang="fr-FR" sz="1700" i="1" dirty="0" err="1">
                <a:solidFill>
                  <a:srgbClr val="4A66AC"/>
                </a:solidFill>
              </a:rPr>
              <a:t>_date</a:t>
            </a:r>
            <a:r>
              <a:rPr lang="fr-FR" sz="1700" i="1" dirty="0">
                <a:solidFill>
                  <a:srgbClr val="4A66AC"/>
                </a:solidFill>
              </a:rPr>
              <a:t> : </a:t>
            </a:r>
            <a:r>
              <a:rPr lang="fr-FR" sz="1700" i="1" dirty="0" err="1">
                <a:solidFill>
                  <a:srgbClr val="4A66AC"/>
                </a:solidFill>
              </a:rPr>
              <a:t>timezone</a:t>
            </a:r>
            <a:r>
              <a:rPr lang="fr-FR" sz="1700" i="1" dirty="0">
                <a:solidFill>
                  <a:srgbClr val="4A66AC"/>
                </a:solidFill>
              </a:rPr>
              <a:t> = </a:t>
            </a:r>
            <a:r>
              <a:rPr lang="fr-FR" sz="1700" i="1" dirty="0" err="1">
                <a:solidFill>
                  <a:srgbClr val="4A66AC"/>
                </a:solidFill>
              </a:rPr>
              <a:t>True</a:t>
            </a:r>
            <a:endParaRPr lang="fr-FR" sz="1700" i="1" dirty="0">
              <a:solidFill>
                <a:srgbClr val="4A66AC"/>
              </a:solidFill>
            </a:endParaRPr>
          </a:p>
        </p:txBody>
      </p:sp>
      <p:sp>
        <p:nvSpPr>
          <p:cNvPr id="11" name="TextBox 10">
            <a:extLst>
              <a:ext uri="{FF2B5EF4-FFF2-40B4-BE49-F238E27FC236}">
                <a16:creationId xmlns:a16="http://schemas.microsoft.com/office/drawing/2014/main" id="{30C83169-C78F-4502-BF62-2136F6131BAE}"/>
              </a:ext>
            </a:extLst>
          </p:cNvPr>
          <p:cNvSpPr txBox="1"/>
          <p:nvPr/>
        </p:nvSpPr>
        <p:spPr>
          <a:xfrm>
            <a:off x="5238751" y="450999"/>
            <a:ext cx="2705100" cy="353943"/>
          </a:xfrm>
          <a:prstGeom prst="rect">
            <a:avLst/>
          </a:prstGeom>
          <a:noFill/>
        </p:spPr>
        <p:txBody>
          <a:bodyPr wrap="square" rtlCol="0">
            <a:spAutoFit/>
          </a:bodyPr>
          <a:lstStyle/>
          <a:p>
            <a:r>
              <a:rPr lang="fr-FR" sz="1700" i="1" dirty="0">
                <a:solidFill>
                  <a:srgbClr val="4A66AC"/>
                </a:solidFill>
              </a:rPr>
              <a:t>Modifications de noms</a:t>
            </a:r>
          </a:p>
        </p:txBody>
      </p:sp>
      <p:pic>
        <p:nvPicPr>
          <p:cNvPr id="6" name="Picture 5">
            <a:extLst>
              <a:ext uri="{FF2B5EF4-FFF2-40B4-BE49-F238E27FC236}">
                <a16:creationId xmlns:a16="http://schemas.microsoft.com/office/drawing/2014/main" id="{CCF061CD-985B-41DE-AB67-4866FE8A6BEE}"/>
              </a:ext>
            </a:extLst>
          </p:cNvPr>
          <p:cNvPicPr>
            <a:picLocks noChangeAspect="1"/>
          </p:cNvPicPr>
          <p:nvPr/>
        </p:nvPicPr>
        <p:blipFill>
          <a:blip r:embed="rId2"/>
          <a:stretch>
            <a:fillRect/>
          </a:stretch>
        </p:blipFill>
        <p:spPr>
          <a:xfrm>
            <a:off x="5611802" y="798636"/>
            <a:ext cx="5588203" cy="2700000"/>
          </a:xfrm>
          <a:prstGeom prst="rect">
            <a:avLst/>
          </a:prstGeom>
        </p:spPr>
      </p:pic>
      <p:pic>
        <p:nvPicPr>
          <p:cNvPr id="12" name="Picture 11">
            <a:extLst>
              <a:ext uri="{FF2B5EF4-FFF2-40B4-BE49-F238E27FC236}">
                <a16:creationId xmlns:a16="http://schemas.microsoft.com/office/drawing/2014/main" id="{AE3E11B6-807A-4B8F-9ABB-EB0B1BDAB7B7}"/>
              </a:ext>
            </a:extLst>
          </p:cNvPr>
          <p:cNvPicPr>
            <a:picLocks noChangeAspect="1"/>
          </p:cNvPicPr>
          <p:nvPr/>
        </p:nvPicPr>
        <p:blipFill>
          <a:blip r:embed="rId3"/>
          <a:stretch>
            <a:fillRect/>
          </a:stretch>
        </p:blipFill>
        <p:spPr>
          <a:xfrm>
            <a:off x="5677790" y="4070806"/>
            <a:ext cx="3328658" cy="2160000"/>
          </a:xfrm>
          <a:prstGeom prst="rect">
            <a:avLst/>
          </a:prstGeom>
        </p:spPr>
      </p:pic>
    </p:spTree>
    <p:extLst>
      <p:ext uri="{BB962C8B-B14F-4D97-AF65-F5344CB8AC3E}">
        <p14:creationId xmlns:p14="http://schemas.microsoft.com/office/powerpoint/2010/main" val="1446959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90172-22ED-45C0-9E05-7AE26E27DAD1}"/>
              </a:ext>
            </a:extLst>
          </p:cNvPr>
          <p:cNvSpPr>
            <a:spLocks noGrp="1"/>
          </p:cNvSpPr>
          <p:nvPr>
            <p:ph type="title"/>
          </p:nvPr>
        </p:nvSpPr>
        <p:spPr>
          <a:xfrm>
            <a:off x="1143000" y="1097280"/>
            <a:ext cx="3588488" cy="1737360"/>
          </a:xfrm>
        </p:spPr>
        <p:txBody>
          <a:bodyPr/>
          <a:lstStyle/>
          <a:p>
            <a:r>
              <a:rPr lang="fr-FR" sz="3200" dirty="0"/>
              <a:t>Paramètres de connexion de la base de données</a:t>
            </a:r>
          </a:p>
        </p:txBody>
      </p:sp>
      <p:sp>
        <p:nvSpPr>
          <p:cNvPr id="4" name="Text Placeholder 3">
            <a:extLst>
              <a:ext uri="{FF2B5EF4-FFF2-40B4-BE49-F238E27FC236}">
                <a16:creationId xmlns:a16="http://schemas.microsoft.com/office/drawing/2014/main" id="{C8F2384B-06FE-45A1-858F-D93DD9A1BB08}"/>
              </a:ext>
            </a:extLst>
          </p:cNvPr>
          <p:cNvSpPr>
            <a:spLocks noGrp="1"/>
          </p:cNvSpPr>
          <p:nvPr>
            <p:ph type="body" sz="half" idx="2"/>
          </p:nvPr>
        </p:nvSpPr>
        <p:spPr>
          <a:xfrm>
            <a:off x="1143000" y="3047336"/>
            <a:ext cx="3588488" cy="2003131"/>
          </a:xfrm>
        </p:spPr>
        <p:txBody>
          <a:bodyPr>
            <a:normAutofit lnSpcReduction="10000"/>
          </a:bodyPr>
          <a:lstStyle/>
          <a:p>
            <a:r>
              <a:rPr lang="fr-FR" dirty="0"/>
              <a:t>Module database.py</a:t>
            </a:r>
          </a:p>
          <a:p>
            <a:pPr algn="just"/>
            <a:r>
              <a:rPr lang="fr-FR" dirty="0" err="1"/>
              <a:t>db</a:t>
            </a:r>
            <a:r>
              <a:rPr lang="fr-FR" dirty="0"/>
              <a:t> et </a:t>
            </a:r>
            <a:r>
              <a:rPr lang="fr-FR" dirty="0" err="1"/>
              <a:t>migrate</a:t>
            </a:r>
            <a:r>
              <a:rPr lang="fr-FR" dirty="0"/>
              <a:t> sont des instances de </a:t>
            </a:r>
            <a:r>
              <a:rPr lang="fr-FR" dirty="0" err="1"/>
              <a:t>SQLAlchemy</a:t>
            </a:r>
            <a:r>
              <a:rPr lang="fr-FR" dirty="0"/>
              <a:t> et </a:t>
            </a:r>
            <a:r>
              <a:rPr lang="fr-FR" dirty="0" err="1"/>
              <a:t>Migrate</a:t>
            </a:r>
            <a:r>
              <a:rPr lang="fr-FR" dirty="0"/>
              <a:t> créées de façon globales.</a:t>
            </a:r>
          </a:p>
          <a:p>
            <a:pPr algn="just"/>
            <a:r>
              <a:rPr lang="fr-FR" dirty="0"/>
              <a:t>Création d’un URI utilisé par l’objet application dans le contrôleur monitor.py</a:t>
            </a:r>
          </a:p>
        </p:txBody>
      </p:sp>
      <p:sp>
        <p:nvSpPr>
          <p:cNvPr id="5" name="Slide Number Placeholder 4">
            <a:extLst>
              <a:ext uri="{FF2B5EF4-FFF2-40B4-BE49-F238E27FC236}">
                <a16:creationId xmlns:a16="http://schemas.microsoft.com/office/drawing/2014/main" id="{8E70A56F-EA1B-4F60-91B7-BCA62F99293D}"/>
              </a:ext>
            </a:extLst>
          </p:cNvPr>
          <p:cNvSpPr>
            <a:spLocks noGrp="1"/>
          </p:cNvSpPr>
          <p:nvPr>
            <p:ph type="sldNum" sz="quarter" idx="12"/>
          </p:nvPr>
        </p:nvSpPr>
        <p:spPr/>
        <p:txBody>
          <a:bodyPr/>
          <a:lstStyle/>
          <a:p>
            <a:fld id="{C52ED629-2BC0-4D25-969E-9ED78B40D7C7}" type="slidenum">
              <a:rPr lang="fr-FR" smtClean="0"/>
              <a:t>24</a:t>
            </a:fld>
            <a:endParaRPr lang="fr-FR"/>
          </a:p>
        </p:txBody>
      </p:sp>
      <p:pic>
        <p:nvPicPr>
          <p:cNvPr id="6" name="Picture 5">
            <a:extLst>
              <a:ext uri="{FF2B5EF4-FFF2-40B4-BE49-F238E27FC236}">
                <a16:creationId xmlns:a16="http://schemas.microsoft.com/office/drawing/2014/main" id="{67D89FAA-F028-43C1-B2FE-BA7239AB78C4}"/>
              </a:ext>
            </a:extLst>
          </p:cNvPr>
          <p:cNvPicPr>
            <a:picLocks noChangeAspect="1"/>
          </p:cNvPicPr>
          <p:nvPr/>
        </p:nvPicPr>
        <p:blipFill>
          <a:blip r:embed="rId2"/>
          <a:stretch>
            <a:fillRect/>
          </a:stretch>
        </p:blipFill>
        <p:spPr>
          <a:xfrm>
            <a:off x="6318668" y="898395"/>
            <a:ext cx="3892750" cy="5061210"/>
          </a:xfrm>
          <a:prstGeom prst="rect">
            <a:avLst/>
          </a:prstGeom>
        </p:spPr>
      </p:pic>
    </p:spTree>
    <p:extLst>
      <p:ext uri="{BB962C8B-B14F-4D97-AF65-F5344CB8AC3E}">
        <p14:creationId xmlns:p14="http://schemas.microsoft.com/office/powerpoint/2010/main" val="12693204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0DD703C-496A-4D79-A750-6BF493C55E67}"/>
              </a:ext>
            </a:extLst>
          </p:cNvPr>
          <p:cNvSpPr>
            <a:spLocks noGrp="1"/>
          </p:cNvSpPr>
          <p:nvPr>
            <p:ph type="title"/>
          </p:nvPr>
        </p:nvSpPr>
        <p:spPr>
          <a:xfrm>
            <a:off x="1085850" y="992505"/>
            <a:ext cx="3539314" cy="1737360"/>
          </a:xfrm>
        </p:spPr>
        <p:txBody>
          <a:bodyPr/>
          <a:lstStyle/>
          <a:p>
            <a:r>
              <a:rPr lang="fr-FR" sz="3200" dirty="0"/>
              <a:t>Création de l’objet </a:t>
            </a:r>
            <a:br>
              <a:rPr lang="fr-FR" sz="3200" dirty="0"/>
            </a:br>
            <a:r>
              <a:rPr lang="fr-FR" sz="3200" dirty="0"/>
              <a:t>application Flask</a:t>
            </a:r>
          </a:p>
        </p:txBody>
      </p:sp>
      <p:sp>
        <p:nvSpPr>
          <p:cNvPr id="10" name="Text Placeholder 9">
            <a:extLst>
              <a:ext uri="{FF2B5EF4-FFF2-40B4-BE49-F238E27FC236}">
                <a16:creationId xmlns:a16="http://schemas.microsoft.com/office/drawing/2014/main" id="{F8E1EE0F-E85E-4C5F-81B8-5CB3F139BCE8}"/>
              </a:ext>
            </a:extLst>
          </p:cNvPr>
          <p:cNvSpPr>
            <a:spLocks noGrp="1"/>
          </p:cNvSpPr>
          <p:nvPr>
            <p:ph type="body" sz="half" idx="2"/>
          </p:nvPr>
        </p:nvSpPr>
        <p:spPr>
          <a:xfrm>
            <a:off x="1143000" y="2834640"/>
            <a:ext cx="3482163" cy="2003174"/>
          </a:xfrm>
        </p:spPr>
        <p:txBody>
          <a:bodyPr>
            <a:normAutofit lnSpcReduction="10000"/>
          </a:bodyPr>
          <a:lstStyle/>
          <a:p>
            <a:r>
              <a:rPr lang="fr-FR" dirty="0"/>
              <a:t>monitor.py (le contrôleur)</a:t>
            </a:r>
          </a:p>
          <a:p>
            <a:pPr algn="just"/>
            <a:r>
              <a:rPr lang="fr-FR" dirty="0"/>
              <a:t>Création d’un objet application Flask. Il est configuré avec l’URI pour se connecter à la BDD PostgreSQL.</a:t>
            </a:r>
          </a:p>
          <a:p>
            <a:pPr algn="just"/>
            <a:r>
              <a:rPr lang="fr-FR" dirty="0"/>
              <a:t>Initialisation de l’application avec les instances de </a:t>
            </a:r>
            <a:r>
              <a:rPr lang="fr-FR" dirty="0" err="1"/>
              <a:t>SQLAlchemy</a:t>
            </a:r>
            <a:r>
              <a:rPr lang="fr-FR" dirty="0"/>
              <a:t> et </a:t>
            </a:r>
            <a:r>
              <a:rPr lang="fr-FR" dirty="0" err="1"/>
              <a:t>Migrate</a:t>
            </a:r>
            <a:r>
              <a:rPr lang="fr-FR" dirty="0"/>
              <a:t>.</a:t>
            </a:r>
          </a:p>
        </p:txBody>
      </p:sp>
      <p:sp>
        <p:nvSpPr>
          <p:cNvPr id="4" name="Slide Number Placeholder 3">
            <a:extLst>
              <a:ext uri="{FF2B5EF4-FFF2-40B4-BE49-F238E27FC236}">
                <a16:creationId xmlns:a16="http://schemas.microsoft.com/office/drawing/2014/main" id="{C68682F4-A2E8-4507-8723-7F44EDD2DA12}"/>
              </a:ext>
            </a:extLst>
          </p:cNvPr>
          <p:cNvSpPr>
            <a:spLocks noGrp="1"/>
          </p:cNvSpPr>
          <p:nvPr>
            <p:ph type="sldNum" sz="quarter" idx="12"/>
          </p:nvPr>
        </p:nvSpPr>
        <p:spPr/>
        <p:txBody>
          <a:bodyPr/>
          <a:lstStyle/>
          <a:p>
            <a:fld id="{C52ED629-2BC0-4D25-969E-9ED78B40D7C7}" type="slidenum">
              <a:rPr lang="fr-FR" smtClean="0"/>
              <a:t>25</a:t>
            </a:fld>
            <a:endParaRPr lang="fr-FR"/>
          </a:p>
        </p:txBody>
      </p:sp>
      <p:pic>
        <p:nvPicPr>
          <p:cNvPr id="3" name="Picture 2">
            <a:extLst>
              <a:ext uri="{FF2B5EF4-FFF2-40B4-BE49-F238E27FC236}">
                <a16:creationId xmlns:a16="http://schemas.microsoft.com/office/drawing/2014/main" id="{A3296821-D5E4-438D-A150-9CAFAF4D3411}"/>
              </a:ext>
            </a:extLst>
          </p:cNvPr>
          <p:cNvPicPr>
            <a:picLocks noChangeAspect="1"/>
          </p:cNvPicPr>
          <p:nvPr/>
        </p:nvPicPr>
        <p:blipFill>
          <a:blip r:embed="rId3"/>
          <a:stretch>
            <a:fillRect/>
          </a:stretch>
        </p:blipFill>
        <p:spPr>
          <a:xfrm>
            <a:off x="5737568" y="1385939"/>
            <a:ext cx="5187971" cy="3600000"/>
          </a:xfrm>
          <a:prstGeom prst="rect">
            <a:avLst/>
          </a:prstGeom>
        </p:spPr>
      </p:pic>
    </p:spTree>
    <p:extLst>
      <p:ext uri="{BB962C8B-B14F-4D97-AF65-F5344CB8AC3E}">
        <p14:creationId xmlns:p14="http://schemas.microsoft.com/office/powerpoint/2010/main" val="32244173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F5631-DFBF-42E4-987C-6C3016A6EAC6}"/>
              </a:ext>
            </a:extLst>
          </p:cNvPr>
          <p:cNvSpPr>
            <a:spLocks noGrp="1"/>
          </p:cNvSpPr>
          <p:nvPr>
            <p:ph type="title"/>
          </p:nvPr>
        </p:nvSpPr>
        <p:spPr>
          <a:xfrm>
            <a:off x="1143000" y="609600"/>
            <a:ext cx="9875520" cy="528918"/>
          </a:xfrm>
        </p:spPr>
        <p:txBody>
          <a:bodyPr>
            <a:normAutofit fontScale="90000"/>
          </a:bodyPr>
          <a:lstStyle/>
          <a:p>
            <a:r>
              <a:rPr lang="fr-FR" dirty="0"/>
              <a:t>Cas d’utilisation « Formulaire »</a:t>
            </a:r>
            <a:endParaRPr lang="fr-FR" dirty="0">
              <a:highlight>
                <a:srgbClr val="FFFF00"/>
              </a:highlight>
            </a:endParaRPr>
          </a:p>
        </p:txBody>
      </p:sp>
      <p:pic>
        <p:nvPicPr>
          <p:cNvPr id="7" name="Content Placeholder 6">
            <a:extLst>
              <a:ext uri="{FF2B5EF4-FFF2-40B4-BE49-F238E27FC236}">
                <a16:creationId xmlns:a16="http://schemas.microsoft.com/office/drawing/2014/main" id="{6A3986CF-18C0-49C2-A48E-E50944E11473}"/>
              </a:ext>
            </a:extLst>
          </p:cNvPr>
          <p:cNvPicPr>
            <a:picLocks noGrp="1" noChangeAspect="1"/>
          </p:cNvPicPr>
          <p:nvPr>
            <p:ph idx="1"/>
          </p:nvPr>
        </p:nvPicPr>
        <p:blipFill>
          <a:blip r:embed="rId2"/>
          <a:stretch>
            <a:fillRect/>
          </a:stretch>
        </p:blipFill>
        <p:spPr>
          <a:xfrm>
            <a:off x="3362461" y="1262440"/>
            <a:ext cx="5404235" cy="5040000"/>
          </a:xfrm>
        </p:spPr>
      </p:pic>
      <p:sp>
        <p:nvSpPr>
          <p:cNvPr id="4" name="Slide Number Placeholder 3">
            <a:extLst>
              <a:ext uri="{FF2B5EF4-FFF2-40B4-BE49-F238E27FC236}">
                <a16:creationId xmlns:a16="http://schemas.microsoft.com/office/drawing/2014/main" id="{03351833-B8E2-46A0-930C-926CEA7FEF4D}"/>
              </a:ext>
            </a:extLst>
          </p:cNvPr>
          <p:cNvSpPr>
            <a:spLocks noGrp="1"/>
          </p:cNvSpPr>
          <p:nvPr>
            <p:ph type="sldNum" sz="quarter" idx="12"/>
          </p:nvPr>
        </p:nvSpPr>
        <p:spPr/>
        <p:txBody>
          <a:bodyPr/>
          <a:lstStyle/>
          <a:p>
            <a:fld id="{C52ED629-2BC0-4D25-969E-9ED78B40D7C7}" type="slidenum">
              <a:rPr lang="fr-FR" smtClean="0"/>
              <a:t>26</a:t>
            </a:fld>
            <a:endParaRPr lang="fr-FR"/>
          </a:p>
        </p:txBody>
      </p:sp>
    </p:spTree>
    <p:extLst>
      <p:ext uri="{BB962C8B-B14F-4D97-AF65-F5344CB8AC3E}">
        <p14:creationId xmlns:p14="http://schemas.microsoft.com/office/powerpoint/2010/main" val="15350534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3571B3-4586-4F72-8495-6FFC955B4827}"/>
              </a:ext>
            </a:extLst>
          </p:cNvPr>
          <p:cNvSpPr>
            <a:spLocks noGrp="1"/>
          </p:cNvSpPr>
          <p:nvPr>
            <p:ph type="sldNum" sz="quarter" idx="12"/>
          </p:nvPr>
        </p:nvSpPr>
        <p:spPr/>
        <p:txBody>
          <a:bodyPr/>
          <a:lstStyle/>
          <a:p>
            <a:fld id="{C52ED629-2BC0-4D25-969E-9ED78B40D7C7}" type="slidenum">
              <a:rPr lang="fr-FR" smtClean="0"/>
              <a:t>27</a:t>
            </a:fld>
            <a:endParaRPr lang="fr-FR"/>
          </a:p>
        </p:txBody>
      </p:sp>
      <p:pic>
        <p:nvPicPr>
          <p:cNvPr id="7" name="Picture 6">
            <a:extLst>
              <a:ext uri="{FF2B5EF4-FFF2-40B4-BE49-F238E27FC236}">
                <a16:creationId xmlns:a16="http://schemas.microsoft.com/office/drawing/2014/main" id="{C980F37C-6462-486B-B40D-61EE41943BF7}"/>
              </a:ext>
            </a:extLst>
          </p:cNvPr>
          <p:cNvPicPr>
            <a:picLocks noChangeAspect="1"/>
          </p:cNvPicPr>
          <p:nvPr/>
        </p:nvPicPr>
        <p:blipFill>
          <a:blip r:embed="rId2"/>
          <a:stretch>
            <a:fillRect/>
          </a:stretch>
        </p:blipFill>
        <p:spPr>
          <a:xfrm>
            <a:off x="609600" y="771586"/>
            <a:ext cx="10972800" cy="5219578"/>
          </a:xfrm>
          <a:prstGeom prst="rect">
            <a:avLst/>
          </a:prstGeom>
        </p:spPr>
      </p:pic>
    </p:spTree>
    <p:extLst>
      <p:ext uri="{BB962C8B-B14F-4D97-AF65-F5344CB8AC3E}">
        <p14:creationId xmlns:p14="http://schemas.microsoft.com/office/powerpoint/2010/main" val="9222603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D16C52-2441-407A-950F-948F1D4DF3EF}"/>
              </a:ext>
            </a:extLst>
          </p:cNvPr>
          <p:cNvSpPr>
            <a:spLocks noGrp="1"/>
          </p:cNvSpPr>
          <p:nvPr>
            <p:ph type="title"/>
          </p:nvPr>
        </p:nvSpPr>
        <p:spPr>
          <a:xfrm>
            <a:off x="1242242" y="1735681"/>
            <a:ext cx="3265963" cy="1255395"/>
          </a:xfrm>
        </p:spPr>
        <p:txBody>
          <a:bodyPr/>
          <a:lstStyle/>
          <a:p>
            <a:r>
              <a:rPr lang="fr-FR" sz="3200" dirty="0"/>
              <a:t>Contrôleur partie formulaire</a:t>
            </a:r>
          </a:p>
        </p:txBody>
      </p:sp>
      <p:sp>
        <p:nvSpPr>
          <p:cNvPr id="4" name="Text Placeholder 3">
            <a:extLst>
              <a:ext uri="{FF2B5EF4-FFF2-40B4-BE49-F238E27FC236}">
                <a16:creationId xmlns:a16="http://schemas.microsoft.com/office/drawing/2014/main" id="{A72BBF2A-83BC-4E38-B07F-64F865C3BFC2}"/>
              </a:ext>
            </a:extLst>
          </p:cNvPr>
          <p:cNvSpPr>
            <a:spLocks noGrp="1"/>
          </p:cNvSpPr>
          <p:nvPr>
            <p:ph type="body" sz="half" idx="2"/>
          </p:nvPr>
        </p:nvSpPr>
        <p:spPr>
          <a:xfrm>
            <a:off x="1332395" y="3042458"/>
            <a:ext cx="2973794" cy="1296102"/>
          </a:xfrm>
        </p:spPr>
        <p:txBody>
          <a:bodyPr/>
          <a:lstStyle/>
          <a:p>
            <a:r>
              <a:rPr lang="fr-FR" dirty="0" err="1"/>
              <a:t>monitor.formulaire</a:t>
            </a:r>
            <a:endParaRPr lang="fr-FR" dirty="0"/>
          </a:p>
        </p:txBody>
      </p:sp>
      <p:sp>
        <p:nvSpPr>
          <p:cNvPr id="5" name="Slide Number Placeholder 4">
            <a:extLst>
              <a:ext uri="{FF2B5EF4-FFF2-40B4-BE49-F238E27FC236}">
                <a16:creationId xmlns:a16="http://schemas.microsoft.com/office/drawing/2014/main" id="{A6EACE12-EFC6-4C2C-9025-475FB479ACF5}"/>
              </a:ext>
            </a:extLst>
          </p:cNvPr>
          <p:cNvSpPr>
            <a:spLocks noGrp="1"/>
          </p:cNvSpPr>
          <p:nvPr>
            <p:ph type="sldNum" sz="quarter" idx="12"/>
          </p:nvPr>
        </p:nvSpPr>
        <p:spPr/>
        <p:txBody>
          <a:bodyPr/>
          <a:lstStyle/>
          <a:p>
            <a:fld id="{C52ED629-2BC0-4D25-969E-9ED78B40D7C7}" type="slidenum">
              <a:rPr lang="fr-FR" smtClean="0"/>
              <a:t>28</a:t>
            </a:fld>
            <a:endParaRPr lang="fr-FR"/>
          </a:p>
        </p:txBody>
      </p:sp>
      <p:pic>
        <p:nvPicPr>
          <p:cNvPr id="6" name="Picture 5">
            <a:extLst>
              <a:ext uri="{FF2B5EF4-FFF2-40B4-BE49-F238E27FC236}">
                <a16:creationId xmlns:a16="http://schemas.microsoft.com/office/drawing/2014/main" id="{A1001E06-DBF3-4861-82D6-8993EF2CF563}"/>
              </a:ext>
            </a:extLst>
          </p:cNvPr>
          <p:cNvPicPr>
            <a:picLocks noChangeAspect="1"/>
          </p:cNvPicPr>
          <p:nvPr/>
        </p:nvPicPr>
        <p:blipFill>
          <a:blip r:embed="rId2"/>
          <a:stretch>
            <a:fillRect/>
          </a:stretch>
        </p:blipFill>
        <p:spPr>
          <a:xfrm>
            <a:off x="4768387" y="2331316"/>
            <a:ext cx="6502878" cy="1260000"/>
          </a:xfrm>
          <a:prstGeom prst="rect">
            <a:avLst/>
          </a:prstGeom>
        </p:spPr>
      </p:pic>
    </p:spTree>
    <p:extLst>
      <p:ext uri="{BB962C8B-B14F-4D97-AF65-F5344CB8AC3E}">
        <p14:creationId xmlns:p14="http://schemas.microsoft.com/office/powerpoint/2010/main" val="42549643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713A425-B247-45A7-84F1-128B7D287CB2}"/>
              </a:ext>
            </a:extLst>
          </p:cNvPr>
          <p:cNvSpPr>
            <a:spLocks noGrp="1"/>
          </p:cNvSpPr>
          <p:nvPr>
            <p:ph type="title"/>
          </p:nvPr>
        </p:nvSpPr>
        <p:spPr>
          <a:xfrm>
            <a:off x="1409700" y="1097280"/>
            <a:ext cx="3419475" cy="1737360"/>
          </a:xfrm>
        </p:spPr>
        <p:txBody>
          <a:bodyPr/>
          <a:lstStyle/>
          <a:p>
            <a:r>
              <a:rPr lang="fr-FR" sz="3200" dirty="0"/>
              <a:t>form.html</a:t>
            </a:r>
          </a:p>
        </p:txBody>
      </p:sp>
      <p:sp>
        <p:nvSpPr>
          <p:cNvPr id="5" name="Slide Number Placeholder 4">
            <a:extLst>
              <a:ext uri="{FF2B5EF4-FFF2-40B4-BE49-F238E27FC236}">
                <a16:creationId xmlns:a16="http://schemas.microsoft.com/office/drawing/2014/main" id="{37DA76C1-10ED-4E69-8345-584BCAD66E99}"/>
              </a:ext>
            </a:extLst>
          </p:cNvPr>
          <p:cNvSpPr>
            <a:spLocks noGrp="1"/>
          </p:cNvSpPr>
          <p:nvPr>
            <p:ph type="sldNum" sz="quarter" idx="12"/>
          </p:nvPr>
        </p:nvSpPr>
        <p:spPr/>
        <p:txBody>
          <a:bodyPr/>
          <a:lstStyle/>
          <a:p>
            <a:fld id="{C52ED629-2BC0-4D25-969E-9ED78B40D7C7}" type="slidenum">
              <a:rPr lang="fr-FR" smtClean="0"/>
              <a:t>29</a:t>
            </a:fld>
            <a:endParaRPr lang="fr-FR"/>
          </a:p>
        </p:txBody>
      </p:sp>
      <p:pic>
        <p:nvPicPr>
          <p:cNvPr id="3" name="Picture 2">
            <a:extLst>
              <a:ext uri="{FF2B5EF4-FFF2-40B4-BE49-F238E27FC236}">
                <a16:creationId xmlns:a16="http://schemas.microsoft.com/office/drawing/2014/main" id="{DAABFC6F-E034-4734-A093-A66B0A3FEC41}"/>
              </a:ext>
            </a:extLst>
          </p:cNvPr>
          <p:cNvPicPr>
            <a:picLocks noChangeAspect="1"/>
          </p:cNvPicPr>
          <p:nvPr/>
        </p:nvPicPr>
        <p:blipFill>
          <a:blip r:embed="rId2"/>
          <a:stretch>
            <a:fillRect/>
          </a:stretch>
        </p:blipFill>
        <p:spPr>
          <a:xfrm>
            <a:off x="5314590" y="978734"/>
            <a:ext cx="5581937" cy="4858000"/>
          </a:xfrm>
          <a:prstGeom prst="rect">
            <a:avLst/>
          </a:prstGeom>
        </p:spPr>
      </p:pic>
    </p:spTree>
    <p:extLst>
      <p:ext uri="{BB962C8B-B14F-4D97-AF65-F5344CB8AC3E}">
        <p14:creationId xmlns:p14="http://schemas.microsoft.com/office/powerpoint/2010/main" val="27239416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4CEC49-3FA8-4FF4-AA1C-C76C9CA7B9D4}"/>
              </a:ext>
            </a:extLst>
          </p:cNvPr>
          <p:cNvSpPr>
            <a:spLocks noGrp="1"/>
          </p:cNvSpPr>
          <p:nvPr>
            <p:ph type="sldNum" sz="quarter" idx="12"/>
          </p:nvPr>
        </p:nvSpPr>
        <p:spPr/>
        <p:txBody>
          <a:bodyPr/>
          <a:lstStyle/>
          <a:p>
            <a:fld id="{C52ED629-2BC0-4D25-969E-9ED78B40D7C7}" type="slidenum">
              <a:rPr lang="fr-FR" smtClean="0"/>
              <a:t>30</a:t>
            </a:fld>
            <a:endParaRPr lang="fr-FR"/>
          </a:p>
        </p:txBody>
      </p:sp>
      <p:pic>
        <p:nvPicPr>
          <p:cNvPr id="3" name="Picture 2">
            <a:extLst>
              <a:ext uri="{FF2B5EF4-FFF2-40B4-BE49-F238E27FC236}">
                <a16:creationId xmlns:a16="http://schemas.microsoft.com/office/drawing/2014/main" id="{DDE86D37-3C0F-46AB-96AE-C35C8E7E4BD7}"/>
              </a:ext>
            </a:extLst>
          </p:cNvPr>
          <p:cNvPicPr>
            <a:picLocks noChangeAspect="1"/>
          </p:cNvPicPr>
          <p:nvPr/>
        </p:nvPicPr>
        <p:blipFill>
          <a:blip r:embed="rId2"/>
          <a:stretch>
            <a:fillRect/>
          </a:stretch>
        </p:blipFill>
        <p:spPr>
          <a:xfrm>
            <a:off x="645109" y="614942"/>
            <a:ext cx="10770154" cy="2470277"/>
          </a:xfrm>
          <a:prstGeom prst="rect">
            <a:avLst/>
          </a:prstGeom>
        </p:spPr>
      </p:pic>
      <p:sp>
        <p:nvSpPr>
          <p:cNvPr id="4" name="TextBox 3">
            <a:extLst>
              <a:ext uri="{FF2B5EF4-FFF2-40B4-BE49-F238E27FC236}">
                <a16:creationId xmlns:a16="http://schemas.microsoft.com/office/drawing/2014/main" id="{02D63997-F04C-4768-9825-71A70B369A63}"/>
              </a:ext>
            </a:extLst>
          </p:cNvPr>
          <p:cNvSpPr txBox="1"/>
          <p:nvPr/>
        </p:nvSpPr>
        <p:spPr>
          <a:xfrm>
            <a:off x="1158950" y="4114801"/>
            <a:ext cx="9887430" cy="523220"/>
          </a:xfrm>
          <a:prstGeom prst="rect">
            <a:avLst/>
          </a:prstGeom>
          <a:noFill/>
        </p:spPr>
        <p:txBody>
          <a:bodyPr wrap="square" rtlCol="0">
            <a:spAutoFit/>
          </a:bodyPr>
          <a:lstStyle/>
          <a:p>
            <a:pPr algn="just"/>
            <a:r>
              <a:rPr lang="fr-FR" sz="1400" i="1" dirty="0">
                <a:solidFill>
                  <a:srgbClr val="4A66AC"/>
                </a:solidFill>
              </a:rPr>
              <a:t>La page formulaire pour faire une requête HTTP pour une application et un de ses datacenters et récupérer la. Le résultat est inséré dans la base de données et affiché dans la page « result.html ».</a:t>
            </a:r>
          </a:p>
        </p:txBody>
      </p:sp>
    </p:spTree>
    <p:extLst>
      <p:ext uri="{BB962C8B-B14F-4D97-AF65-F5344CB8AC3E}">
        <p14:creationId xmlns:p14="http://schemas.microsoft.com/office/powerpoint/2010/main" val="4149929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453FBE-929A-47DA-87C9-10F16A63298E}"/>
              </a:ext>
            </a:extLst>
          </p:cNvPr>
          <p:cNvSpPr>
            <a:spLocks noGrp="1"/>
          </p:cNvSpPr>
          <p:nvPr>
            <p:ph type="sldNum" sz="quarter" idx="12"/>
          </p:nvPr>
        </p:nvSpPr>
        <p:spPr/>
        <p:txBody>
          <a:bodyPr/>
          <a:lstStyle/>
          <a:p>
            <a:fld id="{C52ED629-2BC0-4D25-969E-9ED78B40D7C7}" type="slidenum">
              <a:rPr lang="fr-FR" smtClean="0"/>
              <a:t>31</a:t>
            </a:fld>
            <a:endParaRPr lang="fr-FR"/>
          </a:p>
        </p:txBody>
      </p:sp>
      <p:pic>
        <p:nvPicPr>
          <p:cNvPr id="7" name="Picture 6">
            <a:extLst>
              <a:ext uri="{FF2B5EF4-FFF2-40B4-BE49-F238E27FC236}">
                <a16:creationId xmlns:a16="http://schemas.microsoft.com/office/drawing/2014/main" id="{92243C1A-D59A-4289-990A-9C7402EF5257}"/>
              </a:ext>
            </a:extLst>
          </p:cNvPr>
          <p:cNvPicPr>
            <a:picLocks noChangeAspect="1"/>
          </p:cNvPicPr>
          <p:nvPr/>
        </p:nvPicPr>
        <p:blipFill>
          <a:blip r:embed="rId2"/>
          <a:stretch>
            <a:fillRect/>
          </a:stretch>
        </p:blipFill>
        <p:spPr>
          <a:xfrm>
            <a:off x="676276" y="247650"/>
            <a:ext cx="10091858" cy="6362700"/>
          </a:xfrm>
          <a:prstGeom prst="rect">
            <a:avLst/>
          </a:prstGeom>
        </p:spPr>
      </p:pic>
    </p:spTree>
    <p:extLst>
      <p:ext uri="{BB962C8B-B14F-4D97-AF65-F5344CB8AC3E}">
        <p14:creationId xmlns:p14="http://schemas.microsoft.com/office/powerpoint/2010/main" val="41544546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2B9F8F-3ADE-47ED-BFAC-8CB7CAECE3E1}"/>
              </a:ext>
            </a:extLst>
          </p:cNvPr>
          <p:cNvSpPr>
            <a:spLocks noGrp="1"/>
          </p:cNvSpPr>
          <p:nvPr>
            <p:ph type="title"/>
          </p:nvPr>
        </p:nvSpPr>
        <p:spPr>
          <a:xfrm>
            <a:off x="1066800" y="1348915"/>
            <a:ext cx="3190723" cy="1737360"/>
          </a:xfrm>
        </p:spPr>
        <p:txBody>
          <a:bodyPr/>
          <a:lstStyle/>
          <a:p>
            <a:r>
              <a:rPr lang="fr-FR" sz="3200" dirty="0"/>
              <a:t>Contrôleur page result.html</a:t>
            </a:r>
          </a:p>
        </p:txBody>
      </p:sp>
      <p:sp>
        <p:nvSpPr>
          <p:cNvPr id="5" name="Text Placeholder 4">
            <a:extLst>
              <a:ext uri="{FF2B5EF4-FFF2-40B4-BE49-F238E27FC236}">
                <a16:creationId xmlns:a16="http://schemas.microsoft.com/office/drawing/2014/main" id="{05D88ACA-3347-46B8-8723-391C045F2EF9}"/>
              </a:ext>
            </a:extLst>
          </p:cNvPr>
          <p:cNvSpPr>
            <a:spLocks noGrp="1"/>
          </p:cNvSpPr>
          <p:nvPr>
            <p:ph type="body" sz="half" idx="2"/>
          </p:nvPr>
        </p:nvSpPr>
        <p:spPr>
          <a:xfrm>
            <a:off x="1123950" y="3257725"/>
            <a:ext cx="3190723" cy="1297577"/>
          </a:xfrm>
        </p:spPr>
        <p:txBody>
          <a:bodyPr/>
          <a:lstStyle/>
          <a:p>
            <a:r>
              <a:rPr lang="fr-FR" dirty="0" err="1"/>
              <a:t>monitor.form_result</a:t>
            </a:r>
            <a:endParaRPr lang="fr-FR" dirty="0"/>
          </a:p>
        </p:txBody>
      </p:sp>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32</a:t>
            </a:fld>
            <a:endParaRPr lang="fr-FR"/>
          </a:p>
        </p:txBody>
      </p:sp>
      <p:pic>
        <p:nvPicPr>
          <p:cNvPr id="6" name="Picture 5">
            <a:extLst>
              <a:ext uri="{FF2B5EF4-FFF2-40B4-BE49-F238E27FC236}">
                <a16:creationId xmlns:a16="http://schemas.microsoft.com/office/drawing/2014/main" id="{7C03C65C-A757-40B7-ABA0-342508E40E92}"/>
              </a:ext>
            </a:extLst>
          </p:cNvPr>
          <p:cNvPicPr>
            <a:picLocks noChangeAspect="1"/>
          </p:cNvPicPr>
          <p:nvPr/>
        </p:nvPicPr>
        <p:blipFill>
          <a:blip r:embed="rId2"/>
          <a:stretch>
            <a:fillRect/>
          </a:stretch>
        </p:blipFill>
        <p:spPr>
          <a:xfrm>
            <a:off x="4593348" y="2009138"/>
            <a:ext cx="7022052" cy="2160000"/>
          </a:xfrm>
          <a:prstGeom prst="rect">
            <a:avLst/>
          </a:prstGeom>
        </p:spPr>
      </p:pic>
    </p:spTree>
    <p:extLst>
      <p:ext uri="{BB962C8B-B14F-4D97-AF65-F5344CB8AC3E}">
        <p14:creationId xmlns:p14="http://schemas.microsoft.com/office/powerpoint/2010/main" val="3473801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DF731-AA39-41DB-88EB-94BC97B61809}"/>
              </a:ext>
            </a:extLst>
          </p:cNvPr>
          <p:cNvSpPr>
            <a:spLocks noGrp="1"/>
          </p:cNvSpPr>
          <p:nvPr>
            <p:ph type="title"/>
          </p:nvPr>
        </p:nvSpPr>
        <p:spPr>
          <a:xfrm>
            <a:off x="1143000" y="1097280"/>
            <a:ext cx="3886200" cy="1737360"/>
          </a:xfrm>
        </p:spPr>
        <p:txBody>
          <a:bodyPr/>
          <a:lstStyle/>
          <a:p>
            <a:r>
              <a:rPr lang="fr-FR" sz="3200" dirty="0"/>
              <a:t>Les méthodes de la partie </a:t>
            </a:r>
            <a:r>
              <a:rPr lang="fr-FR" sz="3200" dirty="0" err="1"/>
              <a:t>form_result</a:t>
            </a:r>
            <a:r>
              <a:rPr lang="fr-FR" sz="3200" dirty="0"/>
              <a:t>() du contrôleur</a:t>
            </a:r>
          </a:p>
        </p:txBody>
      </p:sp>
      <p:sp>
        <p:nvSpPr>
          <p:cNvPr id="4" name="Text Placeholder 3">
            <a:extLst>
              <a:ext uri="{FF2B5EF4-FFF2-40B4-BE49-F238E27FC236}">
                <a16:creationId xmlns:a16="http://schemas.microsoft.com/office/drawing/2014/main" id="{78A55034-3B1F-4020-B0A4-54E77204154E}"/>
              </a:ext>
            </a:extLst>
          </p:cNvPr>
          <p:cNvSpPr>
            <a:spLocks noGrp="1"/>
          </p:cNvSpPr>
          <p:nvPr>
            <p:ph type="body" sz="half" idx="2"/>
          </p:nvPr>
        </p:nvSpPr>
        <p:spPr>
          <a:xfrm>
            <a:off x="1143000" y="2909071"/>
            <a:ext cx="3771900" cy="1114290"/>
          </a:xfrm>
        </p:spPr>
        <p:txBody>
          <a:bodyPr>
            <a:normAutofit fontScale="85000" lnSpcReduction="10000"/>
          </a:bodyPr>
          <a:lstStyle/>
          <a:p>
            <a:pPr algn="just"/>
            <a:r>
              <a:rPr lang="fr-FR" dirty="0"/>
              <a:t>library.py</a:t>
            </a:r>
          </a:p>
          <a:p>
            <a:pPr algn="just"/>
            <a:r>
              <a:rPr lang="fr-FR" dirty="0"/>
              <a:t>L’ensemble des méthodes pour la requête HTTP GET, l’insertion en base de données et l’affichage du résultat, ainsi que get_app() et </a:t>
            </a:r>
            <a:r>
              <a:rPr lang="fr-FR" dirty="0" err="1"/>
              <a:t>get_center</a:t>
            </a:r>
            <a:r>
              <a:rPr lang="fr-FR" dirty="0"/>
              <a:t>()</a:t>
            </a:r>
          </a:p>
        </p:txBody>
      </p:sp>
      <p:sp>
        <p:nvSpPr>
          <p:cNvPr id="5" name="Slide Number Placeholder 4">
            <a:extLst>
              <a:ext uri="{FF2B5EF4-FFF2-40B4-BE49-F238E27FC236}">
                <a16:creationId xmlns:a16="http://schemas.microsoft.com/office/drawing/2014/main" id="{B25D8A50-3042-48F9-BF81-EC0755323D98}"/>
              </a:ext>
            </a:extLst>
          </p:cNvPr>
          <p:cNvSpPr>
            <a:spLocks noGrp="1"/>
          </p:cNvSpPr>
          <p:nvPr>
            <p:ph type="sldNum" sz="quarter" idx="12"/>
          </p:nvPr>
        </p:nvSpPr>
        <p:spPr/>
        <p:txBody>
          <a:bodyPr/>
          <a:lstStyle/>
          <a:p>
            <a:fld id="{C52ED629-2BC0-4D25-969E-9ED78B40D7C7}" type="slidenum">
              <a:rPr lang="fr-FR" smtClean="0"/>
              <a:t>33</a:t>
            </a:fld>
            <a:endParaRPr lang="fr-FR"/>
          </a:p>
        </p:txBody>
      </p:sp>
      <p:pic>
        <p:nvPicPr>
          <p:cNvPr id="6" name="Picture 5">
            <a:extLst>
              <a:ext uri="{FF2B5EF4-FFF2-40B4-BE49-F238E27FC236}">
                <a16:creationId xmlns:a16="http://schemas.microsoft.com/office/drawing/2014/main" id="{0C099B52-A9FE-4568-A734-6A0121582355}"/>
              </a:ext>
            </a:extLst>
          </p:cNvPr>
          <p:cNvPicPr>
            <a:picLocks noChangeAspect="1"/>
          </p:cNvPicPr>
          <p:nvPr/>
        </p:nvPicPr>
        <p:blipFill>
          <a:blip r:embed="rId2"/>
          <a:stretch>
            <a:fillRect/>
          </a:stretch>
        </p:blipFill>
        <p:spPr>
          <a:xfrm>
            <a:off x="5863299" y="924200"/>
            <a:ext cx="5613110" cy="5040000"/>
          </a:xfrm>
          <a:prstGeom prst="rect">
            <a:avLst/>
          </a:prstGeom>
        </p:spPr>
      </p:pic>
    </p:spTree>
    <p:extLst>
      <p:ext uri="{BB962C8B-B14F-4D97-AF65-F5344CB8AC3E}">
        <p14:creationId xmlns:p14="http://schemas.microsoft.com/office/powerpoint/2010/main" val="11238025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p:txBody>
          <a:bodyPr/>
          <a:lstStyle/>
          <a:p>
            <a:r>
              <a:rPr lang="fr-FR" dirty="0"/>
              <a:t>result.html</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34</a:t>
            </a:fld>
            <a:endParaRPr lang="fr-FR"/>
          </a:p>
        </p:txBody>
      </p:sp>
      <p:pic>
        <p:nvPicPr>
          <p:cNvPr id="3" name="Picture 2">
            <a:extLst>
              <a:ext uri="{FF2B5EF4-FFF2-40B4-BE49-F238E27FC236}">
                <a16:creationId xmlns:a16="http://schemas.microsoft.com/office/drawing/2014/main" id="{B8E3010D-DEA7-494A-AB25-6A12F926A499}"/>
              </a:ext>
            </a:extLst>
          </p:cNvPr>
          <p:cNvPicPr>
            <a:picLocks noChangeAspect="1"/>
          </p:cNvPicPr>
          <p:nvPr/>
        </p:nvPicPr>
        <p:blipFill>
          <a:blip r:embed="rId2"/>
          <a:stretch>
            <a:fillRect/>
          </a:stretch>
        </p:blipFill>
        <p:spPr>
          <a:xfrm>
            <a:off x="5412968" y="804062"/>
            <a:ext cx="5275594" cy="5040000"/>
          </a:xfrm>
          <a:prstGeom prst="rect">
            <a:avLst/>
          </a:prstGeom>
        </p:spPr>
      </p:pic>
    </p:spTree>
    <p:extLst>
      <p:ext uri="{BB962C8B-B14F-4D97-AF65-F5344CB8AC3E}">
        <p14:creationId xmlns:p14="http://schemas.microsoft.com/office/powerpoint/2010/main" val="1732342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B814D10-85B8-4BDC-86C1-B55DBC4253CF}"/>
              </a:ext>
            </a:extLst>
          </p:cNvPr>
          <p:cNvSpPr>
            <a:spLocks noGrp="1"/>
          </p:cNvSpPr>
          <p:nvPr>
            <p:ph type="sldNum" sz="quarter" idx="12"/>
          </p:nvPr>
        </p:nvSpPr>
        <p:spPr/>
        <p:txBody>
          <a:bodyPr/>
          <a:lstStyle/>
          <a:p>
            <a:fld id="{C52ED629-2BC0-4D25-969E-9ED78B40D7C7}" type="slidenum">
              <a:rPr lang="fr-FR" smtClean="0"/>
              <a:t>35</a:t>
            </a:fld>
            <a:endParaRPr lang="fr-FR"/>
          </a:p>
        </p:txBody>
      </p:sp>
      <p:pic>
        <p:nvPicPr>
          <p:cNvPr id="6" name="Picture 5">
            <a:extLst>
              <a:ext uri="{FF2B5EF4-FFF2-40B4-BE49-F238E27FC236}">
                <a16:creationId xmlns:a16="http://schemas.microsoft.com/office/drawing/2014/main" id="{45DFC666-3876-4562-B4E7-5DB3EF0B8291}"/>
              </a:ext>
            </a:extLst>
          </p:cNvPr>
          <p:cNvPicPr>
            <a:picLocks noChangeAspect="1"/>
          </p:cNvPicPr>
          <p:nvPr/>
        </p:nvPicPr>
        <p:blipFill>
          <a:blip r:embed="rId2"/>
          <a:stretch>
            <a:fillRect/>
          </a:stretch>
        </p:blipFill>
        <p:spPr>
          <a:xfrm>
            <a:off x="645055" y="798330"/>
            <a:ext cx="10890810" cy="1860646"/>
          </a:xfrm>
          <a:prstGeom prst="rect">
            <a:avLst/>
          </a:prstGeom>
        </p:spPr>
      </p:pic>
      <p:sp>
        <p:nvSpPr>
          <p:cNvPr id="2" name="TextBox 1">
            <a:extLst>
              <a:ext uri="{FF2B5EF4-FFF2-40B4-BE49-F238E27FC236}">
                <a16:creationId xmlns:a16="http://schemas.microsoft.com/office/drawing/2014/main" id="{49496315-4ACC-4526-A5AA-4698DFEADE33}"/>
              </a:ext>
            </a:extLst>
          </p:cNvPr>
          <p:cNvSpPr txBox="1"/>
          <p:nvPr/>
        </p:nvSpPr>
        <p:spPr>
          <a:xfrm>
            <a:off x="3510570" y="3748545"/>
            <a:ext cx="4746736" cy="307777"/>
          </a:xfrm>
          <a:prstGeom prst="rect">
            <a:avLst/>
          </a:prstGeom>
          <a:noFill/>
        </p:spPr>
        <p:txBody>
          <a:bodyPr wrap="square" rtlCol="0">
            <a:spAutoFit/>
          </a:bodyPr>
          <a:lstStyle/>
          <a:p>
            <a:r>
              <a:rPr lang="fr-FR" sz="1400" i="1" dirty="0">
                <a:solidFill>
                  <a:srgbClr val="4A66AC"/>
                </a:solidFill>
              </a:rPr>
              <a:t>Le résultat de la requête HTTP de la page « form.html »</a:t>
            </a:r>
          </a:p>
        </p:txBody>
      </p:sp>
    </p:spTree>
    <p:extLst>
      <p:ext uri="{BB962C8B-B14F-4D97-AF65-F5344CB8AC3E}">
        <p14:creationId xmlns:p14="http://schemas.microsoft.com/office/powerpoint/2010/main" val="12090171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78B21-65EF-4B72-A0BB-B51937D2D41B}"/>
              </a:ext>
            </a:extLst>
          </p:cNvPr>
          <p:cNvSpPr>
            <a:spLocks noGrp="1"/>
          </p:cNvSpPr>
          <p:nvPr>
            <p:ph type="title"/>
          </p:nvPr>
        </p:nvSpPr>
        <p:spPr>
          <a:xfrm>
            <a:off x="1143000" y="609600"/>
            <a:ext cx="9875520" cy="274320"/>
          </a:xfrm>
        </p:spPr>
        <p:txBody>
          <a:bodyPr>
            <a:normAutofit fontScale="90000"/>
          </a:bodyPr>
          <a:lstStyle/>
          <a:p>
            <a:r>
              <a:rPr lang="fr-FR" dirty="0"/>
              <a:t>Cas d’utilisation page « List »</a:t>
            </a:r>
          </a:p>
        </p:txBody>
      </p:sp>
      <p:pic>
        <p:nvPicPr>
          <p:cNvPr id="11" name="Content Placeholder 10">
            <a:extLst>
              <a:ext uri="{FF2B5EF4-FFF2-40B4-BE49-F238E27FC236}">
                <a16:creationId xmlns:a16="http://schemas.microsoft.com/office/drawing/2014/main" id="{783AE1D7-2D9D-4574-88E0-DCFB2E33A889}"/>
              </a:ext>
            </a:extLst>
          </p:cNvPr>
          <p:cNvPicPr>
            <a:picLocks noGrp="1" noChangeAspect="1"/>
          </p:cNvPicPr>
          <p:nvPr>
            <p:ph idx="1"/>
          </p:nvPr>
        </p:nvPicPr>
        <p:blipFill>
          <a:blip r:embed="rId2"/>
          <a:stretch>
            <a:fillRect/>
          </a:stretch>
        </p:blipFill>
        <p:spPr>
          <a:xfrm>
            <a:off x="4016886" y="1228614"/>
            <a:ext cx="4377931" cy="5040000"/>
          </a:xfrm>
        </p:spPr>
      </p:pic>
      <p:sp>
        <p:nvSpPr>
          <p:cNvPr id="4" name="Slide Number Placeholder 3">
            <a:extLst>
              <a:ext uri="{FF2B5EF4-FFF2-40B4-BE49-F238E27FC236}">
                <a16:creationId xmlns:a16="http://schemas.microsoft.com/office/drawing/2014/main" id="{D7663BAB-4B62-4B8B-840C-627E3866497A}"/>
              </a:ext>
            </a:extLst>
          </p:cNvPr>
          <p:cNvSpPr>
            <a:spLocks noGrp="1"/>
          </p:cNvSpPr>
          <p:nvPr>
            <p:ph type="sldNum" sz="quarter" idx="12"/>
          </p:nvPr>
        </p:nvSpPr>
        <p:spPr/>
        <p:txBody>
          <a:bodyPr/>
          <a:lstStyle/>
          <a:p>
            <a:fld id="{C52ED629-2BC0-4D25-969E-9ED78B40D7C7}" type="slidenum">
              <a:rPr lang="fr-FR" smtClean="0"/>
              <a:t>36</a:t>
            </a:fld>
            <a:endParaRPr lang="fr-FR"/>
          </a:p>
        </p:txBody>
      </p:sp>
    </p:spTree>
    <p:extLst>
      <p:ext uri="{BB962C8B-B14F-4D97-AF65-F5344CB8AC3E}">
        <p14:creationId xmlns:p14="http://schemas.microsoft.com/office/powerpoint/2010/main" val="10769370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37FFB2-AFDD-43D1-B665-1C7183EBEEEA}"/>
              </a:ext>
            </a:extLst>
          </p:cNvPr>
          <p:cNvSpPr>
            <a:spLocks noGrp="1"/>
          </p:cNvSpPr>
          <p:nvPr>
            <p:ph type="sldNum" sz="quarter" idx="12"/>
          </p:nvPr>
        </p:nvSpPr>
        <p:spPr/>
        <p:txBody>
          <a:bodyPr/>
          <a:lstStyle/>
          <a:p>
            <a:fld id="{C52ED629-2BC0-4D25-969E-9ED78B40D7C7}" type="slidenum">
              <a:rPr lang="fr-FR" smtClean="0"/>
              <a:t>37</a:t>
            </a:fld>
            <a:endParaRPr lang="fr-FR"/>
          </a:p>
        </p:txBody>
      </p:sp>
      <p:pic>
        <p:nvPicPr>
          <p:cNvPr id="5" name="Picture 4">
            <a:extLst>
              <a:ext uri="{FF2B5EF4-FFF2-40B4-BE49-F238E27FC236}">
                <a16:creationId xmlns:a16="http://schemas.microsoft.com/office/drawing/2014/main" id="{59E1A950-592E-433E-9E58-718C58087B23}"/>
              </a:ext>
            </a:extLst>
          </p:cNvPr>
          <p:cNvPicPr>
            <a:picLocks noChangeAspect="1"/>
          </p:cNvPicPr>
          <p:nvPr/>
        </p:nvPicPr>
        <p:blipFill>
          <a:blip r:embed="rId2"/>
          <a:stretch>
            <a:fillRect/>
          </a:stretch>
        </p:blipFill>
        <p:spPr>
          <a:xfrm>
            <a:off x="257175" y="407461"/>
            <a:ext cx="11477625" cy="5816367"/>
          </a:xfrm>
          <a:prstGeom prst="rect">
            <a:avLst/>
          </a:prstGeom>
        </p:spPr>
      </p:pic>
    </p:spTree>
    <p:extLst>
      <p:ext uri="{BB962C8B-B14F-4D97-AF65-F5344CB8AC3E}">
        <p14:creationId xmlns:p14="http://schemas.microsoft.com/office/powerpoint/2010/main" val="33950045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358A592-BE85-4E8B-A1C8-248E0A3930A9}"/>
              </a:ext>
            </a:extLst>
          </p:cNvPr>
          <p:cNvSpPr>
            <a:spLocks noGrp="1"/>
          </p:cNvSpPr>
          <p:nvPr>
            <p:ph type="sldNum" sz="quarter" idx="12"/>
          </p:nvPr>
        </p:nvSpPr>
        <p:spPr>
          <a:xfrm>
            <a:off x="9329530" y="6223828"/>
            <a:ext cx="2548145" cy="262697"/>
          </a:xfrm>
        </p:spPr>
        <p:txBody>
          <a:bodyPr/>
          <a:lstStyle/>
          <a:p>
            <a:fld id="{C52ED629-2BC0-4D25-969E-9ED78B40D7C7}" type="slidenum">
              <a:rPr lang="fr-FR" smtClean="0"/>
              <a:t>38</a:t>
            </a:fld>
            <a:endParaRPr lang="fr-FR" dirty="0"/>
          </a:p>
        </p:txBody>
      </p:sp>
      <p:pic>
        <p:nvPicPr>
          <p:cNvPr id="11" name="Picture 10">
            <a:extLst>
              <a:ext uri="{FF2B5EF4-FFF2-40B4-BE49-F238E27FC236}">
                <a16:creationId xmlns:a16="http://schemas.microsoft.com/office/drawing/2014/main" id="{0CF9BC7F-270B-4D8A-9D87-8F78DD1C0DBF}"/>
              </a:ext>
            </a:extLst>
          </p:cNvPr>
          <p:cNvPicPr>
            <a:picLocks noChangeAspect="1"/>
          </p:cNvPicPr>
          <p:nvPr/>
        </p:nvPicPr>
        <p:blipFill>
          <a:blip r:embed="rId2"/>
          <a:stretch>
            <a:fillRect/>
          </a:stretch>
        </p:blipFill>
        <p:spPr>
          <a:xfrm>
            <a:off x="818879" y="371318"/>
            <a:ext cx="10440000" cy="6049170"/>
          </a:xfrm>
          <a:prstGeom prst="rect">
            <a:avLst/>
          </a:prstGeom>
        </p:spPr>
      </p:pic>
    </p:spTree>
    <p:extLst>
      <p:ext uri="{BB962C8B-B14F-4D97-AF65-F5344CB8AC3E}">
        <p14:creationId xmlns:p14="http://schemas.microsoft.com/office/powerpoint/2010/main" val="36304269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B1B7D3-0967-46F2-997E-E5079A7B06DA}"/>
              </a:ext>
            </a:extLst>
          </p:cNvPr>
          <p:cNvSpPr>
            <a:spLocks noGrp="1"/>
          </p:cNvSpPr>
          <p:nvPr>
            <p:ph type="sldNum" sz="quarter" idx="12"/>
          </p:nvPr>
        </p:nvSpPr>
        <p:spPr/>
        <p:txBody>
          <a:bodyPr/>
          <a:lstStyle/>
          <a:p>
            <a:fld id="{C52ED629-2BC0-4D25-969E-9ED78B40D7C7}" type="slidenum">
              <a:rPr lang="fr-FR" smtClean="0"/>
              <a:t>39</a:t>
            </a:fld>
            <a:endParaRPr lang="fr-FR"/>
          </a:p>
        </p:txBody>
      </p:sp>
      <p:pic>
        <p:nvPicPr>
          <p:cNvPr id="4" name="Picture 3">
            <a:extLst>
              <a:ext uri="{FF2B5EF4-FFF2-40B4-BE49-F238E27FC236}">
                <a16:creationId xmlns:a16="http://schemas.microsoft.com/office/drawing/2014/main" id="{7ED9590E-148D-4DB4-8FA7-56841D2870C1}"/>
              </a:ext>
            </a:extLst>
          </p:cNvPr>
          <p:cNvPicPr>
            <a:picLocks noChangeAspect="1"/>
          </p:cNvPicPr>
          <p:nvPr/>
        </p:nvPicPr>
        <p:blipFill>
          <a:blip r:embed="rId2"/>
          <a:stretch>
            <a:fillRect/>
          </a:stretch>
        </p:blipFill>
        <p:spPr>
          <a:xfrm>
            <a:off x="884372" y="643071"/>
            <a:ext cx="10440000" cy="4823685"/>
          </a:xfrm>
          <a:prstGeom prst="rect">
            <a:avLst/>
          </a:prstGeom>
        </p:spPr>
      </p:pic>
      <p:sp>
        <p:nvSpPr>
          <p:cNvPr id="3" name="TextBox 2">
            <a:extLst>
              <a:ext uri="{FF2B5EF4-FFF2-40B4-BE49-F238E27FC236}">
                <a16:creationId xmlns:a16="http://schemas.microsoft.com/office/drawing/2014/main" id="{54169FE1-42D4-4176-866D-9F1240A6D755}"/>
              </a:ext>
            </a:extLst>
          </p:cNvPr>
          <p:cNvSpPr txBox="1"/>
          <p:nvPr/>
        </p:nvSpPr>
        <p:spPr>
          <a:xfrm>
            <a:off x="1763607" y="5786360"/>
            <a:ext cx="8506047" cy="523220"/>
          </a:xfrm>
          <a:prstGeom prst="rect">
            <a:avLst/>
          </a:prstGeom>
          <a:noFill/>
        </p:spPr>
        <p:txBody>
          <a:bodyPr wrap="square" rtlCol="0">
            <a:spAutoFit/>
          </a:bodyPr>
          <a:lstStyle/>
          <a:p>
            <a:r>
              <a:rPr lang="fr-FR" sz="1400" i="1" dirty="0">
                <a:solidFill>
                  <a:srgbClr val="4A66AC"/>
                </a:solidFill>
              </a:rPr>
              <a:t>La page contenant tous les enregistrements avec la possibilité de filtrer les versions par application, datacenter et date ou une combinaison de filtres.0</a:t>
            </a:r>
          </a:p>
        </p:txBody>
      </p:sp>
    </p:spTree>
    <p:extLst>
      <p:ext uri="{BB962C8B-B14F-4D97-AF65-F5344CB8AC3E}">
        <p14:creationId xmlns:p14="http://schemas.microsoft.com/office/powerpoint/2010/main" val="33361343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0325DC-68DD-4AF1-BFBC-442F696476D3}"/>
              </a:ext>
            </a:extLst>
          </p:cNvPr>
          <p:cNvSpPr>
            <a:spLocks noGrp="1"/>
          </p:cNvSpPr>
          <p:nvPr>
            <p:ph type="title"/>
          </p:nvPr>
        </p:nvSpPr>
        <p:spPr>
          <a:xfrm>
            <a:off x="808074" y="1097280"/>
            <a:ext cx="3593805" cy="1737360"/>
          </a:xfrm>
        </p:spPr>
        <p:txBody>
          <a:bodyPr/>
          <a:lstStyle/>
          <a:p>
            <a:r>
              <a:rPr lang="fr-FR" sz="3200" dirty="0"/>
              <a:t>Contrôleur index()</a:t>
            </a:r>
          </a:p>
        </p:txBody>
      </p:sp>
      <p:sp>
        <p:nvSpPr>
          <p:cNvPr id="5" name="Text Placeholder 4">
            <a:extLst>
              <a:ext uri="{FF2B5EF4-FFF2-40B4-BE49-F238E27FC236}">
                <a16:creationId xmlns:a16="http://schemas.microsoft.com/office/drawing/2014/main" id="{12030B6A-8A5E-4C33-A7B2-88EB3444EFD0}"/>
              </a:ext>
            </a:extLst>
          </p:cNvPr>
          <p:cNvSpPr>
            <a:spLocks noGrp="1"/>
          </p:cNvSpPr>
          <p:nvPr>
            <p:ph type="body" sz="half" idx="2"/>
          </p:nvPr>
        </p:nvSpPr>
        <p:spPr>
          <a:xfrm>
            <a:off x="930348" y="2834640"/>
            <a:ext cx="2933700" cy="1442085"/>
          </a:xfrm>
        </p:spPr>
        <p:txBody>
          <a:bodyPr>
            <a:normAutofit lnSpcReduction="10000"/>
          </a:bodyPr>
          <a:lstStyle/>
          <a:p>
            <a:r>
              <a:rPr lang="fr-FR" dirty="0" err="1"/>
              <a:t>monitor.index</a:t>
            </a:r>
            <a:endParaRPr lang="fr-FR" dirty="0"/>
          </a:p>
          <a:p>
            <a:pPr algn="just"/>
            <a:r>
              <a:rPr lang="fr-FR" dirty="0"/>
              <a:t>Avec la partie du code pour le chargement de la page « List » à la première vue sans le choix de filtres.</a:t>
            </a:r>
          </a:p>
        </p:txBody>
      </p:sp>
      <p:sp>
        <p:nvSpPr>
          <p:cNvPr id="2" name="Slide Number Placeholder 1">
            <a:extLst>
              <a:ext uri="{FF2B5EF4-FFF2-40B4-BE49-F238E27FC236}">
                <a16:creationId xmlns:a16="http://schemas.microsoft.com/office/drawing/2014/main" id="{CA84499E-3364-4D2A-8887-96A250CA4B07}"/>
              </a:ext>
            </a:extLst>
          </p:cNvPr>
          <p:cNvSpPr>
            <a:spLocks noGrp="1"/>
          </p:cNvSpPr>
          <p:nvPr>
            <p:ph type="sldNum" sz="quarter" idx="12"/>
          </p:nvPr>
        </p:nvSpPr>
        <p:spPr/>
        <p:txBody>
          <a:bodyPr/>
          <a:lstStyle/>
          <a:p>
            <a:fld id="{C52ED629-2BC0-4D25-969E-9ED78B40D7C7}" type="slidenum">
              <a:rPr lang="fr-FR" smtClean="0"/>
              <a:t>40</a:t>
            </a:fld>
            <a:endParaRPr lang="fr-FR"/>
          </a:p>
        </p:txBody>
      </p:sp>
      <p:pic>
        <p:nvPicPr>
          <p:cNvPr id="6" name="Picture 5">
            <a:extLst>
              <a:ext uri="{FF2B5EF4-FFF2-40B4-BE49-F238E27FC236}">
                <a16:creationId xmlns:a16="http://schemas.microsoft.com/office/drawing/2014/main" id="{DB542712-79C2-4C22-B4A3-21234FD93E94}"/>
              </a:ext>
            </a:extLst>
          </p:cNvPr>
          <p:cNvPicPr>
            <a:picLocks noChangeAspect="1"/>
          </p:cNvPicPr>
          <p:nvPr/>
        </p:nvPicPr>
        <p:blipFill>
          <a:blip r:embed="rId2"/>
          <a:stretch>
            <a:fillRect/>
          </a:stretch>
        </p:blipFill>
        <p:spPr>
          <a:xfrm>
            <a:off x="4567409" y="1952449"/>
            <a:ext cx="6919759" cy="2160000"/>
          </a:xfrm>
          <a:prstGeom prst="rect">
            <a:avLst/>
          </a:prstGeom>
        </p:spPr>
      </p:pic>
    </p:spTree>
    <p:extLst>
      <p:ext uri="{BB962C8B-B14F-4D97-AF65-F5344CB8AC3E}">
        <p14:creationId xmlns:p14="http://schemas.microsoft.com/office/powerpoint/2010/main" val="38557332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DE7C5-EA26-4226-A65D-9E14A55DD0C6}"/>
              </a:ext>
            </a:extLst>
          </p:cNvPr>
          <p:cNvSpPr>
            <a:spLocks noGrp="1"/>
          </p:cNvSpPr>
          <p:nvPr>
            <p:ph type="title"/>
          </p:nvPr>
        </p:nvSpPr>
        <p:spPr>
          <a:xfrm>
            <a:off x="1143000" y="1030605"/>
            <a:ext cx="3556591" cy="1737360"/>
          </a:xfrm>
        </p:spPr>
        <p:txBody>
          <a:bodyPr/>
          <a:lstStyle/>
          <a:p>
            <a:r>
              <a:rPr lang="fr-FR" sz="3200" dirty="0"/>
              <a:t>Les méthodes du contrôleur index()</a:t>
            </a:r>
          </a:p>
        </p:txBody>
      </p:sp>
      <p:sp>
        <p:nvSpPr>
          <p:cNvPr id="4" name="Text Placeholder 3">
            <a:extLst>
              <a:ext uri="{FF2B5EF4-FFF2-40B4-BE49-F238E27FC236}">
                <a16:creationId xmlns:a16="http://schemas.microsoft.com/office/drawing/2014/main" id="{9A2EE05C-C238-4B29-B171-47E9E33B89C1}"/>
              </a:ext>
            </a:extLst>
          </p:cNvPr>
          <p:cNvSpPr>
            <a:spLocks noGrp="1"/>
          </p:cNvSpPr>
          <p:nvPr>
            <p:ph type="body" sz="half" idx="2"/>
          </p:nvPr>
        </p:nvSpPr>
        <p:spPr>
          <a:xfrm>
            <a:off x="1143000" y="2844165"/>
            <a:ext cx="3381375" cy="3017520"/>
          </a:xfrm>
        </p:spPr>
        <p:txBody>
          <a:bodyPr/>
          <a:lstStyle/>
          <a:p>
            <a:r>
              <a:rPr lang="fr-FR" dirty="0"/>
              <a:t>library.py</a:t>
            </a:r>
          </a:p>
          <a:p>
            <a:r>
              <a:rPr lang="fr-FR" dirty="0"/>
              <a:t>Les méthodes pour l’affichage de la page index.html à la première vue sans filtres.</a:t>
            </a:r>
          </a:p>
        </p:txBody>
      </p:sp>
      <p:sp>
        <p:nvSpPr>
          <p:cNvPr id="5" name="Slide Number Placeholder 4">
            <a:extLst>
              <a:ext uri="{FF2B5EF4-FFF2-40B4-BE49-F238E27FC236}">
                <a16:creationId xmlns:a16="http://schemas.microsoft.com/office/drawing/2014/main" id="{0CA2E92A-9648-478A-B323-592AE1E3CA61}"/>
              </a:ext>
            </a:extLst>
          </p:cNvPr>
          <p:cNvSpPr>
            <a:spLocks noGrp="1"/>
          </p:cNvSpPr>
          <p:nvPr>
            <p:ph type="sldNum" sz="quarter" idx="12"/>
          </p:nvPr>
        </p:nvSpPr>
        <p:spPr/>
        <p:txBody>
          <a:bodyPr/>
          <a:lstStyle/>
          <a:p>
            <a:fld id="{C52ED629-2BC0-4D25-969E-9ED78B40D7C7}" type="slidenum">
              <a:rPr lang="fr-FR" smtClean="0"/>
              <a:t>41</a:t>
            </a:fld>
            <a:endParaRPr lang="fr-FR"/>
          </a:p>
        </p:txBody>
      </p:sp>
      <p:pic>
        <p:nvPicPr>
          <p:cNvPr id="9" name="Picture 8">
            <a:extLst>
              <a:ext uri="{FF2B5EF4-FFF2-40B4-BE49-F238E27FC236}">
                <a16:creationId xmlns:a16="http://schemas.microsoft.com/office/drawing/2014/main" id="{262B0701-A09D-4771-88EC-B8E4EAB6FF35}"/>
              </a:ext>
            </a:extLst>
          </p:cNvPr>
          <p:cNvPicPr>
            <a:picLocks noChangeAspect="1"/>
          </p:cNvPicPr>
          <p:nvPr/>
        </p:nvPicPr>
        <p:blipFill>
          <a:blip r:embed="rId2"/>
          <a:stretch>
            <a:fillRect/>
          </a:stretch>
        </p:blipFill>
        <p:spPr>
          <a:xfrm>
            <a:off x="5413237" y="1727682"/>
            <a:ext cx="5087772" cy="2520000"/>
          </a:xfrm>
          <a:prstGeom prst="rect">
            <a:avLst/>
          </a:prstGeom>
        </p:spPr>
      </p:pic>
    </p:spTree>
    <p:extLst>
      <p:ext uri="{BB962C8B-B14F-4D97-AF65-F5344CB8AC3E}">
        <p14:creationId xmlns:p14="http://schemas.microsoft.com/office/powerpoint/2010/main" val="3001869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B99D1-000A-488E-BCAE-5A77EB738CB7}"/>
              </a:ext>
            </a:extLst>
          </p:cNvPr>
          <p:cNvSpPr>
            <a:spLocks noGrp="1"/>
          </p:cNvSpPr>
          <p:nvPr>
            <p:ph type="title"/>
          </p:nvPr>
        </p:nvSpPr>
        <p:spPr>
          <a:xfrm>
            <a:off x="1143000" y="1097280"/>
            <a:ext cx="2819400" cy="1737360"/>
          </a:xfrm>
        </p:spPr>
        <p:txBody>
          <a:bodyPr/>
          <a:lstStyle/>
          <a:p>
            <a:r>
              <a:rPr lang="fr-FR" dirty="0"/>
              <a:t>index.html</a:t>
            </a:r>
          </a:p>
        </p:txBody>
      </p:sp>
      <p:sp>
        <p:nvSpPr>
          <p:cNvPr id="4" name="Text Placeholder 3">
            <a:extLst>
              <a:ext uri="{FF2B5EF4-FFF2-40B4-BE49-F238E27FC236}">
                <a16:creationId xmlns:a16="http://schemas.microsoft.com/office/drawing/2014/main" id="{9E8C8CC8-0758-4386-9AC1-52B1D2A704BB}"/>
              </a:ext>
            </a:extLst>
          </p:cNvPr>
          <p:cNvSpPr>
            <a:spLocks noGrp="1"/>
          </p:cNvSpPr>
          <p:nvPr>
            <p:ph type="body" sz="half" idx="2"/>
          </p:nvPr>
        </p:nvSpPr>
        <p:spPr>
          <a:xfrm>
            <a:off x="1143001" y="2834641"/>
            <a:ext cx="2631558" cy="737900"/>
          </a:xfrm>
        </p:spPr>
        <p:txBody>
          <a:bodyPr>
            <a:normAutofit fontScale="92500" lnSpcReduction="20000"/>
          </a:bodyPr>
          <a:lstStyle/>
          <a:p>
            <a:pPr algn="just"/>
            <a:r>
              <a:rPr lang="fr-FR" dirty="0"/>
              <a:t>Le formulaire, les filtres, le bouton « </a:t>
            </a:r>
            <a:r>
              <a:rPr lang="fr-FR" dirty="0" err="1"/>
              <a:t>delete</a:t>
            </a:r>
            <a:r>
              <a:rPr lang="fr-FR" dirty="0"/>
              <a:t> » et le bouton « </a:t>
            </a:r>
            <a:r>
              <a:rPr lang="fr-FR" dirty="0" err="1"/>
              <a:t>clear</a:t>
            </a:r>
            <a:r>
              <a:rPr lang="fr-FR" dirty="0"/>
              <a:t> ».</a:t>
            </a:r>
          </a:p>
        </p:txBody>
      </p:sp>
      <p:sp>
        <p:nvSpPr>
          <p:cNvPr id="5" name="Slide Number Placeholder 4">
            <a:extLst>
              <a:ext uri="{FF2B5EF4-FFF2-40B4-BE49-F238E27FC236}">
                <a16:creationId xmlns:a16="http://schemas.microsoft.com/office/drawing/2014/main" id="{4D8537FD-8A57-4967-B0F9-EE970D3A467C}"/>
              </a:ext>
            </a:extLst>
          </p:cNvPr>
          <p:cNvSpPr>
            <a:spLocks noGrp="1"/>
          </p:cNvSpPr>
          <p:nvPr>
            <p:ph type="sldNum" sz="quarter" idx="12"/>
          </p:nvPr>
        </p:nvSpPr>
        <p:spPr>
          <a:xfrm>
            <a:off x="9329530" y="6223828"/>
            <a:ext cx="2567195" cy="357947"/>
          </a:xfrm>
        </p:spPr>
        <p:txBody>
          <a:bodyPr/>
          <a:lstStyle/>
          <a:p>
            <a:fld id="{C52ED629-2BC0-4D25-969E-9ED78B40D7C7}" type="slidenum">
              <a:rPr lang="fr-FR" smtClean="0"/>
              <a:t>42</a:t>
            </a:fld>
            <a:endParaRPr lang="fr-FR" dirty="0"/>
          </a:p>
        </p:txBody>
      </p:sp>
      <p:pic>
        <p:nvPicPr>
          <p:cNvPr id="8" name="Picture 7">
            <a:extLst>
              <a:ext uri="{FF2B5EF4-FFF2-40B4-BE49-F238E27FC236}">
                <a16:creationId xmlns:a16="http://schemas.microsoft.com/office/drawing/2014/main" id="{B6617050-C99B-49BB-B027-D63D8F56B793}"/>
              </a:ext>
            </a:extLst>
          </p:cNvPr>
          <p:cNvPicPr>
            <a:picLocks noChangeAspect="1"/>
          </p:cNvPicPr>
          <p:nvPr/>
        </p:nvPicPr>
        <p:blipFill>
          <a:blip r:embed="rId2"/>
          <a:stretch>
            <a:fillRect/>
          </a:stretch>
        </p:blipFill>
        <p:spPr>
          <a:xfrm>
            <a:off x="3995892" y="1144013"/>
            <a:ext cx="7753087" cy="4320000"/>
          </a:xfrm>
          <a:prstGeom prst="rect">
            <a:avLst/>
          </a:prstGeom>
        </p:spPr>
      </p:pic>
    </p:spTree>
    <p:extLst>
      <p:ext uri="{BB962C8B-B14F-4D97-AF65-F5344CB8AC3E}">
        <p14:creationId xmlns:p14="http://schemas.microsoft.com/office/powerpoint/2010/main" val="16875642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89300-BBAB-45D5-B6B8-46AAD5324AF5}"/>
              </a:ext>
            </a:extLst>
          </p:cNvPr>
          <p:cNvSpPr>
            <a:spLocks noGrp="1"/>
          </p:cNvSpPr>
          <p:nvPr>
            <p:ph type="title"/>
          </p:nvPr>
        </p:nvSpPr>
        <p:spPr/>
        <p:txBody>
          <a:bodyPr/>
          <a:lstStyle/>
          <a:p>
            <a:r>
              <a:rPr lang="fr-FR" dirty="0"/>
              <a:t>index.html</a:t>
            </a:r>
          </a:p>
        </p:txBody>
      </p:sp>
      <p:sp>
        <p:nvSpPr>
          <p:cNvPr id="4" name="Text Placeholder 3">
            <a:extLst>
              <a:ext uri="{FF2B5EF4-FFF2-40B4-BE49-F238E27FC236}">
                <a16:creationId xmlns:a16="http://schemas.microsoft.com/office/drawing/2014/main" id="{5B578530-5E16-445E-B1F8-04E549DC071D}"/>
              </a:ext>
            </a:extLst>
          </p:cNvPr>
          <p:cNvSpPr>
            <a:spLocks noGrp="1"/>
          </p:cNvSpPr>
          <p:nvPr>
            <p:ph type="body" sz="half" idx="2"/>
          </p:nvPr>
        </p:nvSpPr>
        <p:spPr>
          <a:xfrm>
            <a:off x="1143000" y="2945218"/>
            <a:ext cx="2557130" cy="637953"/>
          </a:xfrm>
        </p:spPr>
        <p:txBody>
          <a:bodyPr/>
          <a:lstStyle/>
          <a:p>
            <a:r>
              <a:rPr lang="fr-FR" dirty="0"/>
              <a:t>Affichage de la liste </a:t>
            </a:r>
            <a:br>
              <a:rPr lang="fr-FR" dirty="0"/>
            </a:br>
            <a:r>
              <a:rPr lang="fr-FR" dirty="0"/>
              <a:t>des versions</a:t>
            </a:r>
          </a:p>
        </p:txBody>
      </p:sp>
      <p:sp>
        <p:nvSpPr>
          <p:cNvPr id="5" name="Slide Number Placeholder 4">
            <a:extLst>
              <a:ext uri="{FF2B5EF4-FFF2-40B4-BE49-F238E27FC236}">
                <a16:creationId xmlns:a16="http://schemas.microsoft.com/office/drawing/2014/main" id="{EDE7D137-0784-45C6-9C57-3598CD4B3430}"/>
              </a:ext>
            </a:extLst>
          </p:cNvPr>
          <p:cNvSpPr>
            <a:spLocks noGrp="1"/>
          </p:cNvSpPr>
          <p:nvPr>
            <p:ph type="sldNum" sz="quarter" idx="12"/>
          </p:nvPr>
        </p:nvSpPr>
        <p:spPr/>
        <p:txBody>
          <a:bodyPr/>
          <a:lstStyle/>
          <a:p>
            <a:fld id="{C52ED629-2BC0-4D25-969E-9ED78B40D7C7}" type="slidenum">
              <a:rPr lang="fr-FR" smtClean="0"/>
              <a:t>43</a:t>
            </a:fld>
            <a:endParaRPr lang="fr-FR"/>
          </a:p>
        </p:txBody>
      </p:sp>
      <p:pic>
        <p:nvPicPr>
          <p:cNvPr id="9" name="Picture 8">
            <a:extLst>
              <a:ext uri="{FF2B5EF4-FFF2-40B4-BE49-F238E27FC236}">
                <a16:creationId xmlns:a16="http://schemas.microsoft.com/office/drawing/2014/main" id="{E6896D35-DFAC-4C53-8323-E96F56E5A3A2}"/>
              </a:ext>
            </a:extLst>
          </p:cNvPr>
          <p:cNvPicPr>
            <a:picLocks noChangeAspect="1"/>
          </p:cNvPicPr>
          <p:nvPr/>
        </p:nvPicPr>
        <p:blipFill>
          <a:blip r:embed="rId2"/>
          <a:stretch>
            <a:fillRect/>
          </a:stretch>
        </p:blipFill>
        <p:spPr>
          <a:xfrm>
            <a:off x="4356518" y="1283803"/>
            <a:ext cx="7371189" cy="3600000"/>
          </a:xfrm>
          <a:prstGeom prst="rect">
            <a:avLst/>
          </a:prstGeom>
        </p:spPr>
      </p:pic>
    </p:spTree>
    <p:extLst>
      <p:ext uri="{BB962C8B-B14F-4D97-AF65-F5344CB8AC3E}">
        <p14:creationId xmlns:p14="http://schemas.microsoft.com/office/powerpoint/2010/main" val="1133584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3F704AB-05D1-46BD-BEF8-2FFCD56FD2C9}"/>
              </a:ext>
            </a:extLst>
          </p:cNvPr>
          <p:cNvSpPr>
            <a:spLocks noGrp="1"/>
          </p:cNvSpPr>
          <p:nvPr>
            <p:ph type="sldNum" sz="quarter" idx="12"/>
          </p:nvPr>
        </p:nvSpPr>
        <p:spPr/>
        <p:txBody>
          <a:bodyPr/>
          <a:lstStyle/>
          <a:p>
            <a:fld id="{C52ED629-2BC0-4D25-969E-9ED78B40D7C7}" type="slidenum">
              <a:rPr lang="fr-FR" smtClean="0"/>
              <a:t>44</a:t>
            </a:fld>
            <a:endParaRPr lang="fr-FR"/>
          </a:p>
        </p:txBody>
      </p:sp>
      <p:pic>
        <p:nvPicPr>
          <p:cNvPr id="4" name="Picture 3">
            <a:extLst>
              <a:ext uri="{FF2B5EF4-FFF2-40B4-BE49-F238E27FC236}">
                <a16:creationId xmlns:a16="http://schemas.microsoft.com/office/drawing/2014/main" id="{72B6C042-1E13-4358-9458-57DC3602F615}"/>
              </a:ext>
            </a:extLst>
          </p:cNvPr>
          <p:cNvPicPr>
            <a:picLocks noChangeAspect="1"/>
          </p:cNvPicPr>
          <p:nvPr/>
        </p:nvPicPr>
        <p:blipFill>
          <a:blip r:embed="rId2"/>
          <a:stretch>
            <a:fillRect/>
          </a:stretch>
        </p:blipFill>
        <p:spPr>
          <a:xfrm>
            <a:off x="923925" y="269047"/>
            <a:ext cx="9744842" cy="6319906"/>
          </a:xfrm>
          <a:prstGeom prst="rect">
            <a:avLst/>
          </a:prstGeom>
        </p:spPr>
      </p:pic>
    </p:spTree>
    <p:extLst>
      <p:ext uri="{BB962C8B-B14F-4D97-AF65-F5344CB8AC3E}">
        <p14:creationId xmlns:p14="http://schemas.microsoft.com/office/powerpoint/2010/main" val="400206837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F40C6E-DE0E-417B-8596-7E6A12350E0D}"/>
              </a:ext>
            </a:extLst>
          </p:cNvPr>
          <p:cNvSpPr>
            <a:spLocks noGrp="1"/>
          </p:cNvSpPr>
          <p:nvPr>
            <p:ph type="title"/>
          </p:nvPr>
        </p:nvSpPr>
        <p:spPr>
          <a:xfrm>
            <a:off x="1143000" y="1068705"/>
            <a:ext cx="3931920" cy="1737360"/>
          </a:xfrm>
        </p:spPr>
        <p:txBody>
          <a:bodyPr/>
          <a:lstStyle/>
          <a:p>
            <a:r>
              <a:rPr lang="fr-FR" sz="3200" dirty="0"/>
              <a:t>Contrôleur index() suite</a:t>
            </a:r>
          </a:p>
        </p:txBody>
      </p:sp>
      <p:sp>
        <p:nvSpPr>
          <p:cNvPr id="5" name="Text Placeholder 4">
            <a:extLst>
              <a:ext uri="{FF2B5EF4-FFF2-40B4-BE49-F238E27FC236}">
                <a16:creationId xmlns:a16="http://schemas.microsoft.com/office/drawing/2014/main" id="{F8AB24DF-9543-41FE-B8F9-1C5E830EB685}"/>
              </a:ext>
            </a:extLst>
          </p:cNvPr>
          <p:cNvSpPr>
            <a:spLocks noGrp="1"/>
          </p:cNvSpPr>
          <p:nvPr>
            <p:ph type="body" sz="half" idx="2"/>
          </p:nvPr>
        </p:nvSpPr>
        <p:spPr/>
        <p:txBody>
          <a:bodyPr/>
          <a:lstStyle/>
          <a:p>
            <a:r>
              <a:rPr lang="fr-FR" dirty="0"/>
              <a:t>monitor.index</a:t>
            </a:r>
          </a:p>
          <a:p>
            <a:r>
              <a:rPr lang="fr-FR" dirty="0"/>
              <a:t>Dans le cas de choix de filtres.</a:t>
            </a:r>
          </a:p>
        </p:txBody>
      </p:sp>
      <p:sp>
        <p:nvSpPr>
          <p:cNvPr id="2" name="Slide Number Placeholder 1">
            <a:extLst>
              <a:ext uri="{FF2B5EF4-FFF2-40B4-BE49-F238E27FC236}">
                <a16:creationId xmlns:a16="http://schemas.microsoft.com/office/drawing/2014/main" id="{30C4A1B6-F9EE-4762-B9F4-6ABE4C0176D3}"/>
              </a:ext>
            </a:extLst>
          </p:cNvPr>
          <p:cNvSpPr>
            <a:spLocks noGrp="1"/>
          </p:cNvSpPr>
          <p:nvPr>
            <p:ph type="sldNum" sz="quarter" idx="12"/>
          </p:nvPr>
        </p:nvSpPr>
        <p:spPr/>
        <p:txBody>
          <a:bodyPr/>
          <a:lstStyle/>
          <a:p>
            <a:fld id="{C52ED629-2BC0-4D25-969E-9ED78B40D7C7}" type="slidenum">
              <a:rPr lang="fr-FR" smtClean="0"/>
              <a:t>45</a:t>
            </a:fld>
            <a:endParaRPr lang="fr-FR"/>
          </a:p>
        </p:txBody>
      </p:sp>
      <p:pic>
        <p:nvPicPr>
          <p:cNvPr id="6" name="Picture 5">
            <a:extLst>
              <a:ext uri="{FF2B5EF4-FFF2-40B4-BE49-F238E27FC236}">
                <a16:creationId xmlns:a16="http://schemas.microsoft.com/office/drawing/2014/main" id="{5E2C4C34-6C93-43C9-B4DE-2ED2DD3AA0C8}"/>
              </a:ext>
            </a:extLst>
          </p:cNvPr>
          <p:cNvPicPr>
            <a:picLocks noChangeAspect="1"/>
          </p:cNvPicPr>
          <p:nvPr/>
        </p:nvPicPr>
        <p:blipFill>
          <a:blip r:embed="rId2"/>
          <a:stretch>
            <a:fillRect/>
          </a:stretch>
        </p:blipFill>
        <p:spPr>
          <a:xfrm>
            <a:off x="5119693" y="983562"/>
            <a:ext cx="5495837" cy="5040000"/>
          </a:xfrm>
          <a:prstGeom prst="rect">
            <a:avLst/>
          </a:prstGeom>
        </p:spPr>
      </p:pic>
    </p:spTree>
    <p:extLst>
      <p:ext uri="{BB962C8B-B14F-4D97-AF65-F5344CB8AC3E}">
        <p14:creationId xmlns:p14="http://schemas.microsoft.com/office/powerpoint/2010/main" val="32601862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4957A-F7D2-4BAA-83CE-36D81E4DC73C}"/>
              </a:ext>
            </a:extLst>
          </p:cNvPr>
          <p:cNvSpPr>
            <a:spLocks noGrp="1"/>
          </p:cNvSpPr>
          <p:nvPr>
            <p:ph type="title"/>
          </p:nvPr>
        </p:nvSpPr>
        <p:spPr>
          <a:xfrm>
            <a:off x="763608" y="1087755"/>
            <a:ext cx="3946615" cy="1737360"/>
          </a:xfrm>
        </p:spPr>
        <p:txBody>
          <a:bodyPr/>
          <a:lstStyle/>
          <a:p>
            <a:r>
              <a:rPr lang="fr-FR" sz="3200" dirty="0"/>
              <a:t>Méthodes du index() en cas de filtres</a:t>
            </a:r>
          </a:p>
        </p:txBody>
      </p:sp>
      <p:sp>
        <p:nvSpPr>
          <p:cNvPr id="4" name="Text Placeholder 3">
            <a:extLst>
              <a:ext uri="{FF2B5EF4-FFF2-40B4-BE49-F238E27FC236}">
                <a16:creationId xmlns:a16="http://schemas.microsoft.com/office/drawing/2014/main" id="{4DE9DB64-507B-47B6-8A2E-91890DA65CD2}"/>
              </a:ext>
            </a:extLst>
          </p:cNvPr>
          <p:cNvSpPr>
            <a:spLocks noGrp="1"/>
          </p:cNvSpPr>
          <p:nvPr>
            <p:ph type="body" sz="half" idx="2"/>
          </p:nvPr>
        </p:nvSpPr>
        <p:spPr>
          <a:xfrm>
            <a:off x="855912" y="2882265"/>
            <a:ext cx="3514725" cy="1542180"/>
          </a:xfrm>
        </p:spPr>
        <p:txBody>
          <a:bodyPr>
            <a:normAutofit/>
          </a:bodyPr>
          <a:lstStyle/>
          <a:p>
            <a:pPr algn="just"/>
            <a:r>
              <a:rPr lang="fr-FR" dirty="0"/>
              <a:t>library.py</a:t>
            </a:r>
          </a:p>
          <a:p>
            <a:pPr algn="just"/>
            <a:r>
              <a:rPr lang="fr-FR" dirty="0"/>
              <a:t>Une partie des méthodes utilisées pour les filtres envoyés via le formulaire avec la méthode ‘POST’.</a:t>
            </a:r>
          </a:p>
        </p:txBody>
      </p:sp>
      <p:sp>
        <p:nvSpPr>
          <p:cNvPr id="5" name="Slide Number Placeholder 4">
            <a:extLst>
              <a:ext uri="{FF2B5EF4-FFF2-40B4-BE49-F238E27FC236}">
                <a16:creationId xmlns:a16="http://schemas.microsoft.com/office/drawing/2014/main" id="{B0118F5C-56E1-44F6-B33A-73DA37A35E22}"/>
              </a:ext>
            </a:extLst>
          </p:cNvPr>
          <p:cNvSpPr>
            <a:spLocks noGrp="1"/>
          </p:cNvSpPr>
          <p:nvPr>
            <p:ph type="sldNum" sz="quarter" idx="12"/>
          </p:nvPr>
        </p:nvSpPr>
        <p:spPr/>
        <p:txBody>
          <a:bodyPr/>
          <a:lstStyle/>
          <a:p>
            <a:fld id="{C52ED629-2BC0-4D25-969E-9ED78B40D7C7}" type="slidenum">
              <a:rPr lang="fr-FR" smtClean="0"/>
              <a:t>46</a:t>
            </a:fld>
            <a:endParaRPr lang="fr-FR"/>
          </a:p>
        </p:txBody>
      </p:sp>
      <p:pic>
        <p:nvPicPr>
          <p:cNvPr id="8" name="Picture 7">
            <a:extLst>
              <a:ext uri="{FF2B5EF4-FFF2-40B4-BE49-F238E27FC236}">
                <a16:creationId xmlns:a16="http://schemas.microsoft.com/office/drawing/2014/main" id="{7B515753-73C8-4F2A-B99E-CA54237FC7C7}"/>
              </a:ext>
            </a:extLst>
          </p:cNvPr>
          <p:cNvPicPr>
            <a:picLocks noChangeAspect="1"/>
          </p:cNvPicPr>
          <p:nvPr/>
        </p:nvPicPr>
        <p:blipFill>
          <a:blip r:embed="rId2"/>
          <a:stretch>
            <a:fillRect/>
          </a:stretch>
        </p:blipFill>
        <p:spPr>
          <a:xfrm>
            <a:off x="5398000" y="1904445"/>
            <a:ext cx="6030392" cy="2520000"/>
          </a:xfrm>
          <a:prstGeom prst="rect">
            <a:avLst/>
          </a:prstGeom>
        </p:spPr>
      </p:pic>
    </p:spTree>
    <p:extLst>
      <p:ext uri="{BB962C8B-B14F-4D97-AF65-F5344CB8AC3E}">
        <p14:creationId xmlns:p14="http://schemas.microsoft.com/office/powerpoint/2010/main" val="18580733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4C1C25-2326-4720-82B2-E68A44047A53}"/>
              </a:ext>
            </a:extLst>
          </p:cNvPr>
          <p:cNvSpPr>
            <a:spLocks noGrp="1"/>
          </p:cNvSpPr>
          <p:nvPr>
            <p:ph type="title"/>
          </p:nvPr>
        </p:nvSpPr>
        <p:spPr>
          <a:xfrm>
            <a:off x="838200" y="1059180"/>
            <a:ext cx="2886075" cy="1737360"/>
          </a:xfrm>
        </p:spPr>
        <p:txBody>
          <a:bodyPr/>
          <a:lstStyle/>
          <a:p>
            <a:r>
              <a:rPr lang="fr-FR" sz="3200" dirty="0"/>
              <a:t>Pagination</a:t>
            </a:r>
          </a:p>
        </p:txBody>
      </p:sp>
      <p:sp>
        <p:nvSpPr>
          <p:cNvPr id="7" name="Text Placeholder 6">
            <a:extLst>
              <a:ext uri="{FF2B5EF4-FFF2-40B4-BE49-F238E27FC236}">
                <a16:creationId xmlns:a16="http://schemas.microsoft.com/office/drawing/2014/main" id="{7EC9EE20-AA85-4F75-B6FC-8F6311566CBB}"/>
              </a:ext>
            </a:extLst>
          </p:cNvPr>
          <p:cNvSpPr>
            <a:spLocks noGrp="1"/>
          </p:cNvSpPr>
          <p:nvPr>
            <p:ph type="body" sz="half" idx="2"/>
          </p:nvPr>
        </p:nvSpPr>
        <p:spPr>
          <a:xfrm>
            <a:off x="876300" y="2940968"/>
            <a:ext cx="2578100" cy="2003172"/>
          </a:xfrm>
        </p:spPr>
        <p:txBody>
          <a:bodyPr>
            <a:normAutofit fontScale="70000" lnSpcReduction="20000"/>
          </a:bodyPr>
          <a:lstStyle/>
          <a:p>
            <a:pPr algn="just"/>
            <a:r>
              <a:rPr lang="fr-FR" dirty="0"/>
              <a:t>La page « index.html ». </a:t>
            </a:r>
          </a:p>
          <a:p>
            <a:pPr algn="just"/>
            <a:r>
              <a:rPr lang="fr-FR" dirty="0"/>
              <a:t>Synchronisation entre la vue et la base de données du nombres d’enregistrements à afficher à la fois. Un objet « Pagination » est ajouté à l’objet «Version » en faisant la requête SQL avec des attributs nombres de page, par page, etc. </a:t>
            </a:r>
          </a:p>
          <a:p>
            <a:pPr algn="just"/>
            <a:r>
              <a:rPr lang="fr-FR" dirty="0"/>
              <a:t>Les types des classes sont de Bootstrap. </a:t>
            </a:r>
          </a:p>
        </p:txBody>
      </p:sp>
      <p:sp>
        <p:nvSpPr>
          <p:cNvPr id="4" name="Slide Number Placeholder 3">
            <a:extLst>
              <a:ext uri="{FF2B5EF4-FFF2-40B4-BE49-F238E27FC236}">
                <a16:creationId xmlns:a16="http://schemas.microsoft.com/office/drawing/2014/main" id="{BB01D351-669F-4239-A35D-0817340A9691}"/>
              </a:ext>
            </a:extLst>
          </p:cNvPr>
          <p:cNvSpPr>
            <a:spLocks noGrp="1"/>
          </p:cNvSpPr>
          <p:nvPr>
            <p:ph type="sldNum" sz="quarter" idx="12"/>
          </p:nvPr>
        </p:nvSpPr>
        <p:spPr/>
        <p:txBody>
          <a:bodyPr/>
          <a:lstStyle/>
          <a:p>
            <a:fld id="{C52ED629-2BC0-4D25-969E-9ED78B40D7C7}" type="slidenum">
              <a:rPr lang="fr-FR" smtClean="0"/>
              <a:t>47</a:t>
            </a:fld>
            <a:endParaRPr lang="fr-FR"/>
          </a:p>
        </p:txBody>
      </p:sp>
      <p:pic>
        <p:nvPicPr>
          <p:cNvPr id="9" name="Picture 8">
            <a:extLst>
              <a:ext uri="{FF2B5EF4-FFF2-40B4-BE49-F238E27FC236}">
                <a16:creationId xmlns:a16="http://schemas.microsoft.com/office/drawing/2014/main" id="{8164551E-8C80-48EA-A2C0-7FA4D16A3941}"/>
              </a:ext>
            </a:extLst>
          </p:cNvPr>
          <p:cNvPicPr>
            <a:picLocks noChangeAspect="1"/>
          </p:cNvPicPr>
          <p:nvPr/>
        </p:nvPicPr>
        <p:blipFill>
          <a:blip r:embed="rId2"/>
          <a:stretch>
            <a:fillRect/>
          </a:stretch>
        </p:blipFill>
        <p:spPr>
          <a:xfrm>
            <a:off x="4681851" y="609978"/>
            <a:ext cx="6464632" cy="5404128"/>
          </a:xfrm>
          <a:prstGeom prst="rect">
            <a:avLst/>
          </a:prstGeom>
        </p:spPr>
      </p:pic>
    </p:spTree>
    <p:extLst>
      <p:ext uri="{BB962C8B-B14F-4D97-AF65-F5344CB8AC3E}">
        <p14:creationId xmlns:p14="http://schemas.microsoft.com/office/powerpoint/2010/main" val="9949339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A4F435A-FBC5-482D-BA8F-3754768650AB}"/>
              </a:ext>
            </a:extLst>
          </p:cNvPr>
          <p:cNvSpPr>
            <a:spLocks noGrp="1"/>
          </p:cNvSpPr>
          <p:nvPr>
            <p:ph type="sldNum" sz="quarter" idx="12"/>
          </p:nvPr>
        </p:nvSpPr>
        <p:spPr/>
        <p:txBody>
          <a:bodyPr/>
          <a:lstStyle/>
          <a:p>
            <a:fld id="{C52ED629-2BC0-4D25-969E-9ED78B40D7C7}" type="slidenum">
              <a:rPr lang="fr-FR" smtClean="0"/>
              <a:t>48</a:t>
            </a:fld>
            <a:endParaRPr lang="fr-FR" dirty="0"/>
          </a:p>
        </p:txBody>
      </p:sp>
      <p:pic>
        <p:nvPicPr>
          <p:cNvPr id="5" name="Picture 4">
            <a:extLst>
              <a:ext uri="{FF2B5EF4-FFF2-40B4-BE49-F238E27FC236}">
                <a16:creationId xmlns:a16="http://schemas.microsoft.com/office/drawing/2014/main" id="{EC65999F-6271-48DA-8450-929F62DF53AC}"/>
              </a:ext>
            </a:extLst>
          </p:cNvPr>
          <p:cNvPicPr>
            <a:picLocks noChangeAspect="1"/>
          </p:cNvPicPr>
          <p:nvPr/>
        </p:nvPicPr>
        <p:blipFill>
          <a:blip r:embed="rId2"/>
          <a:stretch>
            <a:fillRect/>
          </a:stretch>
        </p:blipFill>
        <p:spPr>
          <a:xfrm>
            <a:off x="390525" y="287734"/>
            <a:ext cx="11427123" cy="5778797"/>
          </a:xfrm>
          <a:prstGeom prst="rect">
            <a:avLst/>
          </a:prstGeom>
        </p:spPr>
      </p:pic>
      <p:sp>
        <p:nvSpPr>
          <p:cNvPr id="3" name="TextBox 2">
            <a:extLst>
              <a:ext uri="{FF2B5EF4-FFF2-40B4-BE49-F238E27FC236}">
                <a16:creationId xmlns:a16="http://schemas.microsoft.com/office/drawing/2014/main" id="{7B453057-9326-44F9-9E43-12847BDBA385}"/>
              </a:ext>
            </a:extLst>
          </p:cNvPr>
          <p:cNvSpPr txBox="1"/>
          <p:nvPr/>
        </p:nvSpPr>
        <p:spPr>
          <a:xfrm>
            <a:off x="2434863" y="6138766"/>
            <a:ext cx="7180192" cy="307777"/>
          </a:xfrm>
          <a:prstGeom prst="rect">
            <a:avLst/>
          </a:prstGeom>
          <a:noFill/>
        </p:spPr>
        <p:txBody>
          <a:bodyPr wrap="square" rtlCol="0">
            <a:spAutoFit/>
          </a:bodyPr>
          <a:lstStyle/>
          <a:p>
            <a:r>
              <a:rPr lang="fr-FR" sz="1400" i="1" dirty="0">
                <a:solidFill>
                  <a:srgbClr val="4A66AC"/>
                </a:solidFill>
              </a:rPr>
              <a:t>Versions filtrées avec « </a:t>
            </a:r>
            <a:r>
              <a:rPr lang="fr-FR" sz="1400" i="1" dirty="0" err="1">
                <a:solidFill>
                  <a:srgbClr val="4A66AC"/>
                </a:solidFill>
              </a:rPr>
              <a:t>procserver</a:t>
            </a:r>
            <a:r>
              <a:rPr lang="fr-FR" sz="1400" i="1" dirty="0">
                <a:solidFill>
                  <a:srgbClr val="4A66AC"/>
                </a:solidFill>
              </a:rPr>
              <a:t> », « ap11 » et « 2020-05-16 » (exemple </a:t>
            </a:r>
            <a:r>
              <a:rPr lang="fr-FR" sz="1400" i="1" dirty="0" err="1">
                <a:solidFill>
                  <a:srgbClr val="4A66AC"/>
                </a:solidFill>
              </a:rPr>
              <a:t>localhost</a:t>
            </a:r>
            <a:r>
              <a:rPr lang="fr-FR" sz="1400" i="1" dirty="0">
                <a:solidFill>
                  <a:srgbClr val="4A66AC"/>
                </a:solidFill>
              </a:rPr>
              <a:t>)</a:t>
            </a:r>
          </a:p>
        </p:txBody>
      </p:sp>
    </p:spTree>
    <p:extLst>
      <p:ext uri="{BB962C8B-B14F-4D97-AF65-F5344CB8AC3E}">
        <p14:creationId xmlns:p14="http://schemas.microsoft.com/office/powerpoint/2010/main" val="8601517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6E5E48-DD27-4A00-985E-936BDDFF125A}"/>
              </a:ext>
            </a:extLst>
          </p:cNvPr>
          <p:cNvSpPr>
            <a:spLocks noGrp="1"/>
          </p:cNvSpPr>
          <p:nvPr>
            <p:ph type="sldNum" sz="quarter" idx="12"/>
          </p:nvPr>
        </p:nvSpPr>
        <p:spPr/>
        <p:txBody>
          <a:bodyPr/>
          <a:lstStyle/>
          <a:p>
            <a:fld id="{C52ED629-2BC0-4D25-969E-9ED78B40D7C7}" type="slidenum">
              <a:rPr lang="fr-FR" smtClean="0"/>
              <a:t>49</a:t>
            </a:fld>
            <a:endParaRPr lang="fr-FR"/>
          </a:p>
        </p:txBody>
      </p:sp>
      <p:pic>
        <p:nvPicPr>
          <p:cNvPr id="4" name="Picture 3">
            <a:extLst>
              <a:ext uri="{FF2B5EF4-FFF2-40B4-BE49-F238E27FC236}">
                <a16:creationId xmlns:a16="http://schemas.microsoft.com/office/drawing/2014/main" id="{57D0FF69-0FB5-40EE-8B54-A9397DBED786}"/>
              </a:ext>
            </a:extLst>
          </p:cNvPr>
          <p:cNvPicPr>
            <a:picLocks noChangeAspect="1"/>
          </p:cNvPicPr>
          <p:nvPr/>
        </p:nvPicPr>
        <p:blipFill>
          <a:blip r:embed="rId2"/>
          <a:stretch>
            <a:fillRect/>
          </a:stretch>
        </p:blipFill>
        <p:spPr>
          <a:xfrm>
            <a:off x="304884" y="269047"/>
            <a:ext cx="11582231" cy="6036503"/>
          </a:xfrm>
          <a:prstGeom prst="rect">
            <a:avLst/>
          </a:prstGeom>
        </p:spPr>
      </p:pic>
    </p:spTree>
    <p:extLst>
      <p:ext uri="{BB962C8B-B14F-4D97-AF65-F5344CB8AC3E}">
        <p14:creationId xmlns:p14="http://schemas.microsoft.com/office/powerpoint/2010/main" val="22942761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F8D74C-653A-47AE-BAD6-405A419EA559}"/>
              </a:ext>
            </a:extLst>
          </p:cNvPr>
          <p:cNvSpPr>
            <a:spLocks noGrp="1"/>
          </p:cNvSpPr>
          <p:nvPr>
            <p:ph type="title"/>
          </p:nvPr>
        </p:nvSpPr>
        <p:spPr>
          <a:xfrm>
            <a:off x="1143000" y="1097280"/>
            <a:ext cx="2822944" cy="1737360"/>
          </a:xfrm>
        </p:spPr>
        <p:txBody>
          <a:bodyPr/>
          <a:lstStyle/>
          <a:p>
            <a:r>
              <a:rPr lang="fr-FR" sz="3200" dirty="0"/>
              <a:t>Contrôleur la partie </a:t>
            </a:r>
            <a:r>
              <a:rPr lang="fr-FR" sz="3200" dirty="0" err="1"/>
              <a:t>delete</a:t>
            </a:r>
            <a:r>
              <a:rPr lang="fr-FR" sz="3200" dirty="0"/>
              <a:t>()</a:t>
            </a:r>
          </a:p>
        </p:txBody>
      </p:sp>
      <p:sp>
        <p:nvSpPr>
          <p:cNvPr id="5" name="Text Placeholder 4">
            <a:extLst>
              <a:ext uri="{FF2B5EF4-FFF2-40B4-BE49-F238E27FC236}">
                <a16:creationId xmlns:a16="http://schemas.microsoft.com/office/drawing/2014/main" id="{85FF8C69-6326-4FE1-9B6B-E4283C0471BF}"/>
              </a:ext>
            </a:extLst>
          </p:cNvPr>
          <p:cNvSpPr>
            <a:spLocks noGrp="1"/>
          </p:cNvSpPr>
          <p:nvPr>
            <p:ph type="body" sz="half" idx="2"/>
          </p:nvPr>
        </p:nvSpPr>
        <p:spPr>
          <a:xfrm>
            <a:off x="1143000" y="2834640"/>
            <a:ext cx="2714625" cy="2232660"/>
          </a:xfrm>
        </p:spPr>
        <p:txBody>
          <a:bodyPr/>
          <a:lstStyle/>
          <a:p>
            <a:r>
              <a:rPr lang="fr-FR" dirty="0" err="1"/>
              <a:t>monitor.delete</a:t>
            </a:r>
            <a:endParaRPr lang="fr-FR" dirty="0"/>
          </a:p>
          <a:p>
            <a:endParaRPr lang="fr-FR" dirty="0"/>
          </a:p>
        </p:txBody>
      </p:sp>
      <p:sp>
        <p:nvSpPr>
          <p:cNvPr id="2" name="Slide Number Placeholder 1">
            <a:extLst>
              <a:ext uri="{FF2B5EF4-FFF2-40B4-BE49-F238E27FC236}">
                <a16:creationId xmlns:a16="http://schemas.microsoft.com/office/drawing/2014/main" id="{0082BE4A-28C1-42A9-B1AB-E31760B2700A}"/>
              </a:ext>
            </a:extLst>
          </p:cNvPr>
          <p:cNvSpPr>
            <a:spLocks noGrp="1"/>
          </p:cNvSpPr>
          <p:nvPr>
            <p:ph type="sldNum" sz="quarter" idx="12"/>
          </p:nvPr>
        </p:nvSpPr>
        <p:spPr/>
        <p:txBody>
          <a:bodyPr/>
          <a:lstStyle/>
          <a:p>
            <a:fld id="{C52ED629-2BC0-4D25-969E-9ED78B40D7C7}" type="slidenum">
              <a:rPr lang="fr-FR" smtClean="0"/>
              <a:t>50</a:t>
            </a:fld>
            <a:endParaRPr lang="fr-FR"/>
          </a:p>
        </p:txBody>
      </p:sp>
      <p:pic>
        <p:nvPicPr>
          <p:cNvPr id="6" name="Picture 5">
            <a:extLst>
              <a:ext uri="{FF2B5EF4-FFF2-40B4-BE49-F238E27FC236}">
                <a16:creationId xmlns:a16="http://schemas.microsoft.com/office/drawing/2014/main" id="{5C374800-6963-41A6-A979-FB5CD5239805}"/>
              </a:ext>
            </a:extLst>
          </p:cNvPr>
          <p:cNvPicPr>
            <a:picLocks noChangeAspect="1"/>
          </p:cNvPicPr>
          <p:nvPr/>
        </p:nvPicPr>
        <p:blipFill>
          <a:blip r:embed="rId2"/>
          <a:stretch>
            <a:fillRect/>
          </a:stretch>
        </p:blipFill>
        <p:spPr>
          <a:xfrm>
            <a:off x="4443821" y="1686237"/>
            <a:ext cx="7095419" cy="2880000"/>
          </a:xfrm>
          <a:prstGeom prst="rect">
            <a:avLst/>
          </a:prstGeom>
        </p:spPr>
      </p:pic>
    </p:spTree>
    <p:extLst>
      <p:ext uri="{BB962C8B-B14F-4D97-AF65-F5344CB8AC3E}">
        <p14:creationId xmlns:p14="http://schemas.microsoft.com/office/powerpoint/2010/main" val="13148018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E3102-122B-4992-9C62-BCA3A4232ECD}"/>
              </a:ext>
            </a:extLst>
          </p:cNvPr>
          <p:cNvSpPr>
            <a:spLocks noGrp="1"/>
          </p:cNvSpPr>
          <p:nvPr>
            <p:ph type="title"/>
          </p:nvPr>
        </p:nvSpPr>
        <p:spPr>
          <a:xfrm>
            <a:off x="1089835" y="1097280"/>
            <a:ext cx="4417828" cy="1737360"/>
          </a:xfrm>
        </p:spPr>
        <p:txBody>
          <a:bodyPr/>
          <a:lstStyle/>
          <a:p>
            <a:r>
              <a:rPr lang="fr-FR" sz="3200" dirty="0"/>
              <a:t>Les de la partie </a:t>
            </a:r>
            <a:r>
              <a:rPr lang="fr-FR" sz="3200" dirty="0" err="1"/>
              <a:t>delete</a:t>
            </a:r>
            <a:r>
              <a:rPr lang="fr-FR" sz="3200" dirty="0"/>
              <a:t>() du contrôleur</a:t>
            </a:r>
          </a:p>
        </p:txBody>
      </p:sp>
      <p:sp>
        <p:nvSpPr>
          <p:cNvPr id="4" name="Text Placeholder 3">
            <a:extLst>
              <a:ext uri="{FF2B5EF4-FFF2-40B4-BE49-F238E27FC236}">
                <a16:creationId xmlns:a16="http://schemas.microsoft.com/office/drawing/2014/main" id="{DFED41B2-C97B-4092-98E2-D21920085434}"/>
              </a:ext>
            </a:extLst>
          </p:cNvPr>
          <p:cNvSpPr>
            <a:spLocks noGrp="1"/>
          </p:cNvSpPr>
          <p:nvPr>
            <p:ph type="body" sz="half" idx="2"/>
          </p:nvPr>
        </p:nvSpPr>
        <p:spPr>
          <a:xfrm>
            <a:off x="1089835" y="2962234"/>
            <a:ext cx="4077586" cy="1737360"/>
          </a:xfrm>
        </p:spPr>
        <p:txBody>
          <a:bodyPr>
            <a:normAutofit/>
          </a:bodyPr>
          <a:lstStyle/>
          <a:p>
            <a:pPr algn="just"/>
            <a:r>
              <a:rPr lang="fr-FR" dirty="0"/>
              <a:t>library.py</a:t>
            </a:r>
          </a:p>
          <a:p>
            <a:pPr algn="just"/>
            <a:r>
              <a:rPr lang="fr-FR" dirty="0"/>
              <a:t>Les méthodes pour vérifier l’existence d’un enregistrement et de le supprimer, ainsi que pour changer un string en format date pour l’insertion dans la base de données.</a:t>
            </a:r>
          </a:p>
        </p:txBody>
      </p:sp>
      <p:sp>
        <p:nvSpPr>
          <p:cNvPr id="5" name="Slide Number Placeholder 4">
            <a:extLst>
              <a:ext uri="{FF2B5EF4-FFF2-40B4-BE49-F238E27FC236}">
                <a16:creationId xmlns:a16="http://schemas.microsoft.com/office/drawing/2014/main" id="{B5B44CB5-CE6A-4069-B9A7-258339CB131A}"/>
              </a:ext>
            </a:extLst>
          </p:cNvPr>
          <p:cNvSpPr>
            <a:spLocks noGrp="1"/>
          </p:cNvSpPr>
          <p:nvPr>
            <p:ph type="sldNum" sz="quarter" idx="12"/>
          </p:nvPr>
        </p:nvSpPr>
        <p:spPr/>
        <p:txBody>
          <a:bodyPr/>
          <a:lstStyle/>
          <a:p>
            <a:fld id="{C52ED629-2BC0-4D25-969E-9ED78B40D7C7}" type="slidenum">
              <a:rPr lang="fr-FR" smtClean="0"/>
              <a:t>51</a:t>
            </a:fld>
            <a:endParaRPr lang="fr-FR"/>
          </a:p>
        </p:txBody>
      </p:sp>
      <p:pic>
        <p:nvPicPr>
          <p:cNvPr id="6" name="Picture 5">
            <a:extLst>
              <a:ext uri="{FF2B5EF4-FFF2-40B4-BE49-F238E27FC236}">
                <a16:creationId xmlns:a16="http://schemas.microsoft.com/office/drawing/2014/main" id="{0A1AA4AA-B0D9-465C-87F1-7AA9DD9BA1EF}"/>
              </a:ext>
            </a:extLst>
          </p:cNvPr>
          <p:cNvPicPr>
            <a:picLocks noChangeAspect="1"/>
          </p:cNvPicPr>
          <p:nvPr/>
        </p:nvPicPr>
        <p:blipFill>
          <a:blip r:embed="rId2"/>
          <a:stretch>
            <a:fillRect/>
          </a:stretch>
        </p:blipFill>
        <p:spPr>
          <a:xfrm>
            <a:off x="5863415" y="1711812"/>
            <a:ext cx="5308334" cy="2520000"/>
          </a:xfrm>
          <a:prstGeom prst="rect">
            <a:avLst/>
          </a:prstGeom>
        </p:spPr>
      </p:pic>
    </p:spTree>
    <p:extLst>
      <p:ext uri="{BB962C8B-B14F-4D97-AF65-F5344CB8AC3E}">
        <p14:creationId xmlns:p14="http://schemas.microsoft.com/office/powerpoint/2010/main" val="10511320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BA4785-60EA-4BD5-A116-E334441DE187}"/>
              </a:ext>
            </a:extLst>
          </p:cNvPr>
          <p:cNvSpPr>
            <a:spLocks noGrp="1"/>
          </p:cNvSpPr>
          <p:nvPr>
            <p:ph type="sldNum" sz="quarter" idx="12"/>
          </p:nvPr>
        </p:nvSpPr>
        <p:spPr/>
        <p:txBody>
          <a:bodyPr/>
          <a:lstStyle/>
          <a:p>
            <a:fld id="{C52ED629-2BC0-4D25-969E-9ED78B40D7C7}" type="slidenum">
              <a:rPr lang="fr-FR" smtClean="0"/>
              <a:t>52</a:t>
            </a:fld>
            <a:endParaRPr lang="fr-FR"/>
          </a:p>
        </p:txBody>
      </p:sp>
      <p:pic>
        <p:nvPicPr>
          <p:cNvPr id="5" name="Picture 4">
            <a:extLst>
              <a:ext uri="{FF2B5EF4-FFF2-40B4-BE49-F238E27FC236}">
                <a16:creationId xmlns:a16="http://schemas.microsoft.com/office/drawing/2014/main" id="{49533B93-D2FE-4613-B9E1-217B8C150D24}"/>
              </a:ext>
            </a:extLst>
          </p:cNvPr>
          <p:cNvPicPr>
            <a:picLocks noChangeAspect="1"/>
          </p:cNvPicPr>
          <p:nvPr/>
        </p:nvPicPr>
        <p:blipFill>
          <a:blip r:embed="rId2"/>
          <a:stretch>
            <a:fillRect/>
          </a:stretch>
        </p:blipFill>
        <p:spPr>
          <a:xfrm>
            <a:off x="638175" y="269047"/>
            <a:ext cx="10039350" cy="6223828"/>
          </a:xfrm>
          <a:prstGeom prst="rect">
            <a:avLst/>
          </a:prstGeom>
        </p:spPr>
      </p:pic>
    </p:spTree>
    <p:extLst>
      <p:ext uri="{BB962C8B-B14F-4D97-AF65-F5344CB8AC3E}">
        <p14:creationId xmlns:p14="http://schemas.microsoft.com/office/powerpoint/2010/main" val="14679739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C4AB454-D70A-4CD2-A386-387CA35C6C9C}"/>
              </a:ext>
            </a:extLst>
          </p:cNvPr>
          <p:cNvSpPr>
            <a:spLocks noGrp="1"/>
          </p:cNvSpPr>
          <p:nvPr>
            <p:ph type="title"/>
          </p:nvPr>
        </p:nvSpPr>
        <p:spPr>
          <a:xfrm>
            <a:off x="1009650" y="1031266"/>
            <a:ext cx="3931920" cy="1398270"/>
          </a:xfrm>
        </p:spPr>
        <p:txBody>
          <a:bodyPr/>
          <a:lstStyle/>
          <a:p>
            <a:r>
              <a:rPr lang="fr-FR" sz="3200" dirty="0"/>
              <a:t>La tâche de fonds périodique</a:t>
            </a:r>
          </a:p>
        </p:txBody>
      </p:sp>
      <p:sp>
        <p:nvSpPr>
          <p:cNvPr id="5" name="Text Placeholder 4">
            <a:extLst>
              <a:ext uri="{FF2B5EF4-FFF2-40B4-BE49-F238E27FC236}">
                <a16:creationId xmlns:a16="http://schemas.microsoft.com/office/drawing/2014/main" id="{79B0202E-6205-4F11-A66A-033E40E42508}"/>
              </a:ext>
            </a:extLst>
          </p:cNvPr>
          <p:cNvSpPr>
            <a:spLocks noGrp="1"/>
          </p:cNvSpPr>
          <p:nvPr>
            <p:ph type="body" sz="half" idx="2"/>
          </p:nvPr>
        </p:nvSpPr>
        <p:spPr>
          <a:xfrm>
            <a:off x="1038224" y="2675144"/>
            <a:ext cx="3865246" cy="3374777"/>
          </a:xfrm>
        </p:spPr>
        <p:txBody>
          <a:bodyPr>
            <a:noAutofit/>
          </a:bodyPr>
          <a:lstStyle/>
          <a:p>
            <a:pPr algn="just"/>
            <a:r>
              <a:rPr lang="fr-FR" dirty="0"/>
              <a:t>myscheduler.py</a:t>
            </a:r>
          </a:p>
          <a:p>
            <a:pPr algn="just"/>
            <a:r>
              <a:rPr lang="fr-FR" dirty="0"/>
              <a:t>Tâche de fonds périodique</a:t>
            </a:r>
            <a:r>
              <a:rPr lang="fr-FR" dirty="0">
                <a:solidFill>
                  <a:srgbClr val="4A66AC"/>
                </a:solidFill>
              </a:rPr>
              <a:t> qui s’exécute dans le fonds à intervalle régulière avec l’extension apscheduler.</a:t>
            </a:r>
          </a:p>
          <a:p>
            <a:pPr algn="just"/>
            <a:r>
              <a:rPr lang="fr-FR" dirty="0">
                <a:solidFill>
                  <a:srgbClr val="4A66AC"/>
                </a:solidFill>
              </a:rPr>
              <a:t>Cette tâche est lancée en même temps que l’application Flask via le module app_plus_scheduler.py.</a:t>
            </a:r>
          </a:p>
          <a:p>
            <a:pPr algn="just"/>
            <a:r>
              <a:rPr lang="fr-FR" dirty="0">
                <a:solidFill>
                  <a:srgbClr val="4A66AC"/>
                </a:solidFill>
              </a:rPr>
              <a:t>Elle s’exécute une 1</a:t>
            </a:r>
            <a:r>
              <a:rPr lang="fr-FR" baseline="30000" dirty="0">
                <a:solidFill>
                  <a:srgbClr val="4A66AC"/>
                </a:solidFill>
              </a:rPr>
              <a:t>ière</a:t>
            </a:r>
            <a:r>
              <a:rPr lang="fr-FR" dirty="0">
                <a:solidFill>
                  <a:srgbClr val="4A66AC"/>
                </a:solidFill>
              </a:rPr>
              <a:t> fois directement au lancement et ensuite par intervalles, dans notre cas toutes les 60 minutes.</a:t>
            </a:r>
          </a:p>
          <a:p>
            <a:pPr algn="just"/>
            <a:endParaRPr lang="fr-FR" dirty="0"/>
          </a:p>
        </p:txBody>
      </p:sp>
      <p:sp>
        <p:nvSpPr>
          <p:cNvPr id="2" name="Slide Number Placeholder 1">
            <a:extLst>
              <a:ext uri="{FF2B5EF4-FFF2-40B4-BE49-F238E27FC236}">
                <a16:creationId xmlns:a16="http://schemas.microsoft.com/office/drawing/2014/main" id="{8D70FDCB-5278-4CF3-8A2A-ACB5F9ED2E45}"/>
              </a:ext>
            </a:extLst>
          </p:cNvPr>
          <p:cNvSpPr>
            <a:spLocks noGrp="1"/>
          </p:cNvSpPr>
          <p:nvPr>
            <p:ph type="sldNum" sz="quarter" idx="12"/>
          </p:nvPr>
        </p:nvSpPr>
        <p:spPr/>
        <p:txBody>
          <a:bodyPr/>
          <a:lstStyle/>
          <a:p>
            <a:fld id="{C52ED629-2BC0-4D25-969E-9ED78B40D7C7}" type="slidenum">
              <a:rPr lang="fr-FR" smtClean="0"/>
              <a:t>53</a:t>
            </a:fld>
            <a:endParaRPr lang="fr-FR"/>
          </a:p>
        </p:txBody>
      </p:sp>
      <p:pic>
        <p:nvPicPr>
          <p:cNvPr id="6" name="Picture 5">
            <a:extLst>
              <a:ext uri="{FF2B5EF4-FFF2-40B4-BE49-F238E27FC236}">
                <a16:creationId xmlns:a16="http://schemas.microsoft.com/office/drawing/2014/main" id="{BBC9E1B5-1573-4CD8-808D-3172D21F2A4C}"/>
              </a:ext>
            </a:extLst>
          </p:cNvPr>
          <p:cNvPicPr>
            <a:picLocks noChangeAspect="1"/>
          </p:cNvPicPr>
          <p:nvPr/>
        </p:nvPicPr>
        <p:blipFill>
          <a:blip r:embed="rId2"/>
          <a:stretch>
            <a:fillRect/>
          </a:stretch>
        </p:blipFill>
        <p:spPr>
          <a:xfrm>
            <a:off x="5359328" y="1345157"/>
            <a:ext cx="6138730" cy="3600000"/>
          </a:xfrm>
          <a:prstGeom prst="rect">
            <a:avLst/>
          </a:prstGeom>
        </p:spPr>
      </p:pic>
    </p:spTree>
    <p:extLst>
      <p:ext uri="{BB962C8B-B14F-4D97-AF65-F5344CB8AC3E}">
        <p14:creationId xmlns:p14="http://schemas.microsoft.com/office/powerpoint/2010/main" val="32907339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BE37F-9AF0-44C0-886D-14D92A5E9052}"/>
              </a:ext>
            </a:extLst>
          </p:cNvPr>
          <p:cNvSpPr>
            <a:spLocks noGrp="1"/>
          </p:cNvSpPr>
          <p:nvPr>
            <p:ph type="title"/>
          </p:nvPr>
        </p:nvSpPr>
        <p:spPr>
          <a:xfrm>
            <a:off x="1143000" y="609600"/>
            <a:ext cx="9875520" cy="704850"/>
          </a:xfrm>
        </p:spPr>
        <p:txBody>
          <a:bodyPr/>
          <a:lstStyle/>
          <a:p>
            <a:r>
              <a:rPr lang="fr-FR" dirty="0"/>
              <a:t>Conclusion</a:t>
            </a:r>
          </a:p>
        </p:txBody>
      </p:sp>
      <p:sp>
        <p:nvSpPr>
          <p:cNvPr id="3" name="Content Placeholder 2">
            <a:extLst>
              <a:ext uri="{FF2B5EF4-FFF2-40B4-BE49-F238E27FC236}">
                <a16:creationId xmlns:a16="http://schemas.microsoft.com/office/drawing/2014/main" id="{CE097B3D-BE10-49DA-8991-C23783BC9299}"/>
              </a:ext>
            </a:extLst>
          </p:cNvPr>
          <p:cNvSpPr>
            <a:spLocks noGrp="1"/>
          </p:cNvSpPr>
          <p:nvPr>
            <p:ph idx="1"/>
          </p:nvPr>
        </p:nvSpPr>
        <p:spPr>
          <a:xfrm>
            <a:off x="1143000" y="1457325"/>
            <a:ext cx="9872871" cy="4638675"/>
          </a:xfrm>
        </p:spPr>
        <p:txBody>
          <a:bodyPr>
            <a:normAutofit/>
          </a:bodyPr>
          <a:lstStyle/>
          <a:p>
            <a:pPr marL="45720" indent="0" algn="just">
              <a:buNone/>
            </a:pPr>
            <a:r>
              <a:rPr lang="fr-FR" dirty="0"/>
              <a:t>L’application web est en ligne avec la partie principale du backend en fonction (historisation et recherche), tout en ayant rempli un certains nombres de tests et de critères concernant le code.</a:t>
            </a:r>
          </a:p>
          <a:p>
            <a:pPr marL="45720" indent="0">
              <a:buNone/>
            </a:pPr>
            <a:r>
              <a:rPr lang="fr-FR" dirty="0"/>
              <a:t>Vu la durée du stage (2 mois) et le temps nécessaire pour me former reste à faire :</a:t>
            </a:r>
          </a:p>
          <a:p>
            <a:pPr>
              <a:buFont typeface="Wingdings" panose="05000000000000000000" pitchFamily="2" charset="2"/>
              <a:buChar char="§"/>
            </a:pPr>
            <a:r>
              <a:rPr lang="fr-FR" dirty="0"/>
              <a:t>Compléter le Backend.</a:t>
            </a:r>
          </a:p>
          <a:p>
            <a:pPr>
              <a:buFont typeface="Wingdings" panose="05000000000000000000" pitchFamily="2" charset="2"/>
              <a:buChar char="§"/>
            </a:pPr>
            <a:r>
              <a:rPr lang="fr-FR" dirty="0"/>
              <a:t>Le Frontend : L’</a:t>
            </a:r>
            <a:r>
              <a:rPr lang="fr-FR" dirty="0" err="1"/>
              <a:t>authentication</a:t>
            </a:r>
            <a:r>
              <a:rPr lang="fr-FR" dirty="0"/>
              <a:t>.</a:t>
            </a:r>
          </a:p>
          <a:p>
            <a:pPr>
              <a:buFont typeface="Wingdings" panose="05000000000000000000" pitchFamily="2" charset="2"/>
              <a:buChar char="§"/>
            </a:pPr>
            <a:r>
              <a:rPr lang="fr-FR" dirty="0"/>
              <a:t>Mettre en place une base de données SAP Hana.</a:t>
            </a:r>
            <a:endParaRPr lang="fr-FR" b="1" dirty="0"/>
          </a:p>
        </p:txBody>
      </p:sp>
      <p:sp>
        <p:nvSpPr>
          <p:cNvPr id="4" name="Slide Number Placeholder 3">
            <a:extLst>
              <a:ext uri="{FF2B5EF4-FFF2-40B4-BE49-F238E27FC236}">
                <a16:creationId xmlns:a16="http://schemas.microsoft.com/office/drawing/2014/main" id="{E2D53EDA-94B6-4BC2-9CF2-C2CE6F0E0F88}"/>
              </a:ext>
            </a:extLst>
          </p:cNvPr>
          <p:cNvSpPr>
            <a:spLocks noGrp="1"/>
          </p:cNvSpPr>
          <p:nvPr>
            <p:ph type="sldNum" sz="quarter" idx="12"/>
          </p:nvPr>
        </p:nvSpPr>
        <p:spPr/>
        <p:txBody>
          <a:bodyPr/>
          <a:lstStyle/>
          <a:p>
            <a:fld id="{C52ED629-2BC0-4D25-969E-9ED78B40D7C7}" type="slidenum">
              <a:rPr lang="fr-FR" smtClean="0"/>
              <a:t>54</a:t>
            </a:fld>
            <a:endParaRPr lang="fr-FR"/>
          </a:p>
        </p:txBody>
      </p:sp>
    </p:spTree>
    <p:extLst>
      <p:ext uri="{BB962C8B-B14F-4D97-AF65-F5344CB8AC3E}">
        <p14:creationId xmlns:p14="http://schemas.microsoft.com/office/powerpoint/2010/main" val="898043026"/>
      </p:ext>
    </p:extLst>
  </p:cSld>
  <p:clrMapOvr>
    <a:masterClrMapping/>
  </p:clrMapOvr>
</p:sld>
</file>

<file path=ppt/theme/theme1.xml><?xml version="1.0" encoding="utf-8"?>
<a:theme xmlns:a="http://schemas.openxmlformats.org/drawingml/2006/main" name="Bas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Base">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e">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A2FD6F1506F564BB79A97F9C245AD34" ma:contentTypeVersion="11" ma:contentTypeDescription="Create a new document." ma:contentTypeScope="" ma:versionID="62e164dc57e6337fb0bd5548eaf0c6d8">
  <xsd:schema xmlns:xsd="http://www.w3.org/2001/XMLSchema" xmlns:xs="http://www.w3.org/2001/XMLSchema" xmlns:p="http://schemas.microsoft.com/office/2006/metadata/properties" xmlns:ns3="386f4720-9db4-4950-8ffd-cd1ef4b846d5" xmlns:ns4="025efd7d-4e1d-49ec-b269-b81537660960" targetNamespace="http://schemas.microsoft.com/office/2006/metadata/properties" ma:root="true" ma:fieldsID="2653329da7d3ee0d0965a72fb4ee83ab" ns3:_="" ns4:_="">
    <xsd:import namespace="386f4720-9db4-4950-8ffd-cd1ef4b846d5"/>
    <xsd:import namespace="025efd7d-4e1d-49ec-b269-b81537660960"/>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86f4720-9db4-4950-8ffd-cd1ef4b846d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Location" ma:index="13" nillable="true" ma:displayName="Location"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25efd7d-4e1d-49ec-b269-b81537660960"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92BA7C88-2CFC-403E-9565-3952D53463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86f4720-9db4-4950-8ffd-cd1ef4b846d5"/>
    <ds:schemaRef ds:uri="025efd7d-4e1d-49ec-b269-b815376609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A2ECFDE-CCCD-4184-981F-FCB1A88E5D9B}">
  <ds:schemaRefs>
    <ds:schemaRef ds:uri="http://schemas.microsoft.com/sharepoint/v3/contenttype/forms"/>
  </ds:schemaRefs>
</ds:datastoreItem>
</file>

<file path=customXml/itemProps3.xml><?xml version="1.0" encoding="utf-8"?>
<ds:datastoreItem xmlns:ds="http://schemas.openxmlformats.org/officeDocument/2006/customXml" ds:itemID="{F277AA4F-207B-4045-A452-6C98BA7AB2BD}">
  <ds:schemaRefs>
    <ds:schemaRef ds:uri="025efd7d-4e1d-49ec-b269-b81537660960"/>
    <ds:schemaRef ds:uri="http://schemas.microsoft.com/office/2006/metadata/properties"/>
    <ds:schemaRef ds:uri="http://www.w3.org/XML/1998/namespace"/>
    <ds:schemaRef ds:uri="http://purl.org/dc/dcmitype/"/>
    <ds:schemaRef ds:uri="386f4720-9db4-4950-8ffd-cd1ef4b846d5"/>
    <ds:schemaRef ds:uri="http://purl.org/dc/elements/1.1/"/>
    <ds:schemaRef ds:uri="http://schemas.microsoft.com/office/2006/documentManagement/types"/>
    <ds:schemaRef ds:uri="http://schemas.microsoft.com/office/infopath/2007/PartnerControls"/>
    <ds:schemaRef ds:uri="http://schemas.openxmlformats.org/package/2006/metadata/core-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TM03457444[[fn=Base]]</Template>
  <TotalTime>21271</TotalTime>
  <Words>1494</Words>
  <Application>Microsoft Office PowerPoint</Application>
  <PresentationFormat>Widescreen</PresentationFormat>
  <Paragraphs>260</Paragraphs>
  <Slides>54</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54</vt:i4>
      </vt:variant>
    </vt:vector>
  </HeadingPairs>
  <TitlesOfParts>
    <vt:vector size="59" baseType="lpstr">
      <vt:lpstr>Calibri</vt:lpstr>
      <vt:lpstr>Corbel</vt:lpstr>
      <vt:lpstr>Courier New</vt:lpstr>
      <vt:lpstr>Wingdings</vt:lpstr>
      <vt:lpstr>Base</vt:lpstr>
      <vt:lpstr>Rapport de stage  Concepteur Développeur d’Applications </vt:lpstr>
      <vt:lpstr>Sommaire</vt:lpstr>
      <vt:lpstr>Remerciements</vt:lpstr>
      <vt:lpstr>Introduction</vt:lpstr>
      <vt:lpstr>Environnement de travail</vt:lpstr>
      <vt:lpstr>Langages et base de données</vt:lpstr>
      <vt:lpstr>Frameworks et bibliothèques</vt:lpstr>
      <vt:lpstr>Git &amp; GitHub</vt:lpstr>
      <vt:lpstr>Les editeurs de text, outils et IDE</vt:lpstr>
      <vt:lpstr>Développement incrémental et itératif</vt:lpstr>
      <vt:lpstr>Plusieurs versions</vt:lpstr>
      <vt:lpstr>PowerPoint Presentation</vt:lpstr>
      <vt:lpstr>apprentissage</vt:lpstr>
      <vt:lpstr>Spring Boot et Angular</vt:lpstr>
      <vt:lpstr>conception</vt:lpstr>
      <vt:lpstr>Architecture</vt:lpstr>
      <vt:lpstr>PowerPoint Presentation</vt:lpstr>
      <vt:lpstr>Schéma de la base de données</vt:lpstr>
      <vt:lpstr>Diagrammes des Classes</vt:lpstr>
      <vt:lpstr>PowerPoint Presentation</vt:lpstr>
      <vt:lpstr>implémentation</vt:lpstr>
      <vt:lpstr>Les Classes ORM</vt:lpstr>
      <vt:lpstr>Migrations</vt:lpstr>
      <vt:lpstr>Paramètres de connexion de la base de données</vt:lpstr>
      <vt:lpstr>Création de l’objet  application Flask</vt:lpstr>
      <vt:lpstr>Cas d’utilisation « Formulaire »</vt:lpstr>
      <vt:lpstr>PowerPoint Presentation</vt:lpstr>
      <vt:lpstr>Contrôleur partie formulaire</vt:lpstr>
      <vt:lpstr>form.html</vt:lpstr>
      <vt:lpstr>PowerPoint Presentation</vt:lpstr>
      <vt:lpstr>PowerPoint Presentation</vt:lpstr>
      <vt:lpstr>Contrôleur page result.html</vt:lpstr>
      <vt:lpstr>Les méthodes de la partie form_result() du contrôleur</vt:lpstr>
      <vt:lpstr>result.html</vt:lpstr>
      <vt:lpstr>PowerPoint Presentation</vt:lpstr>
      <vt:lpstr>Cas d’utilisation page « List »</vt:lpstr>
      <vt:lpstr>PowerPoint Presentation</vt:lpstr>
      <vt:lpstr>PowerPoint Presentation</vt:lpstr>
      <vt:lpstr>PowerPoint Presentation</vt:lpstr>
      <vt:lpstr>Contrôleur index()</vt:lpstr>
      <vt:lpstr>Les méthodes du contrôleur index()</vt:lpstr>
      <vt:lpstr>index.html</vt:lpstr>
      <vt:lpstr>index.html</vt:lpstr>
      <vt:lpstr>PowerPoint Presentation</vt:lpstr>
      <vt:lpstr>Contrôleur index() suite</vt:lpstr>
      <vt:lpstr>Méthodes du index() en cas de filtres</vt:lpstr>
      <vt:lpstr>Pagination</vt:lpstr>
      <vt:lpstr>PowerPoint Presentation</vt:lpstr>
      <vt:lpstr>PowerPoint Presentation</vt:lpstr>
      <vt:lpstr>Contrôleur la partie delete()</vt:lpstr>
      <vt:lpstr>Les de la partie delete() du contrôleur</vt:lpstr>
      <vt:lpstr>PowerPoint Presentation</vt:lpstr>
      <vt:lpstr>La tâche de fonds périodique</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de stage  Concepteur Développeur d’Applications  Du 03 Septembre 2019 au 28 Mai 2020</dc:title>
  <dc:creator>Khalvati, Alireza (external - Partner)</dc:creator>
  <cp:lastModifiedBy>Vladislav</cp:lastModifiedBy>
  <cp:revision>430</cp:revision>
  <cp:lastPrinted>2020-06-10T07:53:15Z</cp:lastPrinted>
  <dcterms:created xsi:type="dcterms:W3CDTF">2020-04-16T13:13:31Z</dcterms:created>
  <dcterms:modified xsi:type="dcterms:W3CDTF">2021-09-03T09:51:57Z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0x010100CA2FD6F1506F564BB79A97F9C245AD34</vt:lpwstr>
  </property>
</Properties>
</file>